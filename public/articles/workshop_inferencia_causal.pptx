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B4A"/>
                </a:solidFill>
                <a:latin typeface="Calibri"/>
              </a:defRPr>
            </a:pPr>
            <a:r>
              <a:rPr sz="1200" b="0" i="0" u="none" strike="noStrike">
                <a:solidFill>
                  <a:srgbClr val="1E1B4A"/>
                </a:solidFill>
                <a:latin typeface="Calibri"/>
              </a:rPr>
              <a:t>Distribución del gasto en bienes durables, por grupo</a:t>
            </a:r>
          </a:p>
        </c:rich>
      </c:tx>
      <c:layout/>
      <c:overlay val="0"/>
    </c:title>
    <c:autoTitleDeleted val="0"/>
    <c:plotArea>
      <c:layout/>
      <c:lineChart>
        <c:varyColors val="0"/>
        <c:ser>
          <c:idx val="0"/>
          <c:order val="0"/>
          <c:tx>
            <c:strRef>
              <c:f>Sheet1!$B$1</c:f>
              <c:strCache>
                <c:ptCount val="1"/>
                <c:pt idx="0">
                  <c:v>Control</c:v>
                </c:pt>
              </c:strCache>
            </c:strRef>
          </c:tx>
          <c:spPr>
            <a:solidFill>
              <a:srgbClr val="9AA3D9"/>
            </a:solidFill>
            <a:ln w="38100" cap="flat">
              <a:solidFill>
                <a:srgbClr val="9AA3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3D9"/>
              </a:solidFill>
              <a:ln w="9525" cap="flat">
                <a:solidFill>
                  <a:srgbClr val="9AA3D9"/>
                </a:solidFill>
                <a:prstDash val="solid"/>
                <a:round/>
              </a:ln>
              <a:effectLst/>
            </c:spPr>
          </c:marker>
          <c:cat>
            <c:multiLvlStrRef>
              <c:f>Sheet1!$A$2:$A$22</c:f>
              <c:multiLvlStrCache>
                <c:ptCount val="21"/>
                <c:lvl>
                  <c:pt idx="0">
                    <c:v>25</c:v>
                  </c:pt>
                  <c:pt idx="1">
                    <c:v/>
                  </c:pt>
                  <c:pt idx="2">
                    <c:v/>
                  </c:pt>
                  <c:pt idx="3">
                    <c:v>51</c:v>
                  </c:pt>
                  <c:pt idx="4">
                    <c:v/>
                  </c:pt>
                  <c:pt idx="5">
                    <c:v/>
                  </c:pt>
                  <c:pt idx="6">
                    <c:v>76</c:v>
                  </c:pt>
                  <c:pt idx="7">
                    <c:v/>
                  </c:pt>
                  <c:pt idx="8">
                    <c:v/>
                  </c:pt>
                  <c:pt idx="9">
                    <c:v>102</c:v>
                  </c:pt>
                  <c:pt idx="10">
                    <c:v/>
                  </c:pt>
                  <c:pt idx="11">
                    <c:v/>
                  </c:pt>
                  <c:pt idx="12">
                    <c:v>127</c:v>
                  </c:pt>
                  <c:pt idx="13">
                    <c:v/>
                  </c:pt>
                  <c:pt idx="14">
                    <c:v/>
                  </c:pt>
                  <c:pt idx="15">
                    <c:v>153</c:v>
                  </c:pt>
                  <c:pt idx="16">
                    <c:v/>
                  </c:pt>
                  <c:pt idx="17">
                    <c:v/>
                  </c:pt>
                  <c:pt idx="18">
                    <c:v>178</c:v>
                  </c:pt>
                  <c:pt idx="19">
                    <c:v/>
                  </c:pt>
                  <c:pt idx="20">
                    <c:v/>
                  </c:pt>
                </c:lvl>
              </c:multiLvlStrCache>
            </c:multiLvlStrRef>
          </c:cat>
          <c:val>
            <c:numRef>
              <c:f>Sheet1!$B$2:$B$22</c:f>
              <c:numCache>
                <c:formatCode>General</c:formatCode>
                <c:ptCount val="21"/>
                <c:pt idx="0">
                  <c:v>1.49</c:v>
                </c:pt>
                <c:pt idx="1">
                  <c:v>3.65</c:v>
                </c:pt>
                <c:pt idx="2">
                  <c:v>8.03</c:v>
                </c:pt>
                <c:pt idx="3">
                  <c:v>15.85</c:v>
                </c:pt>
                <c:pt idx="4">
                  <c:v>28.15</c:v>
                </c:pt>
                <c:pt idx="5">
                  <c:v>44.91</c:v>
                </c:pt>
                <c:pt idx="6">
                  <c:v>64.38</c:v>
                </c:pt>
                <c:pt idx="7">
                  <c:v>82.95</c:v>
                </c:pt>
                <c:pt idx="8">
                  <c:v>96.03</c:v>
                </c:pt>
                <c:pt idx="9">
                  <c:v>99.91</c:v>
                </c:pt>
                <c:pt idx="10">
                  <c:v>93.41</c:v>
                </c:pt>
                <c:pt idx="11">
                  <c:v>78.48</c:v>
                </c:pt>
                <c:pt idx="12">
                  <c:v>59.25</c:v>
                </c:pt>
                <c:pt idx="13">
                  <c:v>40.2</c:v>
                </c:pt>
                <c:pt idx="14">
                  <c:v>24.51</c:v>
                </c:pt>
                <c:pt idx="15">
                  <c:v>13.43</c:v>
                </c:pt>
                <c:pt idx="16">
                  <c:v>6.61</c:v>
                </c:pt>
                <c:pt idx="17">
                  <c:v>2.93</c:v>
                </c:pt>
                <c:pt idx="18">
                  <c:v>1.16</c:v>
                </c:pt>
                <c:pt idx="19">
                  <c:v>0.42</c:v>
                </c:pt>
                <c:pt idx="20">
                  <c:v>0.13</c:v>
                </c:pt>
              </c:numCache>
            </c:numRef>
          </c:val>
          <c:smooth val="1"/>
        </c:ser>
        <c:ser>
          <c:idx val="1"/>
          <c:order val="1"/>
          <c:tx>
            <c:strRef>
              <c:f>Sheet1!$C$1</c:f>
              <c:strCache>
                <c:ptCount val="1"/>
                <c:pt idx="0">
                  <c:v>Tratamiento</c:v>
                </c:pt>
              </c:strCache>
            </c:strRef>
          </c:tx>
          <c:spPr>
            <a:solidFill>
              <a:srgbClr val="4B45C4"/>
            </a:solidFill>
            <a:ln w="38100" cap="flat">
              <a:solidFill>
                <a:srgbClr val="4B45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B45C4"/>
              </a:solidFill>
              <a:ln w="9525" cap="flat">
                <a:solidFill>
                  <a:srgbClr val="4B45C4"/>
                </a:solidFill>
                <a:prstDash val="solid"/>
                <a:round/>
              </a:ln>
              <a:effectLst/>
            </c:spPr>
          </c:marker>
          <c:cat>
            <c:multiLvlStrRef>
              <c:f>Sheet1!$A$2:$A$22</c:f>
              <c:multiLvlStrCache>
                <c:ptCount val="21"/>
                <c:lvl>
                  <c:pt idx="0">
                    <c:v>25</c:v>
                  </c:pt>
                  <c:pt idx="1">
                    <c:v/>
                  </c:pt>
                  <c:pt idx="2">
                    <c:v/>
                  </c:pt>
                  <c:pt idx="3">
                    <c:v>51</c:v>
                  </c:pt>
                  <c:pt idx="4">
                    <c:v/>
                  </c:pt>
                  <c:pt idx="5">
                    <c:v/>
                  </c:pt>
                  <c:pt idx="6">
                    <c:v>76</c:v>
                  </c:pt>
                  <c:pt idx="7">
                    <c:v/>
                  </c:pt>
                  <c:pt idx="8">
                    <c:v/>
                  </c:pt>
                  <c:pt idx="9">
                    <c:v>102</c:v>
                  </c:pt>
                  <c:pt idx="10">
                    <c:v/>
                  </c:pt>
                  <c:pt idx="11">
                    <c:v/>
                  </c:pt>
                  <c:pt idx="12">
                    <c:v>127</c:v>
                  </c:pt>
                  <c:pt idx="13">
                    <c:v/>
                  </c:pt>
                  <c:pt idx="14">
                    <c:v/>
                  </c:pt>
                  <c:pt idx="15">
                    <c:v>153</c:v>
                  </c:pt>
                  <c:pt idx="16">
                    <c:v/>
                  </c:pt>
                  <c:pt idx="17">
                    <c:v/>
                  </c:pt>
                  <c:pt idx="18">
                    <c:v>178</c:v>
                  </c:pt>
                  <c:pt idx="19">
                    <c:v/>
                  </c:pt>
                  <c:pt idx="20">
                    <c:v/>
                  </c:pt>
                </c:lvl>
              </c:multiLvlStrCache>
            </c:multiLvlStrRef>
          </c:cat>
          <c:val>
            <c:numRef>
              <c:f>Sheet1!$C$2:$C$22</c:f>
              <c:numCache>
                <c:formatCode>General</c:formatCode>
                <c:ptCount val="21"/>
                <c:pt idx="0">
                  <c:v>0.37</c:v>
                </c:pt>
                <c:pt idx="1">
                  <c:v>1.04</c:v>
                </c:pt>
                <c:pt idx="2">
                  <c:v>2.64</c:v>
                </c:pt>
                <c:pt idx="3">
                  <c:v>6.04</c:v>
                </c:pt>
                <c:pt idx="4">
                  <c:v>12.42</c:v>
                </c:pt>
                <c:pt idx="5">
                  <c:v>22.96</c:v>
                </c:pt>
                <c:pt idx="6">
                  <c:v>38.14</c:v>
                </c:pt>
                <c:pt idx="7">
                  <c:v>56.93</c:v>
                </c:pt>
                <c:pt idx="8">
                  <c:v>76.35</c:v>
                </c:pt>
                <c:pt idx="9">
                  <c:v>92.03</c:v>
                </c:pt>
                <c:pt idx="10">
                  <c:v>99.67</c:v>
                </c:pt>
                <c:pt idx="11">
                  <c:v>97.02</c:v>
                </c:pt>
                <c:pt idx="12">
                  <c:v>84.86</c:v>
                </c:pt>
                <c:pt idx="13">
                  <c:v>66.7</c:v>
                </c:pt>
                <c:pt idx="14">
                  <c:v>47.11</c:v>
                </c:pt>
                <c:pt idx="15">
                  <c:v>29.9</c:v>
                </c:pt>
                <c:pt idx="16">
                  <c:v>17.06</c:v>
                </c:pt>
                <c:pt idx="17">
                  <c:v>8.74</c:v>
                </c:pt>
                <c:pt idx="18">
                  <c:v>4.03</c:v>
                </c:pt>
                <c:pt idx="19">
                  <c:v>1.67</c:v>
                </c:pt>
                <c:pt idx="20">
                  <c:v>0.62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E6E85"/>
                    </a:solidFill>
                    <a:latin typeface="Calibri"/>
                  </a:defRPr>
                </a:pPr>
                <a:r>
                  <a:rPr sz="1000" b="0" i="0" u="none" strike="noStrike">
                    <a:solidFill>
                      <a:srgbClr val="6E6E85"/>
                    </a:solidFill>
                    <a:latin typeface="Calibri"/>
                  </a:rPr>
                  <a:t>Gasto mensual del hogar (índice)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E6E8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F6"/>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200" b="0" i="0" u="none" strike="noStrike">
                <a:solidFill>
                  <a:srgbClr val="FFFFF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B3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B4A"/>
                </a:solidFill>
                <a:latin typeface="Calibri"/>
              </a:defRPr>
            </a:pPr>
            <a:r>
              <a:rPr sz="1200" b="0" i="0" u="none" strike="noStrike">
                <a:solidFill>
                  <a:srgbClr val="1E1B4A"/>
                </a:solidFill>
                <a:latin typeface="Calibri"/>
              </a:rPr>
              <a:t>La regresión parte el promedio tratado en dos</a:t>
            </a:r>
          </a:p>
        </c:rich>
      </c:tx>
      <c:layout/>
      <c:overlay val="0"/>
    </c:title>
    <c:autoTitleDeleted val="0"/>
    <c:plotArea>
      <c:layout/>
      <c:barChart>
        <c:barDir val="col"/>
        <c:grouping val="stacked"/>
        <c:varyColors val="0"/>
        <c:ser>
          <c:idx val="0"/>
          <c:order val="0"/>
          <c:tx>
            <c:strRef>
              <c:f>Sheet1!$B$1</c:f>
              <c:strCache>
                <c:ptCount val="1"/>
                <c:pt idx="0">
                  <c:v>α — nivel del grupo de control</c:v>
                </c:pt>
              </c:strCache>
            </c:strRef>
          </c:tx>
          <c:spPr>
            <a:solidFill>
              <a:srgbClr val="9AA3D9"/>
            </a:solidFill>
            <a:effectLst/>
          </c:spPr>
          <c:invertIfNegative val="0"/>
          <c:dLbls>
            <c:numFmt formatCode="0.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Control</c:v>
                  </c:pt>
                  <c:pt idx="1">
                    <c:v>Tratamiento</c:v>
                  </c:pt>
                </c:lvl>
              </c:multiLvlStrCache>
            </c:multiLvlStrRef>
          </c:cat>
          <c:val>
            <c:numRef>
              <c:f>Sheet1!$B$2:$B$3</c:f>
              <c:numCache>
                <c:formatCode>General</c:formatCode>
                <c:ptCount val="2"/>
                <c:pt idx="0">
                  <c:v>100.4</c:v>
                </c:pt>
                <c:pt idx="1">
                  <c:v>100.4</c:v>
                </c:pt>
              </c:numCache>
            </c:numRef>
          </c:val>
        </c:ser>
        <c:ser>
          <c:idx val="1"/>
          <c:order val="1"/>
          <c:tx>
            <c:strRef>
              <c:f>Sheet1!$C$1</c:f>
              <c:strCache>
                <c:ptCount val="1"/>
                <c:pt idx="0">
                  <c:v>β — efecto estimado</c:v>
                </c:pt>
              </c:strCache>
            </c:strRef>
          </c:tx>
          <c:spPr>
            <a:solidFill>
              <a:srgbClr val="4B45C4"/>
            </a:solidFill>
            <a:effectLst/>
          </c:spPr>
          <c:invertIfNegative val="0"/>
          <c:dLbls>
            <c:numFmt formatCode="0.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Control</c:v>
                  </c:pt>
                  <c:pt idx="1">
                    <c:v>Tratamiento</c:v>
                  </c:pt>
                </c:lvl>
              </c:multiLvlStrCache>
            </c:multiLvlStrRef>
          </c:cat>
          <c:val>
            <c:numRef>
              <c:f>Sheet1!$C$2:$C$3</c:f>
              <c:numCache>
                <c:formatCode>General</c:formatCode>
                <c:ptCount val="2"/>
                <c:pt idx="0">
                  <c:v>0</c:v>
                </c:pt>
                <c:pt idx="1">
                  <c:v>11.7</c:v>
                </c:pt>
              </c:numCache>
            </c:numRef>
          </c:val>
        </c:ser>
        <c:dLbls>
          <c:numFmt formatCode="0.0;;" sourceLinked="0"/>
          <c:txPr>
            <a:bodyPr/>
            <a:lstStyle/>
            <a:p>
              <a:pPr>
                <a:defRPr b="1"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12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2B2B3A"/>
                </a:solidFill>
                <a:latin typeface="Calibri"/>
              </a:defRPr>
            </a:pPr>
            <a:endParaRPr lang="en-US"/>
          </a:p>
        </c:txPr>
        <c:crossAx val="2094734552"/>
        <c:crosses val="autoZero"/>
        <c:auto val="1"/>
        <c:lblAlgn val="ctr"/>
        <c:noMultiLvlLbl val="1"/>
      </c:catAx>
      <c:valAx>
        <c:axId val="2094734552"/>
        <c:scaling>
          <c:orientation val="minMax"/>
          <c:max val="130"/>
          <c:min val="0"/>
        </c:scaling>
        <c:delete val="0"/>
        <c:axPos val="l"/>
        <c:majorGridlines>
          <c:spPr>
            <a:ln w="12700" cap="flat">
              <a:solidFill>
                <a:srgbClr val="E8EA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E6E85"/>
                </a:solidFill>
                <a:latin typeface="Calibri"/>
              </a:defRPr>
            </a:pPr>
            <a:endParaRPr lang="en-US"/>
          </a:p>
        </c:txPr>
        <c:crossAx val="2094734554"/>
        <c:crosses val="autoZero"/>
        <c:crossBetween val="between"/>
        <c:majorUnit val="26"/>
      </c:valAx>
      <c:spPr>
        <a:noFill/>
        <a:ln>
          <a:noFill/>
        </a:ln>
        <a:effectLst/>
      </c:spPr>
    </c:plotArea>
    <c:legend>
      <c:legendPos val="b"/>
      <c:overlay val="0"/>
      <c:txPr>
        <a:bodyPr/>
        <a:lstStyle/>
        <a:p>
          <a:pPr>
            <a:defRPr sz="1050">
              <a:solidFill>
                <a:srgbClr val="2B2B3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Alfa es el nivel del grupo de control y beta el salto que agrega el tratamiento. Con un regresor binario, la recta de regresión es el segmento que une los dos promedios: su pendiente es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correlación intraclase rho suele estar entre 0,01 y 0,2 en resultados educativos y de salud. Con m grande, incluso un rho pequeño multiplica bastante el requerimiento de muestra: por eso conviene muchos conglomerados pequeños antes que pocos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curva clara es la distribución del estimador si el efecto verdadero es cero; la oscura, si el efecto verdadero es el MDE. El área roja bajo la curva nula, a la derecha del corte, es alfa. El área azul bajo la alternativa, a la izquierda del corte, es kappa.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efectos aleatorios son más eficientes pero exigen que el componente individual no se correlacione con los regresores: un supuesto mucho más fuerte, y por eso poco usado en trabajo causal. El contraste de Hausman compara ambos.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adopción escalonada del tratamiento, el DiD de dos vías con efectos fijos puede estar sesgado porque usa unidades ya tratadas como controles. La literatura reciente (Callaway y Sant'Anna, Goodman-Bacon, Sun y Abraham) ofrece estimadores robustos a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efecto estimado es local al umbral: informa sobre quienes están cerca del corte, no sobre toda la población elegible. En Colombia el puntaje del Sisbén es el ejemplo natural de umbral administrativo.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PSM no resuelve la endogeneidad: solo reordena la comparación entre observables. Si lo que llevó a tratarse no está medido, el sesgo sigue intacto. Por eso queda último en el orden de credibilidad.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366760" y="1874520"/>
            <a:ext cx="3246120" cy="2377440"/>
          </a:xfrm>
          <a:prstGeom prst="rect">
            <a:avLst/>
          </a:prstGeom>
        </p:spPr>
      </p:pic>
      <p:sp>
        <p:nvSpPr>
          <p:cNvPr id="3" name="Text 0"/>
          <p:cNvSpPr/>
          <p:nvPr/>
        </p:nvSpPr>
        <p:spPr>
          <a:xfrm>
            <a:off x="841248" y="1417320"/>
            <a:ext cx="7315200" cy="274320"/>
          </a:xfrm>
          <a:prstGeom prst="rect">
            <a:avLst/>
          </a:prstGeom>
          <a:noFill/>
          <a:ln/>
        </p:spPr>
        <p:txBody>
          <a:bodyPr wrap="square" lIns="0" tIns="0" rIns="0" bIns="0" rtlCol="0" anchor="ctr"/>
          <a:lstStyle/>
          <a:p>
            <a:pPr indent="0" marL="0">
              <a:buNone/>
            </a:pPr>
            <a:r>
              <a:rPr lang="en-US" sz="1150" b="1" spc="150" kern="0" dirty="0">
                <a:solidFill>
                  <a:srgbClr val="8B87F5"/>
                </a:solidFill>
                <a:latin typeface="Calibri" pitchFamily="34" charset="0"/>
                <a:ea typeface="Calibri" pitchFamily="34" charset="-122"/>
                <a:cs typeface="Calibri" pitchFamily="34" charset="-120"/>
              </a:rPr>
              <a:t>W O R K S H O P   ·   1</a:t>
            </a:r>
            <a:endParaRPr lang="en-US" sz="1150" dirty="0"/>
          </a:p>
        </p:txBody>
      </p:sp>
      <p:sp>
        <p:nvSpPr>
          <p:cNvPr id="4" name="Text 1"/>
          <p:cNvSpPr/>
          <p:nvPr/>
        </p:nvSpPr>
        <p:spPr>
          <a:xfrm>
            <a:off x="841248" y="1874520"/>
            <a:ext cx="7223760" cy="777240"/>
          </a:xfrm>
          <a:prstGeom prst="rect">
            <a:avLst/>
          </a:prstGeom>
          <a:noFill/>
          <a:ln/>
        </p:spPr>
        <p:txBody>
          <a:bodyPr wrap="square" lIns="0" tIns="0" rIns="0" bIns="0" rtlCol="0" anchor="ctr"/>
          <a:lstStyle/>
          <a:p>
            <a:pPr indent="0" marL="0">
              <a:buNone/>
            </a:pPr>
            <a:r>
              <a:rPr lang="en-US" sz="4100" b="1" dirty="0">
                <a:solidFill>
                  <a:srgbClr val="FFFFFF"/>
                </a:solidFill>
                <a:latin typeface="Century Schoolbook" pitchFamily="34" charset="0"/>
                <a:ea typeface="Century Schoolbook" pitchFamily="34" charset="-122"/>
                <a:cs typeface="Century Schoolbook" pitchFamily="34" charset="-120"/>
              </a:rPr>
              <a:t>Inferencia causal</a:t>
            </a:r>
            <a:endParaRPr lang="en-US" sz="4100" dirty="0"/>
          </a:p>
        </p:txBody>
      </p:sp>
      <p:sp>
        <p:nvSpPr>
          <p:cNvPr id="5" name="Text 2"/>
          <p:cNvSpPr/>
          <p:nvPr/>
        </p:nvSpPr>
        <p:spPr>
          <a:xfrm>
            <a:off x="841248" y="2578608"/>
            <a:ext cx="7223760" cy="777240"/>
          </a:xfrm>
          <a:prstGeom prst="rect">
            <a:avLst/>
          </a:prstGeom>
          <a:noFill/>
          <a:ln/>
        </p:spPr>
        <p:txBody>
          <a:bodyPr wrap="square" lIns="0" tIns="0" rIns="0" bIns="0" rtlCol="0" anchor="ctr"/>
          <a:lstStyle/>
          <a:p>
            <a:pPr indent="0" marL="0">
              <a:buNone/>
            </a:pPr>
            <a:r>
              <a:rPr lang="en-US" sz="4100" b="1" dirty="0">
                <a:solidFill>
                  <a:srgbClr val="FFFFFF"/>
                </a:solidFill>
                <a:latin typeface="Century Schoolbook" pitchFamily="34" charset="0"/>
                <a:ea typeface="Century Schoolbook" pitchFamily="34" charset="-122"/>
                <a:cs typeface="Century Schoolbook" pitchFamily="34" charset="-120"/>
              </a:rPr>
              <a:t>y evaluación de impacto</a:t>
            </a:r>
            <a:endParaRPr lang="en-US" sz="4100" dirty="0"/>
          </a:p>
        </p:txBody>
      </p:sp>
      <p:sp>
        <p:nvSpPr>
          <p:cNvPr id="6" name="Text 3"/>
          <p:cNvSpPr/>
          <p:nvPr/>
        </p:nvSpPr>
        <p:spPr>
          <a:xfrm>
            <a:off x="841248" y="3429000"/>
            <a:ext cx="7315200" cy="411480"/>
          </a:xfrm>
          <a:prstGeom prst="rect">
            <a:avLst/>
          </a:prstGeom>
          <a:noFill/>
          <a:ln/>
        </p:spPr>
        <p:txBody>
          <a:bodyPr wrap="square" lIns="0" tIns="0" rIns="0" bIns="0" rtlCol="0" anchor="ctr"/>
          <a:lstStyle/>
          <a:p>
            <a:pPr indent="0" marL="0">
              <a:buNone/>
            </a:pPr>
            <a:r>
              <a:rPr lang="en-US" sz="1650" i="1" dirty="0">
                <a:solidFill>
                  <a:srgbClr val="AAB3F4"/>
                </a:solidFill>
                <a:latin typeface="Calibri" pitchFamily="34" charset="0"/>
                <a:ea typeface="Calibri" pitchFamily="34" charset="-122"/>
                <a:cs typeface="Calibri" pitchFamily="34" charset="-120"/>
              </a:rPr>
              <a:t>De la correlación a la causa: qué se puede afirmar con datos, y cuándo.</a:t>
            </a:r>
            <a:endParaRPr lang="en-US" sz="1650" dirty="0"/>
          </a:p>
        </p:txBody>
      </p:sp>
      <p:sp>
        <p:nvSpPr>
          <p:cNvPr id="7" name="Text 4"/>
          <p:cNvSpPr/>
          <p:nvPr/>
        </p:nvSpPr>
        <p:spPr>
          <a:xfrm>
            <a:off x="841248" y="4983480"/>
            <a:ext cx="749808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FIC — Economic Research</a:t>
            </a:r>
            <a:endParaRPr lang="en-US" sz="1250" dirty="0"/>
          </a:p>
        </p:txBody>
      </p:sp>
      <p:sp>
        <p:nvSpPr>
          <p:cNvPr id="8" name="Text 5"/>
          <p:cNvSpPr/>
          <p:nvPr/>
        </p:nvSpPr>
        <p:spPr>
          <a:xfrm>
            <a:off x="841248" y="5321808"/>
            <a:ext cx="6949440" cy="640080"/>
          </a:xfrm>
          <a:prstGeom prst="rect">
            <a:avLst/>
          </a:prstGeom>
          <a:noFill/>
          <a:ln/>
        </p:spPr>
        <p:txBody>
          <a:bodyPr wrap="square" lIns="0" tIns="0" rIns="0" bIns="0" rtlCol="0" anchor="ctr"/>
          <a:lstStyle/>
          <a:p>
            <a:pPr indent="0" marL="0">
              <a:lnSpc>
                <a:spcPct val="120000"/>
              </a:lnSpc>
              <a:buNone/>
            </a:pPr>
            <a:r>
              <a:rPr lang="en-US" sz="1150" dirty="0">
                <a:solidFill>
                  <a:srgbClr val="AAB3F4"/>
                </a:solidFill>
                <a:latin typeface="Calibri" pitchFamily="34" charset="0"/>
                <a:ea typeface="Calibri" pitchFamily="34" charset="-122"/>
                <a:cs typeface="Calibri" pitchFamily="34" charset="-120"/>
              </a:rPr>
              <a:t>Contenido basado en Causal Inference: The Mixtape (Scott Cunningham) y en el curso de</a:t>
            </a:r>
            <a:endParaRPr lang="en-US" sz="1150" dirty="0"/>
          </a:p>
          <a:p>
            <a:pPr indent="0" marL="0">
              <a:lnSpc>
                <a:spcPct val="120000"/>
              </a:lnSpc>
              <a:buNone/>
            </a:pPr>
            <a:r>
              <a:rPr lang="en-US" sz="1150" dirty="0">
                <a:solidFill>
                  <a:srgbClr val="AAB3F4"/>
                </a:solidFill>
                <a:latin typeface="Calibri" pitchFamily="34" charset="0"/>
                <a:ea typeface="Calibri" pitchFamily="34" charset="-122"/>
                <a:cs typeface="Calibri" pitchFamily="34" charset="-120"/>
              </a:rPr>
              <a:t>Evaluación de Impacto del Banco Mundial (edX).</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B4A"/>
        </a:solidFill>
      </p:bgPr>
    </p:bg>
    <p:spTree>
      <p:nvGrpSpPr>
        <p:cNvPr id="1" name=""/>
        <p:cNvGrpSpPr/>
        <p:nvPr/>
      </p:nvGrpSpPr>
      <p:grpSpPr>
        <a:xfrm>
          <a:off x="0" y="0"/>
          <a:ext cx="0" cy="0"/>
          <a:chOff x="0" y="0"/>
          <a:chExt cx="0" cy="0"/>
        </a:xfrm>
      </p:grpSpPr>
      <p:sp>
        <p:nvSpPr>
          <p:cNvPr id="2" name="Text 0"/>
          <p:cNvSpPr/>
          <p:nvPr/>
        </p:nvSpPr>
        <p:spPr>
          <a:xfrm>
            <a:off x="566928" y="310896"/>
            <a:ext cx="11055096" cy="749808"/>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La ruta del workshop</a:t>
            </a:r>
            <a:endParaRPr lang="en-US" sz="3200" dirty="0"/>
          </a:p>
        </p:txBody>
      </p:sp>
      <p:sp>
        <p:nvSpPr>
          <p:cNvPr id="3" name="Text 1"/>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AAB3F4"/>
                </a:solidFill>
                <a:latin typeface="Calibri" pitchFamily="34" charset="0"/>
                <a:ea typeface="Calibri" pitchFamily="34" charset="-122"/>
                <a:cs typeface="Calibri" pitchFamily="34" charset="-120"/>
              </a:rPr>
              <a:t>Seis bloques encadenados: cada uno explica por qué hace falta el siguiente.</a:t>
            </a:r>
            <a:endParaRPr lang="en-US" sz="1350" dirty="0"/>
          </a:p>
        </p:txBody>
      </p:sp>
      <p:sp>
        <p:nvSpPr>
          <p:cNvPr id="4" name="Shape 2"/>
          <p:cNvSpPr/>
          <p:nvPr/>
        </p:nvSpPr>
        <p:spPr>
          <a:xfrm>
            <a:off x="566928" y="2057400"/>
            <a:ext cx="1659636" cy="2606040"/>
          </a:xfrm>
          <a:prstGeom prst="roundRect">
            <a:avLst>
              <a:gd name="adj" fmla="val 4408"/>
            </a:avLst>
          </a:prstGeom>
          <a:solidFill>
            <a:srgbClr val="FFFFFF"/>
          </a:solidFill>
          <a:ln/>
        </p:spPr>
      </p:sp>
      <p:sp>
        <p:nvSpPr>
          <p:cNvPr id="5" name="Text 3"/>
          <p:cNvSpPr/>
          <p:nvPr/>
        </p:nvSpPr>
        <p:spPr>
          <a:xfrm>
            <a:off x="731520" y="2167128"/>
            <a:ext cx="457200" cy="320040"/>
          </a:xfrm>
          <a:prstGeom prst="rect">
            <a:avLst/>
          </a:prstGeom>
          <a:noFill/>
          <a:ln/>
        </p:spPr>
        <p:txBody>
          <a:bodyPr wrap="square" lIns="0" tIns="0" rIns="0" bIns="0" rtlCol="0" anchor="ctr"/>
          <a:lstStyle/>
          <a:p>
            <a:pPr indent="0" marL="0">
              <a:buNone/>
            </a:pPr>
            <a:r>
              <a:rPr lang="en-US" sz="1800" b="1" dirty="0">
                <a:solidFill>
                  <a:srgbClr val="AAB3F4"/>
                </a:solidFill>
                <a:latin typeface="Century Schoolbook" pitchFamily="34" charset="0"/>
                <a:ea typeface="Century Schoolbook" pitchFamily="34" charset="-122"/>
                <a:cs typeface="Century Schoolbook" pitchFamily="34" charset="-120"/>
              </a:rPr>
              <a:t>1</a:t>
            </a:r>
            <a:endParaRPr lang="en-US" sz="1800" dirty="0"/>
          </a:p>
        </p:txBody>
      </p:sp>
      <p:sp>
        <p:nvSpPr>
          <p:cNvPr id="6" name="Shape 4"/>
          <p:cNvSpPr/>
          <p:nvPr/>
        </p:nvSpPr>
        <p:spPr>
          <a:xfrm>
            <a:off x="1094994" y="2532888"/>
            <a:ext cx="603504" cy="603504"/>
          </a:xfrm>
          <a:prstGeom prst="ellipse">
            <a:avLst/>
          </a:prstGeom>
          <a:solidFill>
            <a:srgbClr val="4B45C4"/>
          </a:solidFill>
          <a:ln/>
        </p:spPr>
      </p:sp>
      <p:pic>
        <p:nvPicPr>
          <p:cNvPr id="7" name="Image 0" descr="preencoded.png">    </p:cNvPr>
          <p:cNvPicPr>
            <a:picLocks noChangeAspect="1"/>
          </p:cNvPicPr>
          <p:nvPr/>
        </p:nvPicPr>
        <p:blipFill>
          <a:blip r:embed="rId1"/>
          <a:stretch>
            <a:fillRect/>
          </a:stretch>
        </p:blipFill>
        <p:spPr>
          <a:xfrm>
            <a:off x="1263975" y="2701869"/>
            <a:ext cx="265542" cy="265542"/>
          </a:xfrm>
          <a:prstGeom prst="rect">
            <a:avLst/>
          </a:prstGeom>
        </p:spPr>
      </p:pic>
      <p:sp>
        <p:nvSpPr>
          <p:cNvPr id="8" name="Text 5"/>
          <p:cNvSpPr/>
          <p:nvPr/>
        </p:nvSpPr>
        <p:spPr>
          <a:xfrm>
            <a:off x="640080" y="3264408"/>
            <a:ext cx="1513332" cy="310896"/>
          </a:xfrm>
          <a:prstGeom prst="rect">
            <a:avLst/>
          </a:prstGeom>
          <a:noFill/>
          <a:ln/>
        </p:spPr>
        <p:txBody>
          <a:bodyPr wrap="square" lIns="0" tIns="0" rIns="0" bIns="0" rtlCol="0" anchor="ctr"/>
          <a:lstStyle/>
          <a:p>
            <a:pPr algn="ctr" indent="0" marL="0">
              <a:buNone/>
            </a:pPr>
            <a:r>
              <a:rPr lang="en-US" sz="1250" b="1" dirty="0">
                <a:solidFill>
                  <a:srgbClr val="1E1B4A"/>
                </a:solidFill>
                <a:latin typeface="Calibri" pitchFamily="34" charset="0"/>
                <a:ea typeface="Calibri" pitchFamily="34" charset="-122"/>
                <a:cs typeface="Calibri" pitchFamily="34" charset="-120"/>
              </a:rPr>
              <a:t>Motivación</a:t>
            </a:r>
            <a:endParaRPr lang="en-US" sz="1250" dirty="0"/>
          </a:p>
        </p:txBody>
      </p:sp>
      <p:sp>
        <p:nvSpPr>
          <p:cNvPr id="9" name="Text 6"/>
          <p:cNvSpPr/>
          <p:nvPr/>
        </p:nvSpPr>
        <p:spPr>
          <a:xfrm>
            <a:off x="640080" y="3630168"/>
            <a:ext cx="1513332" cy="822960"/>
          </a:xfrm>
          <a:prstGeom prst="rect">
            <a:avLst/>
          </a:prstGeom>
          <a:noFill/>
          <a:ln/>
        </p:spPr>
        <p:txBody>
          <a:bodyPr wrap="square" lIns="0" tIns="0" rIns="0" bIns="0" rtlCol="0" anchor="ctr"/>
          <a:lstStyle/>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Endogeneidad,</a:t>
            </a:r>
            <a:endParaRPr lang="en-US" sz="1050" dirty="0"/>
          </a:p>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causalidad y 2SLS</a:t>
            </a:r>
            <a:endParaRPr lang="en-US" sz="1050" dirty="0"/>
          </a:p>
        </p:txBody>
      </p:sp>
      <p:sp>
        <p:nvSpPr>
          <p:cNvPr id="10" name="Text 7"/>
          <p:cNvSpPr/>
          <p:nvPr/>
        </p:nvSpPr>
        <p:spPr>
          <a:xfrm>
            <a:off x="2226564" y="3131820"/>
            <a:ext cx="219456" cy="457200"/>
          </a:xfrm>
          <a:prstGeom prst="rect">
            <a:avLst/>
          </a:prstGeom>
          <a:noFill/>
          <a:ln/>
        </p:spPr>
        <p:txBody>
          <a:bodyPr wrap="square" lIns="0" tIns="0" rIns="0" bIns="0" rtlCol="0" anchor="ctr"/>
          <a:lstStyle/>
          <a:p>
            <a:pPr algn="ctr" indent="0" marL="0">
              <a:buNone/>
            </a:pPr>
            <a:r>
              <a:rPr lang="en-US" sz="1800" b="1" dirty="0">
                <a:solidFill>
                  <a:srgbClr val="AAB3F4"/>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2446020" y="2057400"/>
            <a:ext cx="1659636" cy="2606040"/>
          </a:xfrm>
          <a:prstGeom prst="roundRect">
            <a:avLst>
              <a:gd name="adj" fmla="val 4408"/>
            </a:avLst>
          </a:prstGeom>
          <a:solidFill>
            <a:srgbClr val="FFFFFF"/>
          </a:solidFill>
          <a:ln/>
        </p:spPr>
      </p:sp>
      <p:sp>
        <p:nvSpPr>
          <p:cNvPr id="12" name="Text 9"/>
          <p:cNvSpPr/>
          <p:nvPr/>
        </p:nvSpPr>
        <p:spPr>
          <a:xfrm>
            <a:off x="2610612" y="2167128"/>
            <a:ext cx="457200" cy="320040"/>
          </a:xfrm>
          <a:prstGeom prst="rect">
            <a:avLst/>
          </a:prstGeom>
          <a:noFill/>
          <a:ln/>
        </p:spPr>
        <p:txBody>
          <a:bodyPr wrap="square" lIns="0" tIns="0" rIns="0" bIns="0" rtlCol="0" anchor="ctr"/>
          <a:lstStyle/>
          <a:p>
            <a:pPr indent="0" marL="0">
              <a:buNone/>
            </a:pPr>
            <a:r>
              <a:rPr lang="en-US" sz="1800" b="1" dirty="0">
                <a:solidFill>
                  <a:srgbClr val="AAB3F4"/>
                </a:solidFill>
                <a:latin typeface="Century Schoolbook" pitchFamily="34" charset="0"/>
                <a:ea typeface="Century Schoolbook" pitchFamily="34" charset="-122"/>
                <a:cs typeface="Century Schoolbook" pitchFamily="34" charset="-120"/>
              </a:rPr>
              <a:t>2</a:t>
            </a:r>
            <a:endParaRPr lang="en-US" sz="1800" dirty="0"/>
          </a:p>
        </p:txBody>
      </p:sp>
      <p:sp>
        <p:nvSpPr>
          <p:cNvPr id="13" name="Shape 10"/>
          <p:cNvSpPr/>
          <p:nvPr/>
        </p:nvSpPr>
        <p:spPr>
          <a:xfrm>
            <a:off x="2974086" y="2532888"/>
            <a:ext cx="603504" cy="603504"/>
          </a:xfrm>
          <a:prstGeom prst="ellipse">
            <a:avLst/>
          </a:prstGeom>
          <a:solidFill>
            <a:srgbClr val="4B45C4"/>
          </a:solidFill>
          <a:ln/>
        </p:spPr>
      </p:sp>
      <p:pic>
        <p:nvPicPr>
          <p:cNvPr id="14" name="Image 1" descr="preencoded.png">    </p:cNvPr>
          <p:cNvPicPr>
            <a:picLocks noChangeAspect="1"/>
          </p:cNvPicPr>
          <p:nvPr/>
        </p:nvPicPr>
        <p:blipFill>
          <a:blip r:embed="rId2"/>
          <a:stretch>
            <a:fillRect/>
          </a:stretch>
        </p:blipFill>
        <p:spPr>
          <a:xfrm>
            <a:off x="3143067" y="2701869"/>
            <a:ext cx="265542" cy="265542"/>
          </a:xfrm>
          <a:prstGeom prst="rect">
            <a:avLst/>
          </a:prstGeom>
        </p:spPr>
      </p:pic>
      <p:sp>
        <p:nvSpPr>
          <p:cNvPr id="15" name="Text 11"/>
          <p:cNvSpPr/>
          <p:nvPr/>
        </p:nvSpPr>
        <p:spPr>
          <a:xfrm>
            <a:off x="2519172" y="3264408"/>
            <a:ext cx="1513332" cy="310896"/>
          </a:xfrm>
          <a:prstGeom prst="rect">
            <a:avLst/>
          </a:prstGeom>
          <a:noFill/>
          <a:ln/>
        </p:spPr>
        <p:txBody>
          <a:bodyPr wrap="square" lIns="0" tIns="0" rIns="0" bIns="0" rtlCol="0" anchor="ctr"/>
          <a:lstStyle/>
          <a:p>
            <a:pPr algn="ctr" indent="0" marL="0">
              <a:buNone/>
            </a:pPr>
            <a:r>
              <a:rPr lang="en-US" sz="1250" b="1" dirty="0">
                <a:solidFill>
                  <a:srgbClr val="1E1B4A"/>
                </a:solidFill>
                <a:latin typeface="Calibri" pitchFamily="34" charset="0"/>
                <a:ea typeface="Calibri" pitchFamily="34" charset="-122"/>
                <a:cs typeface="Calibri" pitchFamily="34" charset="-120"/>
              </a:rPr>
              <a:t>El RCT</a:t>
            </a:r>
            <a:endParaRPr lang="en-US" sz="1250" dirty="0"/>
          </a:p>
        </p:txBody>
      </p:sp>
      <p:sp>
        <p:nvSpPr>
          <p:cNvPr id="16" name="Text 12"/>
          <p:cNvSpPr/>
          <p:nvPr/>
        </p:nvSpPr>
        <p:spPr>
          <a:xfrm>
            <a:off x="2519172" y="3630168"/>
            <a:ext cx="1513332" cy="822960"/>
          </a:xfrm>
          <a:prstGeom prst="rect">
            <a:avLst/>
          </a:prstGeom>
          <a:noFill/>
          <a:ln/>
        </p:spPr>
        <p:txBody>
          <a:bodyPr wrap="square" lIns="0" tIns="0" rIns="0" bIns="0" rtlCol="0" anchor="ctr"/>
          <a:lstStyle/>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El experimento</a:t>
            </a:r>
            <a:endParaRPr lang="en-US" sz="1050" dirty="0"/>
          </a:p>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aleatorio</a:t>
            </a:r>
            <a:endParaRPr lang="en-US" sz="1050" dirty="0"/>
          </a:p>
        </p:txBody>
      </p:sp>
      <p:sp>
        <p:nvSpPr>
          <p:cNvPr id="17" name="Text 13"/>
          <p:cNvSpPr/>
          <p:nvPr/>
        </p:nvSpPr>
        <p:spPr>
          <a:xfrm>
            <a:off x="4105656" y="3131820"/>
            <a:ext cx="219456" cy="457200"/>
          </a:xfrm>
          <a:prstGeom prst="rect">
            <a:avLst/>
          </a:prstGeom>
          <a:noFill/>
          <a:ln/>
        </p:spPr>
        <p:txBody>
          <a:bodyPr wrap="square" lIns="0" tIns="0" rIns="0" bIns="0" rtlCol="0" anchor="ctr"/>
          <a:lstStyle/>
          <a:p>
            <a:pPr algn="ctr" indent="0" marL="0">
              <a:buNone/>
            </a:pPr>
            <a:r>
              <a:rPr lang="en-US" sz="1800" b="1" dirty="0">
                <a:solidFill>
                  <a:srgbClr val="AAB3F4"/>
                </a:solidFill>
                <a:latin typeface="Calibri" pitchFamily="34" charset="0"/>
                <a:ea typeface="Calibri" pitchFamily="34" charset="-122"/>
                <a:cs typeface="Calibri" pitchFamily="34" charset="-120"/>
              </a:rPr>
              <a:t>›</a:t>
            </a:r>
            <a:endParaRPr lang="en-US" sz="1800" dirty="0"/>
          </a:p>
        </p:txBody>
      </p:sp>
      <p:sp>
        <p:nvSpPr>
          <p:cNvPr id="18" name="Shape 14"/>
          <p:cNvSpPr/>
          <p:nvPr/>
        </p:nvSpPr>
        <p:spPr>
          <a:xfrm>
            <a:off x="4325112" y="2057400"/>
            <a:ext cx="1659636" cy="2606040"/>
          </a:xfrm>
          <a:prstGeom prst="roundRect">
            <a:avLst>
              <a:gd name="adj" fmla="val 4408"/>
            </a:avLst>
          </a:prstGeom>
          <a:solidFill>
            <a:srgbClr val="FFFFFF"/>
          </a:solidFill>
          <a:ln/>
        </p:spPr>
      </p:sp>
      <p:sp>
        <p:nvSpPr>
          <p:cNvPr id="19" name="Text 15"/>
          <p:cNvSpPr/>
          <p:nvPr/>
        </p:nvSpPr>
        <p:spPr>
          <a:xfrm>
            <a:off x="4489704" y="2167128"/>
            <a:ext cx="457200" cy="320040"/>
          </a:xfrm>
          <a:prstGeom prst="rect">
            <a:avLst/>
          </a:prstGeom>
          <a:noFill/>
          <a:ln/>
        </p:spPr>
        <p:txBody>
          <a:bodyPr wrap="square" lIns="0" tIns="0" rIns="0" bIns="0" rtlCol="0" anchor="ctr"/>
          <a:lstStyle/>
          <a:p>
            <a:pPr indent="0" marL="0">
              <a:buNone/>
            </a:pPr>
            <a:r>
              <a:rPr lang="en-US" sz="1800" b="1" dirty="0">
                <a:solidFill>
                  <a:srgbClr val="AAB3F4"/>
                </a:solidFill>
                <a:latin typeface="Century Schoolbook" pitchFamily="34" charset="0"/>
                <a:ea typeface="Century Schoolbook" pitchFamily="34" charset="-122"/>
                <a:cs typeface="Century Schoolbook" pitchFamily="34" charset="-120"/>
              </a:rPr>
              <a:t>3</a:t>
            </a:r>
            <a:endParaRPr lang="en-US" sz="1800" dirty="0"/>
          </a:p>
        </p:txBody>
      </p:sp>
      <p:sp>
        <p:nvSpPr>
          <p:cNvPr id="20" name="Shape 16"/>
          <p:cNvSpPr/>
          <p:nvPr/>
        </p:nvSpPr>
        <p:spPr>
          <a:xfrm>
            <a:off x="4853178" y="2532888"/>
            <a:ext cx="603504" cy="603504"/>
          </a:xfrm>
          <a:prstGeom prst="ellipse">
            <a:avLst/>
          </a:prstGeom>
          <a:solidFill>
            <a:srgbClr val="4B45C4"/>
          </a:solidFill>
          <a:ln/>
        </p:spPr>
      </p:sp>
      <p:pic>
        <p:nvPicPr>
          <p:cNvPr id="21" name="Image 2" descr="preencoded.png">    </p:cNvPr>
          <p:cNvPicPr>
            <a:picLocks noChangeAspect="1"/>
          </p:cNvPicPr>
          <p:nvPr/>
        </p:nvPicPr>
        <p:blipFill>
          <a:blip r:embed="rId3"/>
          <a:stretch>
            <a:fillRect/>
          </a:stretch>
        </p:blipFill>
        <p:spPr>
          <a:xfrm>
            <a:off x="5022159" y="2701869"/>
            <a:ext cx="265542" cy="265542"/>
          </a:xfrm>
          <a:prstGeom prst="rect">
            <a:avLst/>
          </a:prstGeom>
        </p:spPr>
      </p:pic>
      <p:sp>
        <p:nvSpPr>
          <p:cNvPr id="22" name="Text 17"/>
          <p:cNvSpPr/>
          <p:nvPr/>
        </p:nvSpPr>
        <p:spPr>
          <a:xfrm>
            <a:off x="4398264" y="3264408"/>
            <a:ext cx="1513332" cy="310896"/>
          </a:xfrm>
          <a:prstGeom prst="rect">
            <a:avLst/>
          </a:prstGeom>
          <a:noFill/>
          <a:ln/>
        </p:spPr>
        <p:txBody>
          <a:bodyPr wrap="square" lIns="0" tIns="0" rIns="0" bIns="0" rtlCol="0" anchor="ctr"/>
          <a:lstStyle/>
          <a:p>
            <a:pPr algn="ctr" indent="0" marL="0">
              <a:buNone/>
            </a:pPr>
            <a:r>
              <a:rPr lang="en-US" sz="1250" b="1" dirty="0">
                <a:solidFill>
                  <a:srgbClr val="1E1B4A"/>
                </a:solidFill>
                <a:latin typeface="Calibri" pitchFamily="34" charset="0"/>
                <a:ea typeface="Calibri" pitchFamily="34" charset="-122"/>
                <a:cs typeface="Calibri" pitchFamily="34" charset="-120"/>
              </a:rPr>
              <a:t>La econometría</a:t>
            </a:r>
            <a:endParaRPr lang="en-US" sz="1250" dirty="0"/>
          </a:p>
        </p:txBody>
      </p:sp>
      <p:sp>
        <p:nvSpPr>
          <p:cNvPr id="23" name="Text 18"/>
          <p:cNvSpPr/>
          <p:nvPr/>
        </p:nvSpPr>
        <p:spPr>
          <a:xfrm>
            <a:off x="4398264" y="3630168"/>
            <a:ext cx="1513332" cy="822960"/>
          </a:xfrm>
          <a:prstGeom prst="rect">
            <a:avLst/>
          </a:prstGeom>
          <a:noFill/>
          <a:ln/>
        </p:spPr>
        <p:txBody>
          <a:bodyPr wrap="square" lIns="0" tIns="0" rIns="0" bIns="0" rtlCol="0" anchor="ctr"/>
          <a:lstStyle/>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Diferencia de medias</a:t>
            </a:r>
            <a:endParaRPr lang="en-US" sz="1050" dirty="0"/>
          </a:p>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y regresión</a:t>
            </a:r>
            <a:endParaRPr lang="en-US" sz="1050" dirty="0"/>
          </a:p>
        </p:txBody>
      </p:sp>
      <p:sp>
        <p:nvSpPr>
          <p:cNvPr id="24" name="Text 19"/>
          <p:cNvSpPr/>
          <p:nvPr/>
        </p:nvSpPr>
        <p:spPr>
          <a:xfrm>
            <a:off x="5984748" y="3131820"/>
            <a:ext cx="219456" cy="457200"/>
          </a:xfrm>
          <a:prstGeom prst="rect">
            <a:avLst/>
          </a:prstGeom>
          <a:noFill/>
          <a:ln/>
        </p:spPr>
        <p:txBody>
          <a:bodyPr wrap="square" lIns="0" tIns="0" rIns="0" bIns="0" rtlCol="0" anchor="ctr"/>
          <a:lstStyle/>
          <a:p>
            <a:pPr algn="ctr" indent="0" marL="0">
              <a:buNone/>
            </a:pPr>
            <a:r>
              <a:rPr lang="en-US" sz="1800" b="1" dirty="0">
                <a:solidFill>
                  <a:srgbClr val="AAB3F4"/>
                </a:solidFill>
                <a:latin typeface="Calibri" pitchFamily="34" charset="0"/>
                <a:ea typeface="Calibri" pitchFamily="34" charset="-122"/>
                <a:cs typeface="Calibri" pitchFamily="34" charset="-120"/>
              </a:rPr>
              <a:t>›</a:t>
            </a:r>
            <a:endParaRPr lang="en-US" sz="1800" dirty="0"/>
          </a:p>
        </p:txBody>
      </p:sp>
      <p:sp>
        <p:nvSpPr>
          <p:cNvPr id="25" name="Shape 20"/>
          <p:cNvSpPr/>
          <p:nvPr/>
        </p:nvSpPr>
        <p:spPr>
          <a:xfrm>
            <a:off x="6204204" y="2057400"/>
            <a:ext cx="1659636" cy="2606040"/>
          </a:xfrm>
          <a:prstGeom prst="roundRect">
            <a:avLst>
              <a:gd name="adj" fmla="val 4408"/>
            </a:avLst>
          </a:prstGeom>
          <a:solidFill>
            <a:srgbClr val="FFFFFF"/>
          </a:solidFill>
          <a:ln/>
        </p:spPr>
      </p:sp>
      <p:sp>
        <p:nvSpPr>
          <p:cNvPr id="26" name="Text 21"/>
          <p:cNvSpPr/>
          <p:nvPr/>
        </p:nvSpPr>
        <p:spPr>
          <a:xfrm>
            <a:off x="6368796" y="2167128"/>
            <a:ext cx="457200" cy="320040"/>
          </a:xfrm>
          <a:prstGeom prst="rect">
            <a:avLst/>
          </a:prstGeom>
          <a:noFill/>
          <a:ln/>
        </p:spPr>
        <p:txBody>
          <a:bodyPr wrap="square" lIns="0" tIns="0" rIns="0" bIns="0" rtlCol="0" anchor="ctr"/>
          <a:lstStyle/>
          <a:p>
            <a:pPr indent="0" marL="0">
              <a:buNone/>
            </a:pPr>
            <a:r>
              <a:rPr lang="en-US" sz="1800" b="1" dirty="0">
                <a:solidFill>
                  <a:srgbClr val="AAB3F4"/>
                </a:solidFill>
                <a:latin typeface="Century Schoolbook" pitchFamily="34" charset="0"/>
                <a:ea typeface="Century Schoolbook" pitchFamily="34" charset="-122"/>
                <a:cs typeface="Century Schoolbook" pitchFamily="34" charset="-120"/>
              </a:rPr>
              <a:t>4</a:t>
            </a:r>
            <a:endParaRPr lang="en-US" sz="1800" dirty="0"/>
          </a:p>
        </p:txBody>
      </p:sp>
      <p:sp>
        <p:nvSpPr>
          <p:cNvPr id="27" name="Shape 22"/>
          <p:cNvSpPr/>
          <p:nvPr/>
        </p:nvSpPr>
        <p:spPr>
          <a:xfrm>
            <a:off x="6732270" y="2532888"/>
            <a:ext cx="603504" cy="603504"/>
          </a:xfrm>
          <a:prstGeom prst="ellipse">
            <a:avLst/>
          </a:prstGeom>
          <a:solidFill>
            <a:srgbClr val="4B45C4"/>
          </a:solidFill>
          <a:ln/>
        </p:spPr>
      </p:sp>
      <p:pic>
        <p:nvPicPr>
          <p:cNvPr id="28" name="Image 3" descr="preencoded.png">    </p:cNvPr>
          <p:cNvPicPr>
            <a:picLocks noChangeAspect="1"/>
          </p:cNvPicPr>
          <p:nvPr/>
        </p:nvPicPr>
        <p:blipFill>
          <a:blip r:embed="rId4"/>
          <a:stretch>
            <a:fillRect/>
          </a:stretch>
        </p:blipFill>
        <p:spPr>
          <a:xfrm>
            <a:off x="6901251" y="2701869"/>
            <a:ext cx="265542" cy="265542"/>
          </a:xfrm>
          <a:prstGeom prst="rect">
            <a:avLst/>
          </a:prstGeom>
        </p:spPr>
      </p:pic>
      <p:sp>
        <p:nvSpPr>
          <p:cNvPr id="29" name="Text 23"/>
          <p:cNvSpPr/>
          <p:nvPr/>
        </p:nvSpPr>
        <p:spPr>
          <a:xfrm>
            <a:off x="6277356" y="3264408"/>
            <a:ext cx="1513332" cy="310896"/>
          </a:xfrm>
          <a:prstGeom prst="rect">
            <a:avLst/>
          </a:prstGeom>
          <a:noFill/>
          <a:ln/>
        </p:spPr>
        <p:txBody>
          <a:bodyPr wrap="square" lIns="0" tIns="0" rIns="0" bIns="0" rtlCol="0" anchor="ctr"/>
          <a:lstStyle/>
          <a:p>
            <a:pPr algn="ctr" indent="0" marL="0">
              <a:buNone/>
            </a:pPr>
            <a:r>
              <a:rPr lang="en-US" sz="1250" b="1" dirty="0">
                <a:solidFill>
                  <a:srgbClr val="1E1B4A"/>
                </a:solidFill>
                <a:latin typeface="Calibri" pitchFamily="34" charset="0"/>
                <a:ea typeface="Calibri" pitchFamily="34" charset="-122"/>
                <a:cs typeface="Calibri" pitchFamily="34" charset="-120"/>
              </a:rPr>
              <a:t>Limitaciones</a:t>
            </a:r>
            <a:endParaRPr lang="en-US" sz="1250" dirty="0"/>
          </a:p>
        </p:txBody>
      </p:sp>
      <p:sp>
        <p:nvSpPr>
          <p:cNvPr id="30" name="Text 24"/>
          <p:cNvSpPr/>
          <p:nvPr/>
        </p:nvSpPr>
        <p:spPr>
          <a:xfrm>
            <a:off x="6277356" y="3630168"/>
            <a:ext cx="1513332" cy="822960"/>
          </a:xfrm>
          <a:prstGeom prst="rect">
            <a:avLst/>
          </a:prstGeom>
          <a:noFill/>
          <a:ln/>
        </p:spPr>
        <p:txBody>
          <a:bodyPr wrap="square" lIns="0" tIns="0" rIns="0" bIns="0" rtlCol="0" anchor="ctr"/>
          <a:lstStyle/>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Cumplimiento</a:t>
            </a:r>
            <a:endParaRPr lang="en-US" sz="1050" dirty="0"/>
          </a:p>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imperfecto y atrición</a:t>
            </a:r>
            <a:endParaRPr lang="en-US" sz="1050" dirty="0"/>
          </a:p>
        </p:txBody>
      </p:sp>
      <p:sp>
        <p:nvSpPr>
          <p:cNvPr id="31" name="Text 25"/>
          <p:cNvSpPr/>
          <p:nvPr/>
        </p:nvSpPr>
        <p:spPr>
          <a:xfrm>
            <a:off x="7863840" y="3131820"/>
            <a:ext cx="219456" cy="457200"/>
          </a:xfrm>
          <a:prstGeom prst="rect">
            <a:avLst/>
          </a:prstGeom>
          <a:noFill/>
          <a:ln/>
        </p:spPr>
        <p:txBody>
          <a:bodyPr wrap="square" lIns="0" tIns="0" rIns="0" bIns="0" rtlCol="0" anchor="ctr"/>
          <a:lstStyle/>
          <a:p>
            <a:pPr algn="ctr" indent="0" marL="0">
              <a:buNone/>
            </a:pPr>
            <a:r>
              <a:rPr lang="en-US" sz="1800" b="1" dirty="0">
                <a:solidFill>
                  <a:srgbClr val="AAB3F4"/>
                </a:solidFill>
                <a:latin typeface="Calibri" pitchFamily="34" charset="0"/>
                <a:ea typeface="Calibri" pitchFamily="34" charset="-122"/>
                <a:cs typeface="Calibri" pitchFamily="34" charset="-120"/>
              </a:rPr>
              <a:t>›</a:t>
            </a:r>
            <a:endParaRPr lang="en-US" sz="1800" dirty="0"/>
          </a:p>
        </p:txBody>
      </p:sp>
      <p:sp>
        <p:nvSpPr>
          <p:cNvPr id="32" name="Shape 26"/>
          <p:cNvSpPr/>
          <p:nvPr/>
        </p:nvSpPr>
        <p:spPr>
          <a:xfrm>
            <a:off x="8083296" y="2057400"/>
            <a:ext cx="1659636" cy="2606040"/>
          </a:xfrm>
          <a:prstGeom prst="roundRect">
            <a:avLst>
              <a:gd name="adj" fmla="val 4408"/>
            </a:avLst>
          </a:prstGeom>
          <a:solidFill>
            <a:srgbClr val="FFFFFF"/>
          </a:solidFill>
          <a:ln/>
        </p:spPr>
      </p:sp>
      <p:sp>
        <p:nvSpPr>
          <p:cNvPr id="33" name="Text 27"/>
          <p:cNvSpPr/>
          <p:nvPr/>
        </p:nvSpPr>
        <p:spPr>
          <a:xfrm>
            <a:off x="8247888" y="2167128"/>
            <a:ext cx="457200" cy="320040"/>
          </a:xfrm>
          <a:prstGeom prst="rect">
            <a:avLst/>
          </a:prstGeom>
          <a:noFill/>
          <a:ln/>
        </p:spPr>
        <p:txBody>
          <a:bodyPr wrap="square" lIns="0" tIns="0" rIns="0" bIns="0" rtlCol="0" anchor="ctr"/>
          <a:lstStyle/>
          <a:p>
            <a:pPr indent="0" marL="0">
              <a:buNone/>
            </a:pPr>
            <a:r>
              <a:rPr lang="en-US" sz="1800" b="1" dirty="0">
                <a:solidFill>
                  <a:srgbClr val="AAB3F4"/>
                </a:solidFill>
                <a:latin typeface="Century Schoolbook" pitchFamily="34" charset="0"/>
                <a:ea typeface="Century Schoolbook" pitchFamily="34" charset="-122"/>
                <a:cs typeface="Century Schoolbook" pitchFamily="34" charset="-120"/>
              </a:rPr>
              <a:t>5</a:t>
            </a:r>
            <a:endParaRPr lang="en-US" sz="1800" dirty="0"/>
          </a:p>
        </p:txBody>
      </p:sp>
      <p:sp>
        <p:nvSpPr>
          <p:cNvPr id="34" name="Shape 28"/>
          <p:cNvSpPr/>
          <p:nvPr/>
        </p:nvSpPr>
        <p:spPr>
          <a:xfrm>
            <a:off x="8611362" y="2532888"/>
            <a:ext cx="603504" cy="603504"/>
          </a:xfrm>
          <a:prstGeom prst="ellipse">
            <a:avLst/>
          </a:prstGeom>
          <a:solidFill>
            <a:srgbClr val="4B45C4"/>
          </a:solidFill>
          <a:ln/>
        </p:spPr>
      </p:sp>
      <p:pic>
        <p:nvPicPr>
          <p:cNvPr id="35" name="Image 4" descr="preencoded.png">    </p:cNvPr>
          <p:cNvPicPr>
            <a:picLocks noChangeAspect="1"/>
          </p:cNvPicPr>
          <p:nvPr/>
        </p:nvPicPr>
        <p:blipFill>
          <a:blip r:embed="rId5"/>
          <a:stretch>
            <a:fillRect/>
          </a:stretch>
        </p:blipFill>
        <p:spPr>
          <a:xfrm>
            <a:off x="8780343" y="2701869"/>
            <a:ext cx="265542" cy="265542"/>
          </a:xfrm>
          <a:prstGeom prst="rect">
            <a:avLst/>
          </a:prstGeom>
        </p:spPr>
      </p:pic>
      <p:sp>
        <p:nvSpPr>
          <p:cNvPr id="36" name="Text 29"/>
          <p:cNvSpPr/>
          <p:nvPr/>
        </p:nvSpPr>
        <p:spPr>
          <a:xfrm>
            <a:off x="8156448" y="3264408"/>
            <a:ext cx="1513332" cy="310896"/>
          </a:xfrm>
          <a:prstGeom prst="rect">
            <a:avLst/>
          </a:prstGeom>
          <a:noFill/>
          <a:ln/>
        </p:spPr>
        <p:txBody>
          <a:bodyPr wrap="square" lIns="0" tIns="0" rIns="0" bIns="0" rtlCol="0" anchor="ctr"/>
          <a:lstStyle/>
          <a:p>
            <a:pPr algn="ctr" indent="0" marL="0">
              <a:buNone/>
            </a:pPr>
            <a:r>
              <a:rPr lang="en-US" sz="1250" b="1" dirty="0">
                <a:solidFill>
                  <a:srgbClr val="1E1B4A"/>
                </a:solidFill>
                <a:latin typeface="Calibri" pitchFamily="34" charset="0"/>
                <a:ea typeface="Calibri" pitchFamily="34" charset="-122"/>
                <a:cs typeface="Calibri" pitchFamily="34" charset="-120"/>
              </a:rPr>
              <a:t>Cálculos de poder</a:t>
            </a:r>
            <a:endParaRPr lang="en-US" sz="1250" dirty="0"/>
          </a:p>
        </p:txBody>
      </p:sp>
      <p:sp>
        <p:nvSpPr>
          <p:cNvPr id="37" name="Text 30"/>
          <p:cNvSpPr/>
          <p:nvPr/>
        </p:nvSpPr>
        <p:spPr>
          <a:xfrm>
            <a:off x="8156448" y="3630168"/>
            <a:ext cx="1513332" cy="822960"/>
          </a:xfrm>
          <a:prstGeom prst="rect">
            <a:avLst/>
          </a:prstGeom>
          <a:noFill/>
          <a:ln/>
        </p:spPr>
        <p:txBody>
          <a:bodyPr wrap="square" lIns="0" tIns="0" rIns="0" bIns="0" rtlCol="0" anchor="ctr"/>
          <a:lstStyle/>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Clusters, errores</a:t>
            </a:r>
            <a:endParaRPr lang="en-US" sz="1050" dirty="0"/>
          </a:p>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y MDE</a:t>
            </a:r>
            <a:endParaRPr lang="en-US" sz="1050" dirty="0"/>
          </a:p>
        </p:txBody>
      </p:sp>
      <p:sp>
        <p:nvSpPr>
          <p:cNvPr id="38" name="Text 31"/>
          <p:cNvSpPr/>
          <p:nvPr/>
        </p:nvSpPr>
        <p:spPr>
          <a:xfrm>
            <a:off x="9742932" y="3131820"/>
            <a:ext cx="219456" cy="457200"/>
          </a:xfrm>
          <a:prstGeom prst="rect">
            <a:avLst/>
          </a:prstGeom>
          <a:noFill/>
          <a:ln/>
        </p:spPr>
        <p:txBody>
          <a:bodyPr wrap="square" lIns="0" tIns="0" rIns="0" bIns="0" rtlCol="0" anchor="ctr"/>
          <a:lstStyle/>
          <a:p>
            <a:pPr algn="ctr" indent="0" marL="0">
              <a:buNone/>
            </a:pPr>
            <a:r>
              <a:rPr lang="en-US" sz="1800" b="1" dirty="0">
                <a:solidFill>
                  <a:srgbClr val="AAB3F4"/>
                </a:solidFill>
                <a:latin typeface="Calibri" pitchFamily="34" charset="0"/>
                <a:ea typeface="Calibri" pitchFamily="34" charset="-122"/>
                <a:cs typeface="Calibri" pitchFamily="34" charset="-120"/>
              </a:rPr>
              <a:t>›</a:t>
            </a:r>
            <a:endParaRPr lang="en-US" sz="1800" dirty="0"/>
          </a:p>
        </p:txBody>
      </p:sp>
      <p:sp>
        <p:nvSpPr>
          <p:cNvPr id="39" name="Shape 32"/>
          <p:cNvSpPr/>
          <p:nvPr/>
        </p:nvSpPr>
        <p:spPr>
          <a:xfrm>
            <a:off x="9962388" y="2057400"/>
            <a:ext cx="1659636" cy="2606040"/>
          </a:xfrm>
          <a:prstGeom prst="roundRect">
            <a:avLst>
              <a:gd name="adj" fmla="val 4408"/>
            </a:avLst>
          </a:prstGeom>
          <a:solidFill>
            <a:srgbClr val="FFFFFF"/>
          </a:solidFill>
          <a:ln/>
        </p:spPr>
      </p:sp>
      <p:sp>
        <p:nvSpPr>
          <p:cNvPr id="40" name="Text 33"/>
          <p:cNvSpPr/>
          <p:nvPr/>
        </p:nvSpPr>
        <p:spPr>
          <a:xfrm>
            <a:off x="10126980" y="2167128"/>
            <a:ext cx="457200" cy="320040"/>
          </a:xfrm>
          <a:prstGeom prst="rect">
            <a:avLst/>
          </a:prstGeom>
          <a:noFill/>
          <a:ln/>
        </p:spPr>
        <p:txBody>
          <a:bodyPr wrap="square" lIns="0" tIns="0" rIns="0" bIns="0" rtlCol="0" anchor="ctr"/>
          <a:lstStyle/>
          <a:p>
            <a:pPr indent="0" marL="0">
              <a:buNone/>
            </a:pPr>
            <a:r>
              <a:rPr lang="en-US" sz="1800" b="1" dirty="0">
                <a:solidFill>
                  <a:srgbClr val="AAB3F4"/>
                </a:solidFill>
                <a:latin typeface="Century Schoolbook" pitchFamily="34" charset="0"/>
                <a:ea typeface="Century Schoolbook" pitchFamily="34" charset="-122"/>
                <a:cs typeface="Century Schoolbook" pitchFamily="34" charset="-120"/>
              </a:rPr>
              <a:t>6</a:t>
            </a:r>
            <a:endParaRPr lang="en-US" sz="1800" dirty="0"/>
          </a:p>
        </p:txBody>
      </p:sp>
      <p:sp>
        <p:nvSpPr>
          <p:cNvPr id="41" name="Shape 34"/>
          <p:cNvSpPr/>
          <p:nvPr/>
        </p:nvSpPr>
        <p:spPr>
          <a:xfrm>
            <a:off x="10490454" y="2532888"/>
            <a:ext cx="603504" cy="603504"/>
          </a:xfrm>
          <a:prstGeom prst="ellipse">
            <a:avLst/>
          </a:prstGeom>
          <a:solidFill>
            <a:srgbClr val="4B45C4"/>
          </a:solidFill>
          <a:ln/>
        </p:spPr>
      </p:sp>
      <p:pic>
        <p:nvPicPr>
          <p:cNvPr id="42" name="Image 5" descr="preencoded.png">    </p:cNvPr>
          <p:cNvPicPr>
            <a:picLocks noChangeAspect="1"/>
          </p:cNvPicPr>
          <p:nvPr/>
        </p:nvPicPr>
        <p:blipFill>
          <a:blip r:embed="rId6"/>
          <a:stretch>
            <a:fillRect/>
          </a:stretch>
        </p:blipFill>
        <p:spPr>
          <a:xfrm>
            <a:off x="10659435" y="2701869"/>
            <a:ext cx="265542" cy="265542"/>
          </a:xfrm>
          <a:prstGeom prst="rect">
            <a:avLst/>
          </a:prstGeom>
        </p:spPr>
      </p:pic>
      <p:sp>
        <p:nvSpPr>
          <p:cNvPr id="43" name="Text 35"/>
          <p:cNvSpPr/>
          <p:nvPr/>
        </p:nvSpPr>
        <p:spPr>
          <a:xfrm>
            <a:off x="10035540" y="3264408"/>
            <a:ext cx="1513332" cy="310896"/>
          </a:xfrm>
          <a:prstGeom prst="rect">
            <a:avLst/>
          </a:prstGeom>
          <a:noFill/>
          <a:ln/>
        </p:spPr>
        <p:txBody>
          <a:bodyPr wrap="square" lIns="0" tIns="0" rIns="0" bIns="0" rtlCol="0" anchor="ctr"/>
          <a:lstStyle/>
          <a:p>
            <a:pPr algn="ctr" indent="0" marL="0">
              <a:buNone/>
            </a:pPr>
            <a:r>
              <a:rPr lang="en-US" sz="1250" b="1" dirty="0">
                <a:solidFill>
                  <a:srgbClr val="1E1B4A"/>
                </a:solidFill>
                <a:latin typeface="Calibri" pitchFamily="34" charset="0"/>
                <a:ea typeface="Calibri" pitchFamily="34" charset="-122"/>
                <a:cs typeface="Calibri" pitchFamily="34" charset="-120"/>
              </a:rPr>
              <a:t>Otros diseños</a:t>
            </a:r>
            <a:endParaRPr lang="en-US" sz="1250" dirty="0"/>
          </a:p>
        </p:txBody>
      </p:sp>
      <p:sp>
        <p:nvSpPr>
          <p:cNvPr id="44" name="Text 36"/>
          <p:cNvSpPr/>
          <p:nvPr/>
        </p:nvSpPr>
        <p:spPr>
          <a:xfrm>
            <a:off x="10035540" y="3630168"/>
            <a:ext cx="1513332" cy="822960"/>
          </a:xfrm>
          <a:prstGeom prst="rect">
            <a:avLst/>
          </a:prstGeom>
          <a:noFill/>
          <a:ln/>
        </p:spPr>
        <p:txBody>
          <a:bodyPr wrap="square" lIns="0" tIns="0" rIns="0" bIns="0" rtlCol="0" anchor="ctr"/>
          <a:lstStyle/>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Panel, PSM,</a:t>
            </a:r>
            <a:endParaRPr lang="en-US" sz="1050" dirty="0"/>
          </a:p>
          <a:p>
            <a:pPr algn="ctr" indent="0" marL="0">
              <a:lnSpc>
                <a:spcPct val="112000"/>
              </a:lnSpc>
              <a:buNone/>
            </a:pPr>
            <a:r>
              <a:rPr lang="en-US" sz="1050" dirty="0">
                <a:solidFill>
                  <a:srgbClr val="6E6E85"/>
                </a:solidFill>
                <a:latin typeface="Calibri" pitchFamily="34" charset="0"/>
                <a:ea typeface="Calibri" pitchFamily="34" charset="-122"/>
                <a:cs typeface="Calibri" pitchFamily="34" charset="-120"/>
              </a:rPr>
              <a:t>DiD y RDD</a:t>
            </a:r>
            <a:endParaRPr lang="en-US" sz="1050" dirty="0"/>
          </a:p>
        </p:txBody>
      </p:sp>
      <p:sp>
        <p:nvSpPr>
          <p:cNvPr id="45" name="Shape 37"/>
          <p:cNvSpPr/>
          <p:nvPr/>
        </p:nvSpPr>
        <p:spPr>
          <a:xfrm>
            <a:off x="566928" y="5074920"/>
            <a:ext cx="11055096" cy="841248"/>
          </a:xfrm>
          <a:prstGeom prst="roundRect">
            <a:avLst>
              <a:gd name="adj" fmla="val 7609"/>
            </a:avLst>
          </a:prstGeom>
          <a:solidFill>
            <a:srgbClr val="2A2660"/>
          </a:solidFill>
          <a:ln/>
        </p:spPr>
      </p:sp>
      <p:sp>
        <p:nvSpPr>
          <p:cNvPr id="46" name="Text 38"/>
          <p:cNvSpPr/>
          <p:nvPr/>
        </p:nvSpPr>
        <p:spPr>
          <a:xfrm>
            <a:off x="886968" y="5120640"/>
            <a:ext cx="10415016" cy="749808"/>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Lo que se lleva: </a:t>
            </a:r>
            <a:pPr indent="0" marL="0">
              <a:lnSpc>
                <a:spcPct val="110000"/>
              </a:lnSpc>
              <a:buNone/>
            </a:pPr>
            <a:r>
              <a:rPr lang="en-US" sz="1250" dirty="0">
                <a:solidFill>
                  <a:srgbClr val="AAB3F4"/>
                </a:solidFill>
                <a:latin typeface="Calibri" pitchFamily="34" charset="0"/>
                <a:ea typeface="Calibri" pitchFamily="34" charset="-122"/>
                <a:cs typeface="Calibri" pitchFamily="34" charset="-120"/>
              </a:rPr>
              <a:t>un criterio para leer, encargar y defender evidencia — no un recetario de fórmulas. La pregunta de fondo será siempre la misma: ¿contra qué se está comparando?</a:t>
            </a:r>
            <a:endParaRPr lang="en-US" sz="1250" dirty="0"/>
          </a:p>
        </p:txBody>
      </p:sp>
      <p:sp>
        <p:nvSpPr>
          <p:cNvPr id="47" name="Text 39"/>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AAB3F4"/>
                </a:solidFill>
                <a:latin typeface="Calibri" pitchFamily="34" charset="0"/>
                <a:ea typeface="Calibri" pitchFamily="34" charset="-122"/>
                <a:cs typeface="Calibri" pitchFamily="34" charset="-120"/>
              </a:rPr>
              <a:t>La ruta del workshop</a:t>
            </a:r>
            <a:endParaRPr lang="en-US" sz="900" dirty="0"/>
          </a:p>
        </p:txBody>
      </p:sp>
      <p:sp>
        <p:nvSpPr>
          <p:cNvPr id="48" name="Text 40"/>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AAB3F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Correlación no es causalidad</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El obstáculo no es estadístico ni computacional: es de diseño. Más datos no lo resuelven.</a:t>
            </a:r>
            <a:endParaRPr lang="en-US" sz="1350" dirty="0"/>
          </a:p>
        </p:txBody>
      </p:sp>
      <p:sp>
        <p:nvSpPr>
          <p:cNvPr id="6" name="Text 3"/>
          <p:cNvSpPr/>
          <p:nvPr/>
        </p:nvSpPr>
        <p:spPr>
          <a:xfrm>
            <a:off x="566928" y="1691640"/>
            <a:ext cx="6537960" cy="274320"/>
          </a:xfrm>
          <a:prstGeom prst="rect">
            <a:avLst/>
          </a:prstGeom>
          <a:noFill/>
          <a:ln/>
        </p:spPr>
        <p:txBody>
          <a:bodyPr wrap="square" lIns="0" tIns="0" rIns="0" bIns="0" rtlCol="0" anchor="ctr"/>
          <a:lstStyle/>
          <a:p>
            <a:pPr indent="0" marL="0">
              <a:buNone/>
            </a:pPr>
            <a:r>
              <a:rPr lang="en-US" sz="1050" b="1" spc="80" kern="0" dirty="0">
                <a:solidFill>
                  <a:srgbClr val="4B45C4"/>
                </a:solidFill>
                <a:latin typeface="Calibri" pitchFamily="34" charset="0"/>
                <a:ea typeface="Calibri" pitchFamily="34" charset="-122"/>
                <a:cs typeface="Calibri" pitchFamily="34" charset="-120"/>
              </a:rPr>
              <a:t>T R E S   C O R R E L A C I O N E S   C O N O C I D A S</a:t>
            </a:r>
            <a:endParaRPr lang="en-US" sz="1050" dirty="0"/>
          </a:p>
        </p:txBody>
      </p:sp>
      <p:sp>
        <p:nvSpPr>
          <p:cNvPr id="7" name="Shape 4"/>
          <p:cNvSpPr/>
          <p:nvPr/>
        </p:nvSpPr>
        <p:spPr>
          <a:xfrm>
            <a:off x="566928" y="2084832"/>
            <a:ext cx="6537960" cy="1170432"/>
          </a:xfrm>
          <a:prstGeom prst="roundRect">
            <a:avLst>
              <a:gd name="adj" fmla="val 6250"/>
            </a:avLst>
          </a:prstGeom>
          <a:solidFill>
            <a:srgbClr val="EEF0FC"/>
          </a:solidFill>
          <a:ln/>
        </p:spPr>
      </p:sp>
      <p:sp>
        <p:nvSpPr>
          <p:cNvPr id="8" name="Shape 5"/>
          <p:cNvSpPr/>
          <p:nvPr/>
        </p:nvSpPr>
        <p:spPr>
          <a:xfrm>
            <a:off x="841248" y="2395728"/>
            <a:ext cx="548640" cy="548640"/>
          </a:xfrm>
          <a:prstGeom prst="ellipse">
            <a:avLst/>
          </a:prstGeom>
          <a:solidFill>
            <a:srgbClr val="1E1B4A"/>
          </a:solidFill>
          <a:ln/>
        </p:spPr>
      </p:sp>
      <p:pic>
        <p:nvPicPr>
          <p:cNvPr id="9" name="Image 1" descr="preencoded.png">    </p:cNvPr>
          <p:cNvPicPr>
            <a:picLocks noChangeAspect="1"/>
          </p:cNvPicPr>
          <p:nvPr/>
        </p:nvPicPr>
        <p:blipFill>
          <a:blip r:embed="rId2"/>
          <a:stretch>
            <a:fillRect/>
          </a:stretch>
        </p:blipFill>
        <p:spPr>
          <a:xfrm>
            <a:off x="994867" y="2549347"/>
            <a:ext cx="241402" cy="241402"/>
          </a:xfrm>
          <a:prstGeom prst="rect">
            <a:avLst/>
          </a:prstGeom>
        </p:spPr>
      </p:pic>
      <p:sp>
        <p:nvSpPr>
          <p:cNvPr id="10" name="Text 6"/>
          <p:cNvSpPr/>
          <p:nvPr/>
        </p:nvSpPr>
        <p:spPr>
          <a:xfrm>
            <a:off x="1527048" y="2267712"/>
            <a:ext cx="5303520" cy="384048"/>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«Un año más de educación se asocia a 9 % más de salario.»</a:t>
            </a:r>
            <a:endParaRPr lang="en-US" sz="1300" dirty="0"/>
          </a:p>
        </p:txBody>
      </p:sp>
      <p:sp>
        <p:nvSpPr>
          <p:cNvPr id="11" name="Text 7"/>
          <p:cNvSpPr/>
          <p:nvPr/>
        </p:nvSpPr>
        <p:spPr>
          <a:xfrm>
            <a:off x="1527048" y="2660904"/>
            <a:ext cx="5303520" cy="411480"/>
          </a:xfrm>
          <a:prstGeom prst="rect">
            <a:avLst/>
          </a:prstGeom>
          <a:noFill/>
          <a:ln/>
        </p:spPr>
        <p:txBody>
          <a:bodyPr wrap="square" lIns="0" tIns="0" rIns="0" bIns="0" rtlCol="0" anchor="ctr"/>
          <a:lstStyle/>
          <a:p>
            <a:pPr indent="0" marL="0">
              <a:buNone/>
            </a:pPr>
            <a:r>
              <a:rPr lang="en-US" sz="1200" i="1" dirty="0">
                <a:solidFill>
                  <a:srgbClr val="A83A57"/>
                </a:solidFill>
                <a:latin typeface="Calibri" pitchFamily="34" charset="0"/>
                <a:ea typeface="Calibri" pitchFamily="34" charset="-122"/>
                <a:cs typeface="Calibri" pitchFamily="34" charset="-120"/>
              </a:rPr>
              <a:t>¿Es el retorno de la educación, o la habilidad que no se observa?</a:t>
            </a:r>
            <a:endParaRPr lang="en-US" sz="1200" dirty="0"/>
          </a:p>
        </p:txBody>
      </p:sp>
      <p:sp>
        <p:nvSpPr>
          <p:cNvPr id="12" name="Shape 8"/>
          <p:cNvSpPr/>
          <p:nvPr/>
        </p:nvSpPr>
        <p:spPr>
          <a:xfrm>
            <a:off x="566928" y="3401568"/>
            <a:ext cx="6537960" cy="1170432"/>
          </a:xfrm>
          <a:prstGeom prst="roundRect">
            <a:avLst>
              <a:gd name="adj" fmla="val 6250"/>
            </a:avLst>
          </a:prstGeom>
          <a:solidFill>
            <a:srgbClr val="EEF0FC"/>
          </a:solidFill>
          <a:ln/>
        </p:spPr>
      </p:sp>
      <p:sp>
        <p:nvSpPr>
          <p:cNvPr id="13" name="Shape 9"/>
          <p:cNvSpPr/>
          <p:nvPr/>
        </p:nvSpPr>
        <p:spPr>
          <a:xfrm>
            <a:off x="841248" y="3712464"/>
            <a:ext cx="548640" cy="548640"/>
          </a:xfrm>
          <a:prstGeom prst="ellipse">
            <a:avLst/>
          </a:prstGeom>
          <a:solidFill>
            <a:srgbClr val="1E1B4A"/>
          </a:solidFill>
          <a:ln/>
        </p:spPr>
      </p:sp>
      <p:pic>
        <p:nvPicPr>
          <p:cNvPr id="14" name="Image 2" descr="preencoded.png">    </p:cNvPr>
          <p:cNvPicPr>
            <a:picLocks noChangeAspect="1"/>
          </p:cNvPicPr>
          <p:nvPr/>
        </p:nvPicPr>
        <p:blipFill>
          <a:blip r:embed="rId3"/>
          <a:stretch>
            <a:fillRect/>
          </a:stretch>
        </p:blipFill>
        <p:spPr>
          <a:xfrm>
            <a:off x="994867" y="3866083"/>
            <a:ext cx="241402" cy="241402"/>
          </a:xfrm>
          <a:prstGeom prst="rect">
            <a:avLst/>
          </a:prstGeom>
        </p:spPr>
      </p:pic>
      <p:sp>
        <p:nvSpPr>
          <p:cNvPr id="15" name="Text 10"/>
          <p:cNvSpPr/>
          <p:nvPr/>
        </p:nvSpPr>
        <p:spPr>
          <a:xfrm>
            <a:off x="1527048" y="3584448"/>
            <a:ext cx="5303520" cy="384048"/>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«Las ciudades con más policía registran más delito.»</a:t>
            </a:r>
            <a:endParaRPr lang="en-US" sz="1300" dirty="0"/>
          </a:p>
        </p:txBody>
      </p:sp>
      <p:sp>
        <p:nvSpPr>
          <p:cNvPr id="16" name="Text 11"/>
          <p:cNvSpPr/>
          <p:nvPr/>
        </p:nvSpPr>
        <p:spPr>
          <a:xfrm>
            <a:off x="1527048" y="3977640"/>
            <a:ext cx="5303520" cy="411480"/>
          </a:xfrm>
          <a:prstGeom prst="rect">
            <a:avLst/>
          </a:prstGeom>
          <a:noFill/>
          <a:ln/>
        </p:spPr>
        <p:txBody>
          <a:bodyPr wrap="square" lIns="0" tIns="0" rIns="0" bIns="0" rtlCol="0" anchor="ctr"/>
          <a:lstStyle/>
          <a:p>
            <a:pPr indent="0" marL="0">
              <a:buNone/>
            </a:pPr>
            <a:r>
              <a:rPr lang="en-US" sz="1200" i="1" dirty="0">
                <a:solidFill>
                  <a:srgbClr val="A83A57"/>
                </a:solidFill>
                <a:latin typeface="Calibri" pitchFamily="34" charset="0"/>
                <a:ea typeface="Calibri" pitchFamily="34" charset="-122"/>
                <a:cs typeface="Calibri" pitchFamily="34" charset="-120"/>
              </a:rPr>
              <a:t>¿La policía genera delito, o se despliega donde ya lo hay?</a:t>
            </a:r>
            <a:endParaRPr lang="en-US" sz="1200" dirty="0"/>
          </a:p>
        </p:txBody>
      </p:sp>
      <p:sp>
        <p:nvSpPr>
          <p:cNvPr id="17" name="Shape 12"/>
          <p:cNvSpPr/>
          <p:nvPr/>
        </p:nvSpPr>
        <p:spPr>
          <a:xfrm>
            <a:off x="566928" y="4718304"/>
            <a:ext cx="6537960" cy="1170432"/>
          </a:xfrm>
          <a:prstGeom prst="roundRect">
            <a:avLst>
              <a:gd name="adj" fmla="val 6250"/>
            </a:avLst>
          </a:prstGeom>
          <a:solidFill>
            <a:srgbClr val="EEF0FC"/>
          </a:solidFill>
          <a:ln/>
        </p:spPr>
      </p:sp>
      <p:sp>
        <p:nvSpPr>
          <p:cNvPr id="18" name="Shape 13"/>
          <p:cNvSpPr/>
          <p:nvPr/>
        </p:nvSpPr>
        <p:spPr>
          <a:xfrm>
            <a:off x="841248" y="5029200"/>
            <a:ext cx="548640" cy="548640"/>
          </a:xfrm>
          <a:prstGeom prst="ellipse">
            <a:avLst/>
          </a:prstGeom>
          <a:solidFill>
            <a:srgbClr val="1E1B4A"/>
          </a:solidFill>
          <a:ln/>
        </p:spPr>
      </p:sp>
      <p:pic>
        <p:nvPicPr>
          <p:cNvPr id="19" name="Image 3" descr="preencoded.png">    </p:cNvPr>
          <p:cNvPicPr>
            <a:picLocks noChangeAspect="1"/>
          </p:cNvPicPr>
          <p:nvPr/>
        </p:nvPicPr>
        <p:blipFill>
          <a:blip r:embed="rId4"/>
          <a:stretch>
            <a:fillRect/>
          </a:stretch>
        </p:blipFill>
        <p:spPr>
          <a:xfrm>
            <a:off x="994867" y="5182819"/>
            <a:ext cx="241402" cy="241402"/>
          </a:xfrm>
          <a:prstGeom prst="rect">
            <a:avLst/>
          </a:prstGeom>
        </p:spPr>
      </p:pic>
      <p:sp>
        <p:nvSpPr>
          <p:cNvPr id="20" name="Text 14"/>
          <p:cNvSpPr/>
          <p:nvPr/>
        </p:nvSpPr>
        <p:spPr>
          <a:xfrm>
            <a:off x="1527048" y="4901184"/>
            <a:ext cx="5303520" cy="384048"/>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«Los municipios del programa crecieron más.»</a:t>
            </a:r>
            <a:endParaRPr lang="en-US" sz="1300" dirty="0"/>
          </a:p>
        </p:txBody>
      </p:sp>
      <p:sp>
        <p:nvSpPr>
          <p:cNvPr id="21" name="Text 15"/>
          <p:cNvSpPr/>
          <p:nvPr/>
        </p:nvSpPr>
        <p:spPr>
          <a:xfrm>
            <a:off x="1527048" y="5294376"/>
            <a:ext cx="5303520" cy="411480"/>
          </a:xfrm>
          <a:prstGeom prst="rect">
            <a:avLst/>
          </a:prstGeom>
          <a:noFill/>
          <a:ln/>
        </p:spPr>
        <p:txBody>
          <a:bodyPr wrap="square" lIns="0" tIns="0" rIns="0" bIns="0" rtlCol="0" anchor="ctr"/>
          <a:lstStyle/>
          <a:p>
            <a:pPr indent="0" marL="0">
              <a:buNone/>
            </a:pPr>
            <a:r>
              <a:rPr lang="en-US" sz="1200" i="1" dirty="0">
                <a:solidFill>
                  <a:srgbClr val="A83A57"/>
                </a:solidFill>
                <a:latin typeface="Calibri" pitchFamily="34" charset="0"/>
                <a:ea typeface="Calibri" pitchFamily="34" charset="-122"/>
                <a:cs typeface="Calibri" pitchFamily="34" charset="-120"/>
              </a:rPr>
              <a:t>¿Fue el programa, o se focalizó donde ya estaba despegando?</a:t>
            </a:r>
            <a:endParaRPr lang="en-US" sz="1200" dirty="0"/>
          </a:p>
        </p:txBody>
      </p:sp>
      <p:sp>
        <p:nvSpPr>
          <p:cNvPr id="22" name="Shape 16"/>
          <p:cNvSpPr/>
          <p:nvPr/>
        </p:nvSpPr>
        <p:spPr>
          <a:xfrm>
            <a:off x="7470648" y="1691640"/>
            <a:ext cx="4151376" cy="4453128"/>
          </a:xfrm>
          <a:prstGeom prst="roundRect">
            <a:avLst>
              <a:gd name="adj" fmla="val 1982"/>
            </a:avLst>
          </a:prstGeom>
          <a:solidFill>
            <a:srgbClr val="1E1B4A"/>
          </a:solidFill>
          <a:ln/>
        </p:spPr>
      </p:sp>
      <p:sp>
        <p:nvSpPr>
          <p:cNvPr id="23" name="Shape 17"/>
          <p:cNvSpPr/>
          <p:nvPr/>
        </p:nvSpPr>
        <p:spPr>
          <a:xfrm>
            <a:off x="7854696" y="2029968"/>
            <a:ext cx="694944" cy="694944"/>
          </a:xfrm>
          <a:prstGeom prst="ellipse">
            <a:avLst/>
          </a:prstGeom>
          <a:solidFill>
            <a:srgbClr val="4B45C4"/>
          </a:solidFill>
          <a:ln/>
        </p:spPr>
      </p:sp>
      <p:pic>
        <p:nvPicPr>
          <p:cNvPr id="24" name="Image 4" descr="preencoded.png">    </p:cNvPr>
          <p:cNvPicPr>
            <a:picLocks noChangeAspect="1"/>
          </p:cNvPicPr>
          <p:nvPr/>
        </p:nvPicPr>
        <p:blipFill>
          <a:blip r:embed="rId5"/>
          <a:stretch>
            <a:fillRect/>
          </a:stretch>
        </p:blipFill>
        <p:spPr>
          <a:xfrm>
            <a:off x="8049280" y="2224552"/>
            <a:ext cx="305775" cy="305775"/>
          </a:xfrm>
          <a:prstGeom prst="rect">
            <a:avLst/>
          </a:prstGeom>
        </p:spPr>
      </p:pic>
      <p:sp>
        <p:nvSpPr>
          <p:cNvPr id="25" name="Text 18"/>
          <p:cNvSpPr/>
          <p:nvPr/>
        </p:nvSpPr>
        <p:spPr>
          <a:xfrm>
            <a:off x="7854696" y="2880360"/>
            <a:ext cx="3383280" cy="347472"/>
          </a:xfrm>
          <a:prstGeom prst="rect">
            <a:avLst/>
          </a:prstGeom>
          <a:noFill/>
          <a:ln/>
        </p:spPr>
        <p:txBody>
          <a:bodyPr wrap="square" lIns="0" tIns="0" rIns="0" bIns="0" rtlCol="0" anchor="ctr"/>
          <a:lstStyle/>
          <a:p>
            <a:pPr indent="0" marL="0">
              <a:buNone/>
            </a:pPr>
            <a:r>
              <a:rPr lang="en-US" sz="1600" b="1" dirty="0">
                <a:solidFill>
                  <a:srgbClr val="8B87F5"/>
                </a:solidFill>
                <a:latin typeface="Calibri" pitchFamily="34" charset="0"/>
                <a:ea typeface="Calibri" pitchFamily="34" charset="-122"/>
                <a:cs typeface="Calibri" pitchFamily="34" charset="-120"/>
              </a:rPr>
              <a:t>La pregunta correcta</a:t>
            </a:r>
            <a:endParaRPr lang="en-US" sz="1600" dirty="0"/>
          </a:p>
        </p:txBody>
      </p:sp>
      <p:sp>
        <p:nvSpPr>
          <p:cNvPr id="26" name="Text 19"/>
          <p:cNvSpPr/>
          <p:nvPr/>
        </p:nvSpPr>
        <p:spPr>
          <a:xfrm>
            <a:off x="7854696" y="3291840"/>
            <a:ext cx="3383280" cy="1234440"/>
          </a:xfrm>
          <a:prstGeom prst="rect">
            <a:avLst/>
          </a:prstGeom>
          <a:noFill/>
          <a:ln/>
        </p:spPr>
        <p:txBody>
          <a:bodyPr wrap="square" lIns="0" tIns="0" rIns="0" bIns="0" rtlCol="0" anchor="ctr"/>
          <a:lstStyle/>
          <a:p>
            <a:pPr indent="0" marL="0">
              <a:lnSpc>
                <a:spcPct val="115000"/>
              </a:lnSpc>
              <a:buNone/>
            </a:pPr>
            <a:r>
              <a:rPr lang="en-US" sz="1800" i="1" dirty="0">
                <a:solidFill>
                  <a:srgbClr val="FFFFFF"/>
                </a:solidFill>
                <a:latin typeface="Century Schoolbook" pitchFamily="34" charset="0"/>
                <a:ea typeface="Century Schoolbook" pitchFamily="34" charset="-122"/>
                <a:cs typeface="Century Schoolbook" pitchFamily="34" charset="-120"/>
              </a:rPr>
              <a:t>¿Qué habría pasado con estas mismas unidades si no hubieran recibido el tratamiento?</a:t>
            </a:r>
            <a:endParaRPr lang="en-US" sz="1800" dirty="0"/>
          </a:p>
        </p:txBody>
      </p:sp>
      <p:sp>
        <p:nvSpPr>
          <p:cNvPr id="27" name="Text 20"/>
          <p:cNvSpPr/>
          <p:nvPr/>
        </p:nvSpPr>
        <p:spPr>
          <a:xfrm>
            <a:off x="7854696" y="4800600"/>
            <a:ext cx="3383280" cy="1005840"/>
          </a:xfrm>
          <a:prstGeom prst="rect">
            <a:avLst/>
          </a:prstGeom>
          <a:noFill/>
          <a:ln/>
        </p:spPr>
        <p:txBody>
          <a:bodyPr wrap="square" lIns="0" tIns="0" rIns="0" bIns="0" rtlCol="0" anchor="ctr"/>
          <a:lstStyle/>
          <a:p>
            <a:pPr indent="0" marL="0">
              <a:lnSpc>
                <a:spcPct val="115000"/>
              </a:lnSpc>
              <a:buNone/>
            </a:pPr>
            <a:r>
              <a:rPr lang="en-US" sz="1250" dirty="0">
                <a:solidFill>
                  <a:srgbClr val="AAB3F4"/>
                </a:solidFill>
                <a:latin typeface="Calibri" pitchFamily="34" charset="0"/>
                <a:ea typeface="Calibri" pitchFamily="34" charset="-122"/>
                <a:cs typeface="Calibri" pitchFamily="34" charset="-120"/>
              </a:rPr>
              <a:t>Ese escenario no existe en los datos. Toda la disciplina consiste en construir un sustituto creíble para él.</a:t>
            </a:r>
            <a:endParaRPr lang="en-US" sz="1250" dirty="0"/>
          </a:p>
        </p:txBody>
      </p:sp>
      <p:sp>
        <p:nvSpPr>
          <p:cNvPr id="28" name="Text 2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Motivación · Endogeneidad y causalidad</a:t>
            </a:r>
            <a:endParaRPr lang="en-US" sz="900" dirty="0"/>
          </a:p>
        </p:txBody>
      </p:sp>
      <p:sp>
        <p:nvSpPr>
          <p:cNvPr id="29" name="Text 2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El contrafactual: lo que nunca se observa</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El problema fundamental de la inferencia causal: de cada unidad vemos un solo mundo, no los dos.</a:t>
            </a:r>
            <a:endParaRPr lang="en-US" sz="1350" dirty="0"/>
          </a:p>
        </p:txBody>
      </p:sp>
      <p:sp>
        <p:nvSpPr>
          <p:cNvPr id="6" name="Shape 3"/>
          <p:cNvSpPr/>
          <p:nvPr/>
        </p:nvSpPr>
        <p:spPr>
          <a:xfrm>
            <a:off x="566928" y="1645920"/>
            <a:ext cx="5138928" cy="2011680"/>
          </a:xfrm>
          <a:prstGeom prst="roundRect">
            <a:avLst>
              <a:gd name="adj" fmla="val 4091"/>
            </a:avLst>
          </a:prstGeom>
          <a:solidFill>
            <a:srgbClr val="EEF0FC"/>
          </a:solidFill>
          <a:ln/>
        </p:spPr>
      </p:sp>
      <p:sp>
        <p:nvSpPr>
          <p:cNvPr id="7" name="Text 4"/>
          <p:cNvSpPr/>
          <p:nvPr/>
        </p:nvSpPr>
        <p:spPr>
          <a:xfrm>
            <a:off x="886968" y="1792224"/>
            <a:ext cx="4498848" cy="274320"/>
          </a:xfrm>
          <a:prstGeom prst="rect">
            <a:avLst/>
          </a:prstGeom>
          <a:noFill/>
          <a:ln/>
        </p:spPr>
        <p:txBody>
          <a:bodyPr wrap="square" lIns="0" tIns="0" rIns="0" bIns="0" rtlCol="0" anchor="ctr"/>
          <a:lstStyle/>
          <a:p>
            <a:pPr indent="0" marL="0">
              <a:buNone/>
            </a:pPr>
            <a:r>
              <a:rPr lang="en-US" sz="1050" b="1" spc="80" kern="0" dirty="0">
                <a:solidFill>
                  <a:srgbClr val="4B45C4"/>
                </a:solidFill>
                <a:latin typeface="Calibri" pitchFamily="34" charset="0"/>
                <a:ea typeface="Calibri" pitchFamily="34" charset="-122"/>
                <a:cs typeface="Calibri" pitchFamily="34" charset="-120"/>
              </a:rPr>
              <a:t>L O   Q U E   S Í   S E   V E</a:t>
            </a:r>
            <a:endParaRPr lang="en-US" sz="1050" dirty="0"/>
          </a:p>
        </p:txBody>
      </p:sp>
      <p:sp>
        <p:nvSpPr>
          <p:cNvPr id="8" name="Text 5"/>
          <p:cNvSpPr/>
          <p:nvPr/>
        </p:nvSpPr>
        <p:spPr>
          <a:xfrm>
            <a:off x="886968" y="2103120"/>
            <a:ext cx="4498848" cy="548640"/>
          </a:xfrm>
          <a:prstGeom prst="rect">
            <a:avLst/>
          </a:prstGeom>
          <a:noFill/>
          <a:ln/>
        </p:spPr>
        <p:txBody>
          <a:bodyPr wrap="square" lIns="0" tIns="0" rIns="0" bIns="0" rtlCol="0" anchor="ctr"/>
          <a:lstStyle/>
          <a:p>
            <a:pPr indent="0" marL="0">
              <a:lnSpc>
                <a:spcPct val="110000"/>
              </a:lnSpc>
              <a:buNone/>
            </a:pPr>
            <a:r>
              <a:rPr lang="en-US" sz="1500" b="1" dirty="0">
                <a:solidFill>
                  <a:srgbClr val="1E1B4A"/>
                </a:solidFill>
                <a:latin typeface="Calibri" pitchFamily="34" charset="0"/>
                <a:ea typeface="Calibri" pitchFamily="34" charset="-122"/>
                <a:cs typeface="Calibri" pitchFamily="34" charset="-120"/>
              </a:rPr>
              <a:t>El resultado de la unidad tratada, después de tratarla.</a:t>
            </a:r>
            <a:endParaRPr lang="en-US" sz="1500" dirty="0"/>
          </a:p>
        </p:txBody>
      </p:sp>
      <p:sp>
        <p:nvSpPr>
          <p:cNvPr id="9" name="Text 6"/>
          <p:cNvSpPr/>
          <p:nvPr/>
        </p:nvSpPr>
        <p:spPr>
          <a:xfrm>
            <a:off x="886968" y="2688336"/>
            <a:ext cx="4498848" cy="868680"/>
          </a:xfrm>
          <a:prstGeom prst="rect">
            <a:avLst/>
          </a:prstGeom>
          <a:noFill/>
          <a:ln/>
        </p:spPr>
        <p:txBody>
          <a:bodyPr wrap="square" lIns="0" tIns="0" rIns="0" bIns="0" rtlCol="0" anchor="ctr"/>
          <a:lstStyle/>
          <a:p>
            <a:pPr indent="0" marL="0">
              <a:lnSpc>
                <a:spcPct val="115000"/>
              </a:lnSpc>
              <a:buNone/>
            </a:pPr>
            <a:r>
              <a:rPr lang="en-US" sz="1250" dirty="0">
                <a:solidFill>
                  <a:srgbClr val="2B2B3A"/>
                </a:solidFill>
                <a:latin typeface="Calibri" pitchFamily="34" charset="0"/>
                <a:ea typeface="Calibri" pitchFamily="34" charset="-122"/>
                <a:cs typeface="Calibri" pitchFamily="34" charset="-120"/>
              </a:rPr>
              <a:t>El ingreso del hogar que recibió la transferencia. El empleo del municipio donde entró el programa. Está en la base de datos.</a:t>
            </a:r>
            <a:endParaRPr lang="en-US" sz="1250" dirty="0"/>
          </a:p>
        </p:txBody>
      </p:sp>
      <p:sp>
        <p:nvSpPr>
          <p:cNvPr id="10" name="Shape 7"/>
          <p:cNvSpPr/>
          <p:nvPr/>
        </p:nvSpPr>
        <p:spPr>
          <a:xfrm>
            <a:off x="6483096" y="1645920"/>
            <a:ext cx="5138928" cy="2011680"/>
          </a:xfrm>
          <a:prstGeom prst="roundRect">
            <a:avLst>
              <a:gd name="adj" fmla="val 4091"/>
            </a:avLst>
          </a:prstGeom>
          <a:solidFill>
            <a:srgbClr val="FBF0F3"/>
          </a:solidFill>
          <a:ln/>
        </p:spPr>
      </p:sp>
      <p:sp>
        <p:nvSpPr>
          <p:cNvPr id="11" name="Text 8"/>
          <p:cNvSpPr/>
          <p:nvPr/>
        </p:nvSpPr>
        <p:spPr>
          <a:xfrm>
            <a:off x="6803136" y="1792224"/>
            <a:ext cx="4498848" cy="274320"/>
          </a:xfrm>
          <a:prstGeom prst="rect">
            <a:avLst/>
          </a:prstGeom>
          <a:noFill/>
          <a:ln/>
        </p:spPr>
        <p:txBody>
          <a:bodyPr wrap="square" lIns="0" tIns="0" rIns="0" bIns="0" rtlCol="0" anchor="ctr"/>
          <a:lstStyle/>
          <a:p>
            <a:pPr indent="0" marL="0">
              <a:buNone/>
            </a:pPr>
            <a:r>
              <a:rPr lang="en-US" sz="1050" b="1" spc="80" kern="0" dirty="0">
                <a:solidFill>
                  <a:srgbClr val="A83A57"/>
                </a:solidFill>
                <a:latin typeface="Calibri" pitchFamily="34" charset="0"/>
                <a:ea typeface="Calibri" pitchFamily="34" charset="-122"/>
                <a:cs typeface="Calibri" pitchFamily="34" charset="-120"/>
              </a:rPr>
              <a:t>L O   Q U E   H A R Í A   F A L T A</a:t>
            </a:r>
            <a:endParaRPr lang="en-US" sz="1050" dirty="0"/>
          </a:p>
        </p:txBody>
      </p:sp>
      <p:sp>
        <p:nvSpPr>
          <p:cNvPr id="12" name="Text 9"/>
          <p:cNvSpPr/>
          <p:nvPr/>
        </p:nvSpPr>
        <p:spPr>
          <a:xfrm>
            <a:off x="6803136" y="2103120"/>
            <a:ext cx="4498848" cy="548640"/>
          </a:xfrm>
          <a:prstGeom prst="rect">
            <a:avLst/>
          </a:prstGeom>
          <a:noFill/>
          <a:ln/>
        </p:spPr>
        <p:txBody>
          <a:bodyPr wrap="square" lIns="0" tIns="0" rIns="0" bIns="0" rtlCol="0" anchor="ctr"/>
          <a:lstStyle/>
          <a:p>
            <a:pPr indent="0" marL="0">
              <a:lnSpc>
                <a:spcPct val="110000"/>
              </a:lnSpc>
              <a:buNone/>
            </a:pPr>
            <a:r>
              <a:rPr lang="en-US" sz="1500" b="1" dirty="0">
                <a:solidFill>
                  <a:srgbClr val="1E1B4A"/>
                </a:solidFill>
                <a:latin typeface="Calibri" pitchFamily="34" charset="0"/>
                <a:ea typeface="Calibri" pitchFamily="34" charset="-122"/>
                <a:cs typeface="Calibri" pitchFamily="34" charset="-120"/>
              </a:rPr>
              <a:t>Esa misma unidad, en ese mismo momento, sin el tratamiento.</a:t>
            </a:r>
            <a:endParaRPr lang="en-US" sz="1500" dirty="0"/>
          </a:p>
        </p:txBody>
      </p:sp>
      <p:sp>
        <p:nvSpPr>
          <p:cNvPr id="13" name="Text 10"/>
          <p:cNvSpPr/>
          <p:nvPr/>
        </p:nvSpPr>
        <p:spPr>
          <a:xfrm>
            <a:off x="6803136" y="2688336"/>
            <a:ext cx="4498848" cy="868680"/>
          </a:xfrm>
          <a:prstGeom prst="rect">
            <a:avLst/>
          </a:prstGeom>
          <a:noFill/>
          <a:ln/>
        </p:spPr>
        <p:txBody>
          <a:bodyPr wrap="square" lIns="0" tIns="0" rIns="0" bIns="0" rtlCol="0" anchor="ctr"/>
          <a:lstStyle/>
          <a:p>
            <a:pPr indent="0" marL="0">
              <a:lnSpc>
                <a:spcPct val="115000"/>
              </a:lnSpc>
              <a:buNone/>
            </a:pPr>
            <a:r>
              <a:rPr lang="en-US" sz="1250" dirty="0">
                <a:solidFill>
                  <a:srgbClr val="2B2B3A"/>
                </a:solidFill>
                <a:latin typeface="Calibri" pitchFamily="34" charset="0"/>
                <a:ea typeface="Calibri" pitchFamily="34" charset="-122"/>
                <a:cs typeface="Calibri" pitchFamily="34" charset="-120"/>
              </a:rPr>
              <a:t>Nunca se observa. No es un problema de muestreo ni de presupuesto: es lógicamente imposible.</a:t>
            </a:r>
            <a:endParaRPr lang="en-US" sz="1250" dirty="0"/>
          </a:p>
        </p:txBody>
      </p:sp>
      <p:sp>
        <p:nvSpPr>
          <p:cNvPr id="14" name="Text 11"/>
          <p:cNvSpPr/>
          <p:nvPr/>
        </p:nvSpPr>
        <p:spPr>
          <a:xfrm>
            <a:off x="5705856" y="2395728"/>
            <a:ext cx="777240" cy="502920"/>
          </a:xfrm>
          <a:prstGeom prst="rect">
            <a:avLst/>
          </a:prstGeom>
          <a:noFill/>
          <a:ln/>
        </p:spPr>
        <p:txBody>
          <a:bodyPr wrap="square" lIns="0" tIns="0" rIns="0" bIns="0" rtlCol="0" anchor="ctr"/>
          <a:lstStyle/>
          <a:p>
            <a:pPr algn="ctr" indent="0" marL="0">
              <a:buNone/>
            </a:pPr>
            <a:r>
              <a:rPr lang="en-US" sz="3000" b="1" dirty="0">
                <a:solidFill>
                  <a:srgbClr val="6E6E85"/>
                </a:solidFill>
                <a:latin typeface="Calibri" pitchFamily="34" charset="0"/>
                <a:ea typeface="Calibri" pitchFamily="34" charset="-122"/>
                <a:cs typeface="Calibri" pitchFamily="34" charset="-120"/>
              </a:rPr>
              <a:t>−</a:t>
            </a:r>
            <a:endParaRPr lang="en-US" sz="3000" dirty="0"/>
          </a:p>
        </p:txBody>
      </p:sp>
      <p:sp>
        <p:nvSpPr>
          <p:cNvPr id="15" name="Shape 12"/>
          <p:cNvSpPr/>
          <p:nvPr/>
        </p:nvSpPr>
        <p:spPr>
          <a:xfrm>
            <a:off x="566928" y="3895344"/>
            <a:ext cx="5344668" cy="868680"/>
          </a:xfrm>
          <a:prstGeom prst="roundRect">
            <a:avLst>
              <a:gd name="adj" fmla="val 8421"/>
            </a:avLst>
          </a:prstGeom>
          <a:solidFill>
            <a:srgbClr val="1E1B4A"/>
          </a:solidFill>
          <a:ln/>
        </p:spPr>
      </p:sp>
      <p:pic>
        <p:nvPicPr>
          <p:cNvPr id="16" name="Image 1" descr="/home/claude/fx/potential.png">    </p:cNvPr>
          <p:cNvPicPr>
            <a:picLocks noChangeAspect="1"/>
          </p:cNvPicPr>
          <p:nvPr/>
        </p:nvPicPr>
        <p:blipFill>
          <a:blip r:embed="rId2"/>
          <a:stretch>
            <a:fillRect/>
          </a:stretch>
        </p:blipFill>
        <p:spPr>
          <a:xfrm>
            <a:off x="2093214" y="4146804"/>
            <a:ext cx="2292096" cy="365760"/>
          </a:xfrm>
          <a:prstGeom prst="rect">
            <a:avLst/>
          </a:prstGeom>
        </p:spPr>
      </p:pic>
      <p:sp>
        <p:nvSpPr>
          <p:cNvPr id="17" name="Shape 13"/>
          <p:cNvSpPr/>
          <p:nvPr/>
        </p:nvSpPr>
        <p:spPr>
          <a:xfrm>
            <a:off x="6277356" y="3895344"/>
            <a:ext cx="5344668" cy="868680"/>
          </a:xfrm>
          <a:prstGeom prst="roundRect">
            <a:avLst>
              <a:gd name="adj" fmla="val 8421"/>
            </a:avLst>
          </a:prstGeom>
          <a:solidFill>
            <a:srgbClr val="1E1B4A"/>
          </a:solidFill>
          <a:ln/>
        </p:spPr>
      </p:sp>
      <p:pic>
        <p:nvPicPr>
          <p:cNvPr id="18" name="Image 2" descr="/home/claude/fx/ate.png">    </p:cNvPr>
          <p:cNvPicPr>
            <a:picLocks noChangeAspect="1"/>
          </p:cNvPicPr>
          <p:nvPr/>
        </p:nvPicPr>
        <p:blipFill>
          <a:blip r:embed="rId3"/>
          <a:stretch>
            <a:fillRect/>
          </a:stretch>
        </p:blipFill>
        <p:spPr>
          <a:xfrm>
            <a:off x="7496202" y="4174236"/>
            <a:ext cx="2906977" cy="310896"/>
          </a:xfrm>
          <a:prstGeom prst="rect">
            <a:avLst/>
          </a:prstGeom>
        </p:spPr>
      </p:pic>
      <p:sp>
        <p:nvSpPr>
          <p:cNvPr id="19" name="Text 14"/>
          <p:cNvSpPr/>
          <p:nvPr/>
        </p:nvSpPr>
        <p:spPr>
          <a:xfrm>
            <a:off x="566928" y="4809744"/>
            <a:ext cx="5344668" cy="256032"/>
          </a:xfrm>
          <a:prstGeom prst="rect">
            <a:avLst/>
          </a:prstGeom>
          <a:noFill/>
          <a:ln/>
        </p:spPr>
        <p:txBody>
          <a:bodyPr wrap="square" lIns="0" tIns="0" rIns="0" bIns="0" rtlCol="0" anchor="ctr"/>
          <a:lstStyle/>
          <a:p>
            <a:pPr algn="ctr" indent="0" marL="0">
              <a:buNone/>
            </a:pPr>
            <a:r>
              <a:rPr lang="en-US" sz="1050" i="1" dirty="0">
                <a:solidFill>
                  <a:srgbClr val="6E6E85"/>
                </a:solidFill>
                <a:latin typeface="Calibri" pitchFamily="34" charset="0"/>
                <a:ea typeface="Calibri" pitchFamily="34" charset="-122"/>
                <a:cs typeface="Calibri" pitchFamily="34" charset="-120"/>
              </a:rPr>
              <a:t>efecto sobre la unidad i — nunca estimable</a:t>
            </a:r>
            <a:endParaRPr lang="en-US" sz="1050" dirty="0"/>
          </a:p>
        </p:txBody>
      </p:sp>
      <p:sp>
        <p:nvSpPr>
          <p:cNvPr id="20" name="Text 15"/>
          <p:cNvSpPr/>
          <p:nvPr/>
        </p:nvSpPr>
        <p:spPr>
          <a:xfrm>
            <a:off x="6277356" y="4809744"/>
            <a:ext cx="5344668" cy="256032"/>
          </a:xfrm>
          <a:prstGeom prst="rect">
            <a:avLst/>
          </a:prstGeom>
          <a:noFill/>
          <a:ln/>
        </p:spPr>
        <p:txBody>
          <a:bodyPr wrap="square" lIns="0" tIns="0" rIns="0" bIns="0" rtlCol="0" anchor="ctr"/>
          <a:lstStyle/>
          <a:p>
            <a:pPr algn="ctr" indent="0" marL="0">
              <a:buNone/>
            </a:pPr>
            <a:r>
              <a:rPr lang="en-US" sz="1050" i="1" dirty="0">
                <a:solidFill>
                  <a:srgbClr val="6E6E85"/>
                </a:solidFill>
                <a:latin typeface="Calibri" pitchFamily="34" charset="0"/>
                <a:ea typeface="Calibri" pitchFamily="34" charset="-122"/>
                <a:cs typeface="Calibri" pitchFamily="34" charset="-120"/>
              </a:rPr>
              <a:t>efecto promedio en la población — sí estimable, con el diseño adecuado</a:t>
            </a:r>
            <a:endParaRPr lang="en-US" sz="1050" dirty="0"/>
          </a:p>
        </p:txBody>
      </p:sp>
      <p:sp>
        <p:nvSpPr>
          <p:cNvPr id="21" name="Text 16"/>
          <p:cNvSpPr/>
          <p:nvPr/>
        </p:nvSpPr>
        <p:spPr>
          <a:xfrm>
            <a:off x="612648" y="5230368"/>
            <a:ext cx="10963656" cy="868680"/>
          </a:xfrm>
          <a:prstGeom prst="rect">
            <a:avLst/>
          </a:prstGeom>
          <a:noFill/>
          <a:ln/>
        </p:spPr>
        <p:txBody>
          <a:bodyPr wrap="square" lIns="0" tIns="0" rIns="0" bIns="0" rtlCol="0" anchor="ctr"/>
          <a:lstStyle/>
          <a:p>
            <a:pPr indent="0" marL="0">
              <a:lnSpc>
                <a:spcPct val="122000"/>
              </a:lnSpc>
              <a:buNone/>
            </a:pPr>
            <a:r>
              <a:rPr lang="en-US" sz="1250" dirty="0">
                <a:solidFill>
                  <a:srgbClr val="2B2B3A"/>
                </a:solidFill>
                <a:latin typeface="Calibri" pitchFamily="34" charset="0"/>
                <a:ea typeface="Calibri" pitchFamily="34" charset="-122"/>
                <a:cs typeface="Calibri" pitchFamily="34" charset="-120"/>
              </a:rPr>
              <a:t>Como el segundo término falta, todo método de evaluación es una estrategia para reemplazarlo: un grupo de comparación que represente lo que le habría ocurrido al grupo tratado. La discusión metodológica nunca es sobre el estimador — es sobre si ese reemplazo es creíble.</a:t>
            </a:r>
            <a:endParaRPr lang="en-US" sz="1250" dirty="0"/>
          </a:p>
        </p:txBody>
      </p:sp>
      <p:sp>
        <p:nvSpPr>
          <p:cNvPr id="22" name="Text 17"/>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Motivación · El contrafactual</a:t>
            </a:r>
            <a:endParaRPr lang="en-US" sz="900" dirty="0"/>
          </a:p>
        </p:txBody>
      </p:sp>
      <p:sp>
        <p:nvSpPr>
          <p:cNvPr id="23" name="Text 18"/>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De dónde viene el sesgo</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Comparar tratados con no tratados mezcla, en una sola cifra, dos cosas de naturaleza distinta.</a:t>
            </a:r>
            <a:endParaRPr lang="en-US" sz="1350" dirty="0"/>
          </a:p>
        </p:txBody>
      </p:sp>
      <p:sp>
        <p:nvSpPr>
          <p:cNvPr id="6" name="Text 3"/>
          <p:cNvSpPr/>
          <p:nvPr/>
        </p:nvSpPr>
        <p:spPr>
          <a:xfrm>
            <a:off x="566928" y="1609344"/>
            <a:ext cx="11055096" cy="274320"/>
          </a:xfrm>
          <a:prstGeom prst="rect">
            <a:avLst/>
          </a:prstGeom>
          <a:noFill/>
          <a:ln/>
        </p:spPr>
        <p:txBody>
          <a:bodyPr wrap="square" lIns="0" tIns="0" rIns="0" bIns="0" rtlCol="0" anchor="ctr"/>
          <a:lstStyle/>
          <a:p>
            <a:pPr indent="0" marL="0">
              <a:buNone/>
            </a:pPr>
            <a:r>
              <a:rPr lang="en-US" sz="1150" i="1" dirty="0">
                <a:solidFill>
                  <a:srgbClr val="6E6E85"/>
                </a:solidFill>
                <a:latin typeface="Calibri" pitchFamily="34" charset="0"/>
                <a:ea typeface="Calibri" pitchFamily="34" charset="-122"/>
                <a:cs typeface="Calibri" pitchFamily="34" charset="-120"/>
              </a:rPr>
              <a:t>Diferencia observada entre tratados y no tratados</a:t>
            </a:r>
            <a:endParaRPr lang="en-US" sz="1150" dirty="0"/>
          </a:p>
        </p:txBody>
      </p:sp>
      <p:sp>
        <p:nvSpPr>
          <p:cNvPr id="7" name="Shape 4"/>
          <p:cNvSpPr/>
          <p:nvPr/>
        </p:nvSpPr>
        <p:spPr>
          <a:xfrm>
            <a:off x="566928" y="1920240"/>
            <a:ext cx="4643140" cy="713232"/>
          </a:xfrm>
          <a:prstGeom prst="rect">
            <a:avLst/>
          </a:prstGeom>
          <a:solidFill>
            <a:srgbClr val="4B45C4"/>
          </a:solidFill>
          <a:ln/>
        </p:spPr>
      </p:sp>
      <p:sp>
        <p:nvSpPr>
          <p:cNvPr id="8" name="Shape 5"/>
          <p:cNvSpPr/>
          <p:nvPr/>
        </p:nvSpPr>
        <p:spPr>
          <a:xfrm>
            <a:off x="5210068" y="1920240"/>
            <a:ext cx="6411956" cy="713232"/>
          </a:xfrm>
          <a:prstGeom prst="rect">
            <a:avLst/>
          </a:prstGeom>
          <a:solidFill>
            <a:srgbClr val="A83A57"/>
          </a:solidFill>
          <a:ln/>
        </p:spPr>
      </p:sp>
      <p:sp>
        <p:nvSpPr>
          <p:cNvPr id="9" name="Text 6"/>
          <p:cNvSpPr/>
          <p:nvPr/>
        </p:nvSpPr>
        <p:spPr>
          <a:xfrm>
            <a:off x="566928" y="1920240"/>
            <a:ext cx="464314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Efecto causal del tratamiento</a:t>
            </a:r>
            <a:endParaRPr lang="en-US" sz="1350" dirty="0"/>
          </a:p>
        </p:txBody>
      </p:sp>
      <p:sp>
        <p:nvSpPr>
          <p:cNvPr id="10" name="Text 7"/>
          <p:cNvSpPr/>
          <p:nvPr/>
        </p:nvSpPr>
        <p:spPr>
          <a:xfrm>
            <a:off x="5210068" y="1920240"/>
            <a:ext cx="6411956"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Sesgo de selección</a:t>
            </a:r>
            <a:endParaRPr lang="en-US" sz="1350" dirty="0"/>
          </a:p>
        </p:txBody>
      </p:sp>
      <p:sp>
        <p:nvSpPr>
          <p:cNvPr id="11" name="Text 8"/>
          <p:cNvSpPr/>
          <p:nvPr/>
        </p:nvSpPr>
        <p:spPr>
          <a:xfrm>
            <a:off x="566928" y="2688336"/>
            <a:ext cx="4643140" cy="256032"/>
          </a:xfrm>
          <a:prstGeom prst="rect">
            <a:avLst/>
          </a:prstGeom>
          <a:noFill/>
          <a:ln/>
        </p:spPr>
        <p:txBody>
          <a:bodyPr wrap="square" lIns="0" tIns="0" rIns="0" bIns="0" rtlCol="0" anchor="ctr"/>
          <a:lstStyle/>
          <a:p>
            <a:pPr algn="ctr" indent="0" marL="0">
              <a:buNone/>
            </a:pPr>
            <a:r>
              <a:rPr lang="en-US" sz="1050" i="1" dirty="0">
                <a:solidFill>
                  <a:srgbClr val="6E6E85"/>
                </a:solidFill>
                <a:latin typeface="Calibri" pitchFamily="34" charset="0"/>
                <a:ea typeface="Calibri" pitchFamily="34" charset="-122"/>
                <a:cs typeface="Calibri" pitchFamily="34" charset="-120"/>
              </a:rPr>
              <a:t>lo único que se quiere medir</a:t>
            </a:r>
            <a:endParaRPr lang="en-US" sz="1050" dirty="0"/>
          </a:p>
        </p:txBody>
      </p:sp>
      <p:sp>
        <p:nvSpPr>
          <p:cNvPr id="12" name="Text 9"/>
          <p:cNvSpPr/>
          <p:nvPr/>
        </p:nvSpPr>
        <p:spPr>
          <a:xfrm>
            <a:off x="5210068" y="2688336"/>
            <a:ext cx="6411956" cy="256032"/>
          </a:xfrm>
          <a:prstGeom prst="rect">
            <a:avLst/>
          </a:prstGeom>
          <a:noFill/>
          <a:ln/>
        </p:spPr>
        <p:txBody>
          <a:bodyPr wrap="square" lIns="0" tIns="0" rIns="0" bIns="0" rtlCol="0" anchor="ctr"/>
          <a:lstStyle/>
          <a:p>
            <a:pPr algn="ctr" indent="0" marL="0">
              <a:buNone/>
            </a:pPr>
            <a:r>
              <a:rPr lang="en-US" sz="1050" i="1" dirty="0">
                <a:solidFill>
                  <a:srgbClr val="6E6E85"/>
                </a:solidFill>
                <a:latin typeface="Calibri" pitchFamily="34" charset="0"/>
                <a:ea typeface="Calibri" pitchFamily="34" charset="-122"/>
                <a:cs typeface="Calibri" pitchFamily="34" charset="-120"/>
              </a:rPr>
              <a:t>de tamaño y signo desconocidos</a:t>
            </a:r>
            <a:endParaRPr lang="en-US" sz="1050" dirty="0"/>
          </a:p>
        </p:txBody>
      </p:sp>
      <p:sp>
        <p:nvSpPr>
          <p:cNvPr id="13" name="Shape 10"/>
          <p:cNvSpPr/>
          <p:nvPr/>
        </p:nvSpPr>
        <p:spPr>
          <a:xfrm>
            <a:off x="566928" y="3200400"/>
            <a:ext cx="3471672" cy="1938528"/>
          </a:xfrm>
          <a:prstGeom prst="roundRect">
            <a:avLst>
              <a:gd name="adj" fmla="val 4245"/>
            </a:avLst>
          </a:prstGeom>
          <a:solidFill>
            <a:srgbClr val="EEF0FC"/>
          </a:solidFill>
          <a:ln/>
        </p:spPr>
      </p:sp>
      <p:sp>
        <p:nvSpPr>
          <p:cNvPr id="14" name="Text 11"/>
          <p:cNvSpPr/>
          <p:nvPr/>
        </p:nvSpPr>
        <p:spPr>
          <a:xfrm>
            <a:off x="822960" y="3401568"/>
            <a:ext cx="2959608"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Qué es el sesgo</a:t>
            </a:r>
            <a:endParaRPr lang="en-US" sz="1450" dirty="0"/>
          </a:p>
        </p:txBody>
      </p:sp>
      <p:sp>
        <p:nvSpPr>
          <p:cNvPr id="15" name="Text 12"/>
          <p:cNvSpPr/>
          <p:nvPr/>
        </p:nvSpPr>
        <p:spPr>
          <a:xfrm>
            <a:off x="822960" y="3767328"/>
            <a:ext cx="2959608" cy="1225296"/>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La diferencia que ya existía entre los dos grupos antes del tratamiento. Los tratados suelen ser distintos justamente por las razones que los llevaron a tratarse.</a:t>
            </a:r>
            <a:endParaRPr lang="en-US" sz="1250" dirty="0"/>
          </a:p>
        </p:txBody>
      </p:sp>
      <p:sp>
        <p:nvSpPr>
          <p:cNvPr id="16" name="Shape 13"/>
          <p:cNvSpPr/>
          <p:nvPr/>
        </p:nvSpPr>
        <p:spPr>
          <a:xfrm>
            <a:off x="4358640" y="3200400"/>
            <a:ext cx="3471672" cy="1938528"/>
          </a:xfrm>
          <a:prstGeom prst="roundRect">
            <a:avLst>
              <a:gd name="adj" fmla="val 4245"/>
            </a:avLst>
          </a:prstGeom>
          <a:solidFill>
            <a:srgbClr val="EEF0FC"/>
          </a:solidFill>
          <a:ln/>
        </p:spPr>
      </p:sp>
      <p:sp>
        <p:nvSpPr>
          <p:cNvPr id="17" name="Text 14"/>
          <p:cNvSpPr/>
          <p:nvPr/>
        </p:nvSpPr>
        <p:spPr>
          <a:xfrm>
            <a:off x="4614672" y="3401568"/>
            <a:ext cx="2959608"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Por qué no se ve</a:t>
            </a:r>
            <a:endParaRPr lang="en-US" sz="1450" dirty="0"/>
          </a:p>
        </p:txBody>
      </p:sp>
      <p:sp>
        <p:nvSpPr>
          <p:cNvPr id="18" name="Text 15"/>
          <p:cNvSpPr/>
          <p:nvPr/>
        </p:nvSpPr>
        <p:spPr>
          <a:xfrm>
            <a:off x="4614672" y="3767328"/>
            <a:ext cx="2959608" cy="1225296"/>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Si esas diferencias estuvieran medidas, se controlarían. El problema son las que no están en la base: habilidad, capacidad institucional, expectativas, información privada.</a:t>
            </a:r>
            <a:endParaRPr lang="en-US" sz="1250" dirty="0"/>
          </a:p>
        </p:txBody>
      </p:sp>
      <p:sp>
        <p:nvSpPr>
          <p:cNvPr id="19" name="Shape 16"/>
          <p:cNvSpPr/>
          <p:nvPr/>
        </p:nvSpPr>
        <p:spPr>
          <a:xfrm>
            <a:off x="8150352" y="3200400"/>
            <a:ext cx="3471672" cy="1938528"/>
          </a:xfrm>
          <a:prstGeom prst="roundRect">
            <a:avLst>
              <a:gd name="adj" fmla="val 4245"/>
            </a:avLst>
          </a:prstGeom>
          <a:solidFill>
            <a:srgbClr val="FBF0F3"/>
          </a:solidFill>
          <a:ln/>
        </p:spPr>
      </p:sp>
      <p:sp>
        <p:nvSpPr>
          <p:cNvPr id="20" name="Text 17"/>
          <p:cNvSpPr/>
          <p:nvPr/>
        </p:nvSpPr>
        <p:spPr>
          <a:xfrm>
            <a:off x="8406384" y="3401568"/>
            <a:ext cx="2959608" cy="292608"/>
          </a:xfrm>
          <a:prstGeom prst="rect">
            <a:avLst/>
          </a:prstGeom>
          <a:noFill/>
          <a:ln/>
        </p:spPr>
        <p:txBody>
          <a:bodyPr wrap="square" lIns="0" tIns="0" rIns="0" bIns="0" rtlCol="0" anchor="ctr"/>
          <a:lstStyle/>
          <a:p>
            <a:pPr indent="0" marL="0">
              <a:buNone/>
            </a:pPr>
            <a:r>
              <a:rPr lang="en-US" sz="1450" b="1" dirty="0">
                <a:solidFill>
                  <a:srgbClr val="A83A57"/>
                </a:solidFill>
                <a:latin typeface="Calibri" pitchFamily="34" charset="0"/>
                <a:ea typeface="Calibri" pitchFamily="34" charset="-122"/>
                <a:cs typeface="Calibri" pitchFamily="34" charset="-120"/>
              </a:rPr>
              <a:t>Por qué duele</a:t>
            </a:r>
            <a:endParaRPr lang="en-US" sz="1450" dirty="0"/>
          </a:p>
        </p:txBody>
      </p:sp>
      <p:sp>
        <p:nvSpPr>
          <p:cNvPr id="21" name="Text 18"/>
          <p:cNvSpPr/>
          <p:nvPr/>
        </p:nvSpPr>
        <p:spPr>
          <a:xfrm>
            <a:off x="8406384" y="3767328"/>
            <a:ext cx="2959608" cy="1225296"/>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Ni más observaciones ni un modelo más sofisticado separan los dos bloques. Solo lo hace el diseño: la forma en que se decidió quién recibe el tratamiento.</a:t>
            </a:r>
            <a:endParaRPr lang="en-US" sz="1250" dirty="0"/>
          </a:p>
        </p:txBody>
      </p:sp>
      <p:sp>
        <p:nvSpPr>
          <p:cNvPr id="22" name="Shape 19"/>
          <p:cNvSpPr/>
          <p:nvPr/>
        </p:nvSpPr>
        <p:spPr>
          <a:xfrm>
            <a:off x="566928" y="5376672"/>
            <a:ext cx="11055096" cy="658368"/>
          </a:xfrm>
          <a:prstGeom prst="roundRect">
            <a:avLst>
              <a:gd name="adj" fmla="val 9722"/>
            </a:avLst>
          </a:prstGeom>
          <a:solidFill>
            <a:srgbClr val="F7F8FD"/>
          </a:solidFill>
          <a:ln/>
        </p:spPr>
      </p:sp>
      <p:sp>
        <p:nvSpPr>
          <p:cNvPr id="23" name="Text 20"/>
          <p:cNvSpPr/>
          <p:nvPr/>
        </p:nvSpPr>
        <p:spPr>
          <a:xfrm>
            <a:off x="859536" y="5413248"/>
            <a:ext cx="10469880" cy="585216"/>
          </a:xfrm>
          <a:prstGeom prst="rect">
            <a:avLst/>
          </a:prstGeom>
          <a:noFill/>
          <a:ln/>
        </p:spPr>
        <p:txBody>
          <a:bodyPr wrap="square" lIns="0" tIns="0" rIns="0" bIns="0" rtlCol="0" anchor="ctr"/>
          <a:lstStyle/>
          <a:p>
            <a:pPr indent="0" marL="0">
              <a:lnSpc>
                <a:spcPct val="110000"/>
              </a:lnSpc>
              <a:buNone/>
            </a:pPr>
            <a:r>
              <a:rPr lang="en-US" sz="1250" dirty="0">
                <a:solidFill>
                  <a:srgbClr val="2B2B3A"/>
                </a:solidFill>
                <a:latin typeface="Calibri" pitchFamily="34" charset="0"/>
                <a:ea typeface="Calibri" pitchFamily="34" charset="-122"/>
                <a:cs typeface="Calibri" pitchFamily="34" charset="-120"/>
              </a:rPr>
              <a:t>En una frase — el trabajo del investigador no es estimar la diferencia observada (eso lo hace cualquiera), sino argumentar por qué el segundo bloque es despreciable.</a:t>
            </a:r>
            <a:endParaRPr lang="en-US" sz="1250" dirty="0"/>
          </a:p>
        </p:txBody>
      </p:sp>
      <p:sp>
        <p:nvSpPr>
          <p:cNvPr id="24" name="Text 2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Motivación · Sesgo de selección</a:t>
            </a:r>
            <a:endParaRPr lang="en-US" sz="900" dirty="0"/>
          </a:p>
        </p:txBody>
      </p:sp>
      <p:sp>
        <p:nvSpPr>
          <p:cNvPr id="25" name="Text 2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El estimador MCO y por qué no es causal</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Mínimos cuadrados ordinarios estima muy bien una asociación. La causalidad no viene del estimador: viene del supuesto.</a:t>
            </a:r>
            <a:endParaRPr lang="en-US" sz="1350" dirty="0"/>
          </a:p>
        </p:txBody>
      </p:sp>
      <p:sp>
        <p:nvSpPr>
          <p:cNvPr id="6" name="Shape 3"/>
          <p:cNvSpPr/>
          <p:nvPr/>
        </p:nvSpPr>
        <p:spPr>
          <a:xfrm>
            <a:off x="566928" y="1691640"/>
            <a:ext cx="11055096" cy="932688"/>
          </a:xfrm>
          <a:prstGeom prst="roundRect">
            <a:avLst>
              <a:gd name="adj" fmla="val 7843"/>
            </a:avLst>
          </a:prstGeom>
          <a:solidFill>
            <a:srgbClr val="1E1B4A"/>
          </a:solidFill>
          <a:ln/>
        </p:spPr>
      </p:sp>
      <p:pic>
        <p:nvPicPr>
          <p:cNvPr id="7" name="Image 1" descr="/home/claude/fx/ols.png">    </p:cNvPr>
          <p:cNvPicPr>
            <a:picLocks noChangeAspect="1"/>
          </p:cNvPicPr>
          <p:nvPr/>
        </p:nvPicPr>
        <p:blipFill>
          <a:blip r:embed="rId2"/>
          <a:stretch>
            <a:fillRect/>
          </a:stretch>
        </p:blipFill>
        <p:spPr>
          <a:xfrm>
            <a:off x="4292742" y="1965960"/>
            <a:ext cx="3603468" cy="384048"/>
          </a:xfrm>
          <a:prstGeom prst="rect">
            <a:avLst/>
          </a:prstGeom>
        </p:spPr>
      </p:pic>
      <p:sp>
        <p:nvSpPr>
          <p:cNvPr id="8" name="Text 4"/>
          <p:cNvSpPr/>
          <p:nvPr/>
        </p:nvSpPr>
        <p:spPr>
          <a:xfrm>
            <a:off x="566928" y="2706624"/>
            <a:ext cx="11055096" cy="274320"/>
          </a:xfrm>
          <a:prstGeom prst="rect">
            <a:avLst/>
          </a:prstGeom>
          <a:noFill/>
          <a:ln/>
        </p:spPr>
        <p:txBody>
          <a:bodyPr wrap="square" lIns="0" tIns="0" rIns="0" bIns="0" rtlCol="0" anchor="ctr"/>
          <a:lstStyle/>
          <a:p>
            <a:pPr algn="ctr" indent="0" marL="0">
              <a:buNone/>
            </a:pPr>
            <a:r>
              <a:rPr lang="en-US" sz="1150" i="1" dirty="0">
                <a:solidFill>
                  <a:srgbClr val="6E6E85"/>
                </a:solidFill>
                <a:latin typeface="Calibri" pitchFamily="34" charset="0"/>
                <a:ea typeface="Calibri" pitchFamily="34" charset="-122"/>
                <a:cs typeface="Calibri" pitchFamily="34" charset="-120"/>
              </a:rPr>
              <a:t>Y: resultado de interés   ·   T: tratamiento   ·   X: controles observados   ·   u: todo lo demás</a:t>
            </a:r>
            <a:endParaRPr lang="en-US" sz="1150" dirty="0"/>
          </a:p>
        </p:txBody>
      </p:sp>
      <p:sp>
        <p:nvSpPr>
          <p:cNvPr id="9" name="Shape 5"/>
          <p:cNvSpPr/>
          <p:nvPr/>
        </p:nvSpPr>
        <p:spPr>
          <a:xfrm>
            <a:off x="566928" y="3145536"/>
            <a:ext cx="3471672" cy="1993392"/>
          </a:xfrm>
          <a:prstGeom prst="roundRect">
            <a:avLst>
              <a:gd name="adj" fmla="val 4128"/>
            </a:avLst>
          </a:prstGeom>
          <a:solidFill>
            <a:srgbClr val="EEF0FC"/>
          </a:solidFill>
          <a:ln/>
        </p:spPr>
      </p:sp>
      <p:sp>
        <p:nvSpPr>
          <p:cNvPr id="10" name="Text 6"/>
          <p:cNvSpPr/>
          <p:nvPr/>
        </p:nvSpPr>
        <p:spPr>
          <a:xfrm>
            <a:off x="822960" y="3346704"/>
            <a:ext cx="2959608"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Qué estima β₁</a:t>
            </a:r>
            <a:endParaRPr lang="en-US" sz="1450" dirty="0"/>
          </a:p>
        </p:txBody>
      </p:sp>
      <p:sp>
        <p:nvSpPr>
          <p:cNvPr id="11" name="Text 7"/>
          <p:cNvSpPr/>
          <p:nvPr/>
        </p:nvSpPr>
        <p:spPr>
          <a:xfrm>
            <a:off x="822960" y="3712464"/>
            <a:ext cx="2959608" cy="1280160"/>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El cambio promedio en Y asociado a un cambio en T, una vez descontado lo que X explica. Es una descripción de los datos, y como tal es correcta.</a:t>
            </a:r>
            <a:endParaRPr lang="en-US" sz="1250" dirty="0"/>
          </a:p>
        </p:txBody>
      </p:sp>
      <p:sp>
        <p:nvSpPr>
          <p:cNvPr id="12" name="Shape 8"/>
          <p:cNvSpPr/>
          <p:nvPr/>
        </p:nvSpPr>
        <p:spPr>
          <a:xfrm>
            <a:off x="4358640" y="3145536"/>
            <a:ext cx="3471672" cy="1993392"/>
          </a:xfrm>
          <a:prstGeom prst="roundRect">
            <a:avLst>
              <a:gd name="adj" fmla="val 4128"/>
            </a:avLst>
          </a:prstGeom>
          <a:solidFill>
            <a:srgbClr val="EEF0FC"/>
          </a:solidFill>
          <a:ln/>
        </p:spPr>
      </p:sp>
      <p:sp>
        <p:nvSpPr>
          <p:cNvPr id="13" name="Text 9"/>
          <p:cNvSpPr/>
          <p:nvPr/>
        </p:nvSpPr>
        <p:spPr>
          <a:xfrm>
            <a:off x="4614672" y="3346704"/>
            <a:ext cx="2959608"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Qué hace falta para leerlo como efecto</a:t>
            </a:r>
            <a:endParaRPr lang="en-US" sz="1450" dirty="0"/>
          </a:p>
        </p:txBody>
      </p:sp>
      <p:sp>
        <p:nvSpPr>
          <p:cNvPr id="14" name="Text 10"/>
          <p:cNvSpPr/>
          <p:nvPr/>
        </p:nvSpPr>
        <p:spPr>
          <a:xfrm>
            <a:off x="4614672" y="3712464"/>
            <a:ext cx="2959608" cy="1280160"/>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Que u —todo lo no observado— no se relacione con T. Es decir: que la asignación del tratamiento no dependa de nada que también afecte a Y.</a:t>
            </a:r>
            <a:endParaRPr lang="en-US" sz="1250" dirty="0"/>
          </a:p>
        </p:txBody>
      </p:sp>
      <p:sp>
        <p:nvSpPr>
          <p:cNvPr id="15" name="Shape 11"/>
          <p:cNvSpPr/>
          <p:nvPr/>
        </p:nvSpPr>
        <p:spPr>
          <a:xfrm>
            <a:off x="8150352" y="3145536"/>
            <a:ext cx="3471672" cy="1993392"/>
          </a:xfrm>
          <a:prstGeom prst="roundRect">
            <a:avLst>
              <a:gd name="adj" fmla="val 4128"/>
            </a:avLst>
          </a:prstGeom>
          <a:solidFill>
            <a:srgbClr val="FBF0F3"/>
          </a:solidFill>
          <a:ln/>
        </p:spPr>
      </p:sp>
      <p:sp>
        <p:nvSpPr>
          <p:cNvPr id="16" name="Text 12"/>
          <p:cNvSpPr/>
          <p:nvPr/>
        </p:nvSpPr>
        <p:spPr>
          <a:xfrm>
            <a:off x="8406384" y="3346704"/>
            <a:ext cx="2959608" cy="292608"/>
          </a:xfrm>
          <a:prstGeom prst="rect">
            <a:avLst/>
          </a:prstGeom>
          <a:noFill/>
          <a:ln/>
        </p:spPr>
        <p:txBody>
          <a:bodyPr wrap="square" lIns="0" tIns="0" rIns="0" bIns="0" rtlCol="0" anchor="ctr"/>
          <a:lstStyle/>
          <a:p>
            <a:pPr indent="0" marL="0">
              <a:buNone/>
            </a:pPr>
            <a:r>
              <a:rPr lang="en-US" sz="1450" b="1" dirty="0">
                <a:solidFill>
                  <a:srgbClr val="A83A57"/>
                </a:solidFill>
                <a:latin typeface="Calibri" pitchFamily="34" charset="0"/>
                <a:ea typeface="Calibri" pitchFamily="34" charset="-122"/>
                <a:cs typeface="Calibri" pitchFamily="34" charset="-120"/>
              </a:rPr>
              <a:t>Qué ocurre si no se cumple</a:t>
            </a:r>
            <a:endParaRPr lang="en-US" sz="1450" dirty="0"/>
          </a:p>
        </p:txBody>
      </p:sp>
      <p:sp>
        <p:nvSpPr>
          <p:cNvPr id="17" name="Text 13"/>
          <p:cNvSpPr/>
          <p:nvPr/>
        </p:nvSpPr>
        <p:spPr>
          <a:xfrm>
            <a:off x="8406384" y="3712464"/>
            <a:ext cx="2959608" cy="1280160"/>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β₁ absorbe también el efecto de lo omitido. Deja de tener magnitud interpretable y, con frecuencia, hasta el signo cambia.</a:t>
            </a:r>
            <a:endParaRPr lang="en-US" sz="1250" dirty="0"/>
          </a:p>
        </p:txBody>
      </p:sp>
      <p:sp>
        <p:nvSpPr>
          <p:cNvPr id="18" name="Shape 14"/>
          <p:cNvSpPr/>
          <p:nvPr/>
        </p:nvSpPr>
        <p:spPr>
          <a:xfrm>
            <a:off x="566928" y="5349240"/>
            <a:ext cx="11055096" cy="621792"/>
          </a:xfrm>
          <a:prstGeom prst="roundRect">
            <a:avLst>
              <a:gd name="adj" fmla="val 10294"/>
            </a:avLst>
          </a:prstGeom>
          <a:solidFill>
            <a:srgbClr val="1E1B4A"/>
          </a:solidFill>
          <a:ln/>
        </p:spPr>
      </p:sp>
      <p:sp>
        <p:nvSpPr>
          <p:cNvPr id="19" name="Text 15"/>
          <p:cNvSpPr/>
          <p:nvPr/>
        </p:nvSpPr>
        <p:spPr>
          <a:xfrm>
            <a:off x="859536" y="5385816"/>
            <a:ext cx="10469880" cy="548640"/>
          </a:xfrm>
          <a:prstGeom prst="rect">
            <a:avLst/>
          </a:prstGeom>
          <a:noFill/>
          <a:ln/>
        </p:spPr>
        <p:txBody>
          <a:bodyPr wrap="square" lIns="0" tIns="0" rIns="0" bIns="0" rtlCol="0" anchor="ctr"/>
          <a:lstStyle/>
          <a:p>
            <a:pPr indent="0" marL="0">
              <a:lnSpc>
                <a:spcPct val="110000"/>
              </a:lnSpc>
              <a:buNone/>
            </a:pPr>
            <a:r>
              <a:rPr lang="en-US" sz="1250" dirty="0">
                <a:solidFill>
                  <a:srgbClr val="AAB3F4"/>
                </a:solidFill>
                <a:latin typeface="Calibri" pitchFamily="34" charset="0"/>
                <a:ea typeface="Calibri" pitchFamily="34" charset="-122"/>
                <a:cs typeface="Calibri" pitchFamily="34" charset="-120"/>
              </a:rPr>
              <a:t>Ese supuesto no se contrasta con los datos: se defiende con el diseño. Agregar más controles no arregla lo que no está medido — solo desplaza el problema.</a:t>
            </a:r>
            <a:endParaRPr lang="en-US" sz="1250" dirty="0"/>
          </a:p>
        </p:txBody>
      </p:sp>
      <p:sp>
        <p:nvSpPr>
          <p:cNvPr id="20" name="Text 16"/>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Motivación · El estimador MCO</a:t>
            </a:r>
            <a:endParaRPr lang="en-US" sz="900" dirty="0"/>
          </a:p>
        </p:txBody>
      </p:sp>
      <p:sp>
        <p:nvSpPr>
          <p:cNvPr id="21" name="Text 17"/>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Las cuatro caras de la endogeneidad</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Cuatro formas distintas de romper el mismo supuesto. Conviene saber cuál se está enfrentando, porque el remedio cambia.</a:t>
            </a:r>
            <a:endParaRPr lang="en-US" sz="1350" dirty="0"/>
          </a:p>
        </p:txBody>
      </p:sp>
      <p:sp>
        <p:nvSpPr>
          <p:cNvPr id="6" name="Shape 3"/>
          <p:cNvSpPr/>
          <p:nvPr/>
        </p:nvSpPr>
        <p:spPr>
          <a:xfrm>
            <a:off x="566928" y="1737360"/>
            <a:ext cx="5390388" cy="1810512"/>
          </a:xfrm>
          <a:prstGeom prst="roundRect">
            <a:avLst>
              <a:gd name="adj" fmla="val 4545"/>
            </a:avLst>
          </a:prstGeom>
          <a:solidFill>
            <a:srgbClr val="EEF0FC"/>
          </a:solidFill>
          <a:ln/>
        </p:spPr>
      </p:sp>
      <p:sp>
        <p:nvSpPr>
          <p:cNvPr id="7" name="Shape 4"/>
          <p:cNvSpPr/>
          <p:nvPr/>
        </p:nvSpPr>
        <p:spPr>
          <a:xfrm>
            <a:off x="859536" y="2048256"/>
            <a:ext cx="566928" cy="566928"/>
          </a:xfrm>
          <a:prstGeom prst="ellipse">
            <a:avLst/>
          </a:prstGeom>
          <a:solidFill>
            <a:srgbClr val="1E1B4A"/>
          </a:solidFill>
          <a:ln/>
        </p:spPr>
      </p:sp>
      <p:pic>
        <p:nvPicPr>
          <p:cNvPr id="8" name="Image 1" descr="preencoded.png">    </p:cNvPr>
          <p:cNvPicPr>
            <a:picLocks noChangeAspect="1"/>
          </p:cNvPicPr>
          <p:nvPr/>
        </p:nvPicPr>
        <p:blipFill>
          <a:blip r:embed="rId2"/>
          <a:stretch>
            <a:fillRect/>
          </a:stretch>
        </p:blipFill>
        <p:spPr>
          <a:xfrm>
            <a:off x="1018276" y="2206996"/>
            <a:ext cx="249448" cy="249448"/>
          </a:xfrm>
          <a:prstGeom prst="rect">
            <a:avLst/>
          </a:prstGeom>
        </p:spPr>
      </p:pic>
      <p:sp>
        <p:nvSpPr>
          <p:cNvPr id="9" name="Text 5"/>
          <p:cNvSpPr/>
          <p:nvPr/>
        </p:nvSpPr>
        <p:spPr>
          <a:xfrm>
            <a:off x="1554480" y="2029968"/>
            <a:ext cx="4110228" cy="347472"/>
          </a:xfrm>
          <a:prstGeom prst="rect">
            <a:avLst/>
          </a:prstGeom>
          <a:noFill/>
          <a:ln/>
        </p:spPr>
        <p:txBody>
          <a:bodyPr wrap="square" lIns="0" tIns="0" rIns="0" bIns="0" rtlCol="0" anchor="ctr"/>
          <a:lstStyle/>
          <a:p>
            <a:pPr indent="0" marL="0">
              <a:buNone/>
            </a:pPr>
            <a:r>
              <a:rPr lang="en-US" sz="1500" b="1" dirty="0">
                <a:solidFill>
                  <a:srgbClr val="4B45C4"/>
                </a:solidFill>
                <a:latin typeface="Calibri" pitchFamily="34" charset="0"/>
                <a:ea typeface="Calibri" pitchFamily="34" charset="-122"/>
                <a:cs typeface="Calibri" pitchFamily="34" charset="-120"/>
              </a:rPr>
              <a:t>Variable omitida</a:t>
            </a:r>
            <a:endParaRPr lang="en-US" sz="1500" dirty="0"/>
          </a:p>
        </p:txBody>
      </p:sp>
      <p:sp>
        <p:nvSpPr>
          <p:cNvPr id="10" name="Text 6"/>
          <p:cNvSpPr/>
          <p:nvPr/>
        </p:nvSpPr>
        <p:spPr>
          <a:xfrm>
            <a:off x="1554480" y="2450592"/>
            <a:ext cx="4110228" cy="896112"/>
          </a:xfrm>
          <a:prstGeom prst="rect">
            <a:avLst/>
          </a:prstGeom>
          <a:noFill/>
          <a:ln/>
        </p:spPr>
        <p:txBody>
          <a:bodyPr wrap="square" lIns="0" tIns="0" rIns="0" bIns="0" rtlCol="0" anchor="ctr"/>
          <a:lstStyle/>
          <a:p>
            <a:pPr indent="0" marL="0">
              <a:lnSpc>
                <a:spcPct val="118000"/>
              </a:lnSpc>
              <a:buNone/>
            </a:pPr>
            <a:r>
              <a:rPr lang="en-US" sz="1250" dirty="0">
                <a:solidFill>
                  <a:srgbClr val="2B2B3A"/>
                </a:solidFill>
                <a:latin typeface="Calibri" pitchFamily="34" charset="0"/>
                <a:ea typeface="Calibri" pitchFamily="34" charset="-122"/>
                <a:cs typeface="Calibri" pitchFamily="34" charset="-120"/>
              </a:rPr>
              <a:t>La habilidad no observada en la ecuación de Mincer: eleva a la vez los años de estudio y el salario, así que el retorno estimado la absorbe.</a:t>
            </a:r>
            <a:endParaRPr lang="en-US" sz="1250" dirty="0"/>
          </a:p>
        </p:txBody>
      </p:sp>
      <p:sp>
        <p:nvSpPr>
          <p:cNvPr id="11" name="Shape 7"/>
          <p:cNvSpPr/>
          <p:nvPr/>
        </p:nvSpPr>
        <p:spPr>
          <a:xfrm>
            <a:off x="6231636" y="1737360"/>
            <a:ext cx="5390388" cy="1810512"/>
          </a:xfrm>
          <a:prstGeom prst="roundRect">
            <a:avLst>
              <a:gd name="adj" fmla="val 4545"/>
            </a:avLst>
          </a:prstGeom>
          <a:solidFill>
            <a:srgbClr val="EEF0FC"/>
          </a:solidFill>
          <a:ln/>
        </p:spPr>
      </p:sp>
      <p:sp>
        <p:nvSpPr>
          <p:cNvPr id="12" name="Shape 8"/>
          <p:cNvSpPr/>
          <p:nvPr/>
        </p:nvSpPr>
        <p:spPr>
          <a:xfrm>
            <a:off x="6524244" y="2048256"/>
            <a:ext cx="566928" cy="566928"/>
          </a:xfrm>
          <a:prstGeom prst="ellipse">
            <a:avLst/>
          </a:prstGeom>
          <a:solidFill>
            <a:srgbClr val="1E1B4A"/>
          </a:solidFill>
          <a:ln/>
        </p:spPr>
      </p:sp>
      <p:pic>
        <p:nvPicPr>
          <p:cNvPr id="13" name="Image 2" descr="preencoded.png">    </p:cNvPr>
          <p:cNvPicPr>
            <a:picLocks noChangeAspect="1"/>
          </p:cNvPicPr>
          <p:nvPr/>
        </p:nvPicPr>
        <p:blipFill>
          <a:blip r:embed="rId3"/>
          <a:stretch>
            <a:fillRect/>
          </a:stretch>
        </p:blipFill>
        <p:spPr>
          <a:xfrm>
            <a:off x="6682984" y="2206996"/>
            <a:ext cx="249448" cy="249448"/>
          </a:xfrm>
          <a:prstGeom prst="rect">
            <a:avLst/>
          </a:prstGeom>
        </p:spPr>
      </p:pic>
      <p:sp>
        <p:nvSpPr>
          <p:cNvPr id="14" name="Text 9"/>
          <p:cNvSpPr/>
          <p:nvPr/>
        </p:nvSpPr>
        <p:spPr>
          <a:xfrm>
            <a:off x="7219188" y="2029968"/>
            <a:ext cx="4110228" cy="347472"/>
          </a:xfrm>
          <a:prstGeom prst="rect">
            <a:avLst/>
          </a:prstGeom>
          <a:noFill/>
          <a:ln/>
        </p:spPr>
        <p:txBody>
          <a:bodyPr wrap="square" lIns="0" tIns="0" rIns="0" bIns="0" rtlCol="0" anchor="ctr"/>
          <a:lstStyle/>
          <a:p>
            <a:pPr indent="0" marL="0">
              <a:buNone/>
            </a:pPr>
            <a:r>
              <a:rPr lang="en-US" sz="1500" b="1" dirty="0">
                <a:solidFill>
                  <a:srgbClr val="4B45C4"/>
                </a:solidFill>
                <a:latin typeface="Calibri" pitchFamily="34" charset="0"/>
                <a:ea typeface="Calibri" pitchFamily="34" charset="-122"/>
                <a:cs typeface="Calibri" pitchFamily="34" charset="-120"/>
              </a:rPr>
              <a:t>Causalidad inversa</a:t>
            </a:r>
            <a:endParaRPr lang="en-US" sz="1500" dirty="0"/>
          </a:p>
        </p:txBody>
      </p:sp>
      <p:sp>
        <p:nvSpPr>
          <p:cNvPr id="15" name="Text 10"/>
          <p:cNvSpPr/>
          <p:nvPr/>
        </p:nvSpPr>
        <p:spPr>
          <a:xfrm>
            <a:off x="7219188" y="2450592"/>
            <a:ext cx="4110228" cy="896112"/>
          </a:xfrm>
          <a:prstGeom prst="rect">
            <a:avLst/>
          </a:prstGeom>
          <a:noFill/>
          <a:ln/>
        </p:spPr>
        <p:txBody>
          <a:bodyPr wrap="square" lIns="0" tIns="0" rIns="0" bIns="0" rtlCol="0" anchor="ctr"/>
          <a:lstStyle/>
          <a:p>
            <a:pPr indent="0" marL="0">
              <a:lnSpc>
                <a:spcPct val="118000"/>
              </a:lnSpc>
              <a:buNone/>
            </a:pPr>
            <a:r>
              <a:rPr lang="en-US" sz="1250" dirty="0">
                <a:solidFill>
                  <a:srgbClr val="2B2B3A"/>
                </a:solidFill>
                <a:latin typeface="Calibri" pitchFamily="34" charset="0"/>
                <a:ea typeface="Calibri" pitchFamily="34" charset="-122"/>
                <a:cs typeface="Calibri" pitchFamily="34" charset="-120"/>
              </a:rPr>
              <a:t>El pie de fuerza policial responde al crimen tanto como el crimen responde al pie de fuerza. La flecha apunta en los dos sentidos a la vez.</a:t>
            </a:r>
            <a:endParaRPr lang="en-US" sz="1250" dirty="0"/>
          </a:p>
        </p:txBody>
      </p:sp>
      <p:sp>
        <p:nvSpPr>
          <p:cNvPr id="16" name="Shape 11"/>
          <p:cNvSpPr/>
          <p:nvPr/>
        </p:nvSpPr>
        <p:spPr>
          <a:xfrm>
            <a:off x="566928" y="3822192"/>
            <a:ext cx="5390388" cy="1810512"/>
          </a:xfrm>
          <a:prstGeom prst="roundRect">
            <a:avLst>
              <a:gd name="adj" fmla="val 4545"/>
            </a:avLst>
          </a:prstGeom>
          <a:solidFill>
            <a:srgbClr val="EEF0FC"/>
          </a:solidFill>
          <a:ln/>
        </p:spPr>
      </p:sp>
      <p:sp>
        <p:nvSpPr>
          <p:cNvPr id="17" name="Shape 12"/>
          <p:cNvSpPr/>
          <p:nvPr/>
        </p:nvSpPr>
        <p:spPr>
          <a:xfrm>
            <a:off x="859536" y="4133088"/>
            <a:ext cx="566928" cy="566928"/>
          </a:xfrm>
          <a:prstGeom prst="ellipse">
            <a:avLst/>
          </a:prstGeom>
          <a:solidFill>
            <a:srgbClr val="1E1B4A"/>
          </a:solidFill>
          <a:ln/>
        </p:spPr>
      </p:sp>
      <p:pic>
        <p:nvPicPr>
          <p:cNvPr id="18" name="Image 3" descr="preencoded.png">    </p:cNvPr>
          <p:cNvPicPr>
            <a:picLocks noChangeAspect="1"/>
          </p:cNvPicPr>
          <p:nvPr/>
        </p:nvPicPr>
        <p:blipFill>
          <a:blip r:embed="rId4"/>
          <a:stretch>
            <a:fillRect/>
          </a:stretch>
        </p:blipFill>
        <p:spPr>
          <a:xfrm>
            <a:off x="1018276" y="4291828"/>
            <a:ext cx="249448" cy="249448"/>
          </a:xfrm>
          <a:prstGeom prst="rect">
            <a:avLst/>
          </a:prstGeom>
        </p:spPr>
      </p:pic>
      <p:sp>
        <p:nvSpPr>
          <p:cNvPr id="19" name="Text 13"/>
          <p:cNvSpPr/>
          <p:nvPr/>
        </p:nvSpPr>
        <p:spPr>
          <a:xfrm>
            <a:off x="1554480" y="4114800"/>
            <a:ext cx="4110228" cy="347472"/>
          </a:xfrm>
          <a:prstGeom prst="rect">
            <a:avLst/>
          </a:prstGeom>
          <a:noFill/>
          <a:ln/>
        </p:spPr>
        <p:txBody>
          <a:bodyPr wrap="square" lIns="0" tIns="0" rIns="0" bIns="0" rtlCol="0" anchor="ctr"/>
          <a:lstStyle/>
          <a:p>
            <a:pPr indent="0" marL="0">
              <a:buNone/>
            </a:pPr>
            <a:r>
              <a:rPr lang="en-US" sz="1500" b="1" dirty="0">
                <a:solidFill>
                  <a:srgbClr val="4B45C4"/>
                </a:solidFill>
                <a:latin typeface="Calibri" pitchFamily="34" charset="0"/>
                <a:ea typeface="Calibri" pitchFamily="34" charset="-122"/>
                <a:cs typeface="Calibri" pitchFamily="34" charset="-120"/>
              </a:rPr>
              <a:t>Autoselección</a:t>
            </a:r>
            <a:endParaRPr lang="en-US" sz="1500" dirty="0"/>
          </a:p>
        </p:txBody>
      </p:sp>
      <p:sp>
        <p:nvSpPr>
          <p:cNvPr id="20" name="Text 14"/>
          <p:cNvSpPr/>
          <p:nvPr/>
        </p:nvSpPr>
        <p:spPr>
          <a:xfrm>
            <a:off x="1554480" y="4535424"/>
            <a:ext cx="4110228" cy="896112"/>
          </a:xfrm>
          <a:prstGeom prst="rect">
            <a:avLst/>
          </a:prstGeom>
          <a:noFill/>
          <a:ln/>
        </p:spPr>
        <p:txBody>
          <a:bodyPr wrap="square" lIns="0" tIns="0" rIns="0" bIns="0" rtlCol="0" anchor="ctr"/>
          <a:lstStyle/>
          <a:p>
            <a:pPr indent="0" marL="0">
              <a:lnSpc>
                <a:spcPct val="118000"/>
              </a:lnSpc>
              <a:buNone/>
            </a:pPr>
            <a:r>
              <a:rPr lang="en-US" sz="1250" dirty="0">
                <a:solidFill>
                  <a:srgbClr val="2B2B3A"/>
                </a:solidFill>
                <a:latin typeface="Calibri" pitchFamily="34" charset="0"/>
                <a:ea typeface="Calibri" pitchFamily="34" charset="-122"/>
                <a:cs typeface="Calibri" pitchFamily="34" charset="-120"/>
              </a:rPr>
              <a:t>Quien se inscribe en un programa de capacitación laboral no es comparable con quien no lo hace: es el problema que LaLonde (1986) volvió famoso.</a:t>
            </a:r>
            <a:endParaRPr lang="en-US" sz="1250" dirty="0"/>
          </a:p>
        </p:txBody>
      </p:sp>
      <p:sp>
        <p:nvSpPr>
          <p:cNvPr id="21" name="Shape 15"/>
          <p:cNvSpPr/>
          <p:nvPr/>
        </p:nvSpPr>
        <p:spPr>
          <a:xfrm>
            <a:off x="6231636" y="3822192"/>
            <a:ext cx="5390388" cy="1810512"/>
          </a:xfrm>
          <a:prstGeom prst="roundRect">
            <a:avLst>
              <a:gd name="adj" fmla="val 4545"/>
            </a:avLst>
          </a:prstGeom>
          <a:solidFill>
            <a:srgbClr val="EEF0FC"/>
          </a:solidFill>
          <a:ln/>
        </p:spPr>
      </p:sp>
      <p:sp>
        <p:nvSpPr>
          <p:cNvPr id="22" name="Shape 16"/>
          <p:cNvSpPr/>
          <p:nvPr/>
        </p:nvSpPr>
        <p:spPr>
          <a:xfrm>
            <a:off x="6524244" y="4133088"/>
            <a:ext cx="566928" cy="566928"/>
          </a:xfrm>
          <a:prstGeom prst="ellipse">
            <a:avLst/>
          </a:prstGeom>
          <a:solidFill>
            <a:srgbClr val="1E1B4A"/>
          </a:solidFill>
          <a:ln/>
        </p:spPr>
      </p:sp>
      <p:pic>
        <p:nvPicPr>
          <p:cNvPr id="23" name="Image 4" descr="preencoded.png">    </p:cNvPr>
          <p:cNvPicPr>
            <a:picLocks noChangeAspect="1"/>
          </p:cNvPicPr>
          <p:nvPr/>
        </p:nvPicPr>
        <p:blipFill>
          <a:blip r:embed="rId5"/>
          <a:stretch>
            <a:fillRect/>
          </a:stretch>
        </p:blipFill>
        <p:spPr>
          <a:xfrm>
            <a:off x="6682984" y="4291828"/>
            <a:ext cx="249448" cy="249448"/>
          </a:xfrm>
          <a:prstGeom prst="rect">
            <a:avLst/>
          </a:prstGeom>
        </p:spPr>
      </p:pic>
      <p:sp>
        <p:nvSpPr>
          <p:cNvPr id="24" name="Text 17"/>
          <p:cNvSpPr/>
          <p:nvPr/>
        </p:nvSpPr>
        <p:spPr>
          <a:xfrm>
            <a:off x="7219188" y="4114800"/>
            <a:ext cx="4110228" cy="347472"/>
          </a:xfrm>
          <a:prstGeom prst="rect">
            <a:avLst/>
          </a:prstGeom>
          <a:noFill/>
          <a:ln/>
        </p:spPr>
        <p:txBody>
          <a:bodyPr wrap="square" lIns="0" tIns="0" rIns="0" bIns="0" rtlCol="0" anchor="ctr"/>
          <a:lstStyle/>
          <a:p>
            <a:pPr indent="0" marL="0">
              <a:buNone/>
            </a:pPr>
            <a:r>
              <a:rPr lang="en-US" sz="1500" b="1" dirty="0">
                <a:solidFill>
                  <a:srgbClr val="4B45C4"/>
                </a:solidFill>
                <a:latin typeface="Calibri" pitchFamily="34" charset="0"/>
                <a:ea typeface="Calibri" pitchFamily="34" charset="-122"/>
                <a:cs typeface="Calibri" pitchFamily="34" charset="-120"/>
              </a:rPr>
              <a:t>Error de medición</a:t>
            </a:r>
            <a:endParaRPr lang="en-US" sz="1500" dirty="0"/>
          </a:p>
        </p:txBody>
      </p:sp>
      <p:sp>
        <p:nvSpPr>
          <p:cNvPr id="25" name="Text 18"/>
          <p:cNvSpPr/>
          <p:nvPr/>
        </p:nvSpPr>
        <p:spPr>
          <a:xfrm>
            <a:off x="7219188" y="4535424"/>
            <a:ext cx="4110228" cy="896112"/>
          </a:xfrm>
          <a:prstGeom prst="rect">
            <a:avLst/>
          </a:prstGeom>
          <a:noFill/>
          <a:ln/>
        </p:spPr>
        <p:txBody>
          <a:bodyPr wrap="square" lIns="0" tIns="0" rIns="0" bIns="0" rtlCol="0" anchor="ctr"/>
          <a:lstStyle/>
          <a:p>
            <a:pPr indent="0" marL="0">
              <a:lnSpc>
                <a:spcPct val="118000"/>
              </a:lnSpc>
              <a:buNone/>
            </a:pPr>
            <a:r>
              <a:rPr lang="en-US" sz="1250" dirty="0">
                <a:solidFill>
                  <a:srgbClr val="2B2B3A"/>
                </a:solidFill>
                <a:latin typeface="Calibri" pitchFamily="34" charset="0"/>
                <a:ea typeface="Calibri" pitchFamily="34" charset="-122"/>
                <a:cs typeface="Calibri" pitchFamily="34" charset="-120"/>
              </a:rPr>
              <a:t>El ingreso autorreportado en encuestas de hogares está mal medido, y eso atenúa el coeficiente hacia cero: el efecto real se subestima.</a:t>
            </a:r>
            <a:endParaRPr lang="en-US" sz="1250" dirty="0"/>
          </a:p>
        </p:txBody>
      </p:sp>
      <p:sp>
        <p:nvSpPr>
          <p:cNvPr id="26" name="Shape 19"/>
          <p:cNvSpPr/>
          <p:nvPr/>
        </p:nvSpPr>
        <p:spPr>
          <a:xfrm>
            <a:off x="566928" y="5779008"/>
            <a:ext cx="11055096" cy="457200"/>
          </a:xfrm>
          <a:prstGeom prst="roundRect">
            <a:avLst>
              <a:gd name="adj" fmla="val 14000"/>
            </a:avLst>
          </a:prstGeom>
          <a:solidFill>
            <a:srgbClr val="F7F8FD"/>
          </a:solidFill>
          <a:ln/>
        </p:spPr>
      </p:sp>
      <p:sp>
        <p:nvSpPr>
          <p:cNvPr id="27" name="Text 20"/>
          <p:cNvSpPr/>
          <p:nvPr/>
        </p:nvSpPr>
        <p:spPr>
          <a:xfrm>
            <a:off x="859536" y="5815584"/>
            <a:ext cx="10469880" cy="384048"/>
          </a:xfrm>
          <a:prstGeom prst="rect">
            <a:avLst/>
          </a:prstGeom>
          <a:noFill/>
          <a:ln/>
        </p:spPr>
        <p:txBody>
          <a:bodyPr wrap="square" lIns="0" tIns="0" rIns="0" bIns="0" rtlCol="0" anchor="ctr"/>
          <a:lstStyle/>
          <a:p>
            <a:pPr indent="0" marL="0">
              <a:lnSpc>
                <a:spcPct val="110000"/>
              </a:lnSpc>
              <a:buNone/>
            </a:pPr>
            <a:r>
              <a:rPr lang="en-US" sz="1200" dirty="0">
                <a:solidFill>
                  <a:srgbClr val="2B2B3A"/>
                </a:solidFill>
                <a:latin typeface="Calibri" pitchFamily="34" charset="0"/>
                <a:ea typeface="Calibri" pitchFamily="34" charset="-122"/>
                <a:cs typeface="Calibri" pitchFamily="34" charset="-120"/>
              </a:rPr>
              <a:t>Las tres primeras sesgan en dirección desconocida. La cuarta sesga hacia cero — es la única que da un error «conservador».</a:t>
            </a:r>
            <a:endParaRPr lang="en-US" sz="1200" dirty="0"/>
          </a:p>
        </p:txBody>
      </p:sp>
      <p:sp>
        <p:nvSpPr>
          <p:cNvPr id="28" name="Text 2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Motivación · El problema de la endogeneidad</a:t>
            </a:r>
            <a:endParaRPr lang="en-US" sz="900" dirty="0"/>
          </a:p>
        </p:txBody>
      </p:sp>
      <p:sp>
        <p:nvSpPr>
          <p:cNvPr id="29" name="Text 2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Variables instrumentales (2SLS)</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La idea: quedarse solo con la parte de la variación en el tratamiento que proviene de algo ajeno al problema.</a:t>
            </a:r>
            <a:endParaRPr lang="en-US" sz="1350" dirty="0"/>
          </a:p>
        </p:txBody>
      </p:sp>
      <p:sp>
        <p:nvSpPr>
          <p:cNvPr id="6" name="Shape 3"/>
          <p:cNvSpPr/>
          <p:nvPr/>
        </p:nvSpPr>
        <p:spPr>
          <a:xfrm>
            <a:off x="566928" y="1664208"/>
            <a:ext cx="5344668" cy="1874520"/>
          </a:xfrm>
          <a:prstGeom prst="roundRect">
            <a:avLst>
              <a:gd name="adj" fmla="val 3902"/>
            </a:avLst>
          </a:prstGeom>
          <a:solidFill>
            <a:srgbClr val="1E1B4A"/>
          </a:solidFill>
          <a:ln/>
        </p:spPr>
      </p:sp>
      <p:sp>
        <p:nvSpPr>
          <p:cNvPr id="7" name="Text 4"/>
          <p:cNvSpPr/>
          <p:nvPr/>
        </p:nvSpPr>
        <p:spPr>
          <a:xfrm>
            <a:off x="841248" y="1792224"/>
            <a:ext cx="4796028" cy="256032"/>
          </a:xfrm>
          <a:prstGeom prst="rect">
            <a:avLst/>
          </a:prstGeom>
          <a:noFill/>
          <a:ln/>
        </p:spPr>
        <p:txBody>
          <a:bodyPr wrap="square" lIns="0" tIns="0" rIns="0" bIns="0" rtlCol="0" anchor="ctr"/>
          <a:lstStyle/>
          <a:p>
            <a:pPr indent="0" marL="0">
              <a:buNone/>
            </a:pPr>
            <a:r>
              <a:rPr lang="en-US" sz="1000" b="1" spc="80" kern="0" dirty="0">
                <a:solidFill>
                  <a:srgbClr val="8B87F5"/>
                </a:solidFill>
                <a:latin typeface="Calibri" pitchFamily="34" charset="0"/>
                <a:ea typeface="Calibri" pitchFamily="34" charset="-122"/>
                <a:cs typeface="Calibri" pitchFamily="34" charset="-120"/>
              </a:rPr>
              <a:t>P R I M E R A   E T A P A</a:t>
            </a:r>
            <a:endParaRPr lang="en-US" sz="1000" dirty="0"/>
          </a:p>
        </p:txBody>
      </p:sp>
      <p:pic>
        <p:nvPicPr>
          <p:cNvPr id="8" name="Image 1" descr="/home/claude/fx/iv1.png">    </p:cNvPr>
          <p:cNvPicPr>
            <a:picLocks noChangeAspect="1"/>
          </p:cNvPicPr>
          <p:nvPr/>
        </p:nvPicPr>
        <p:blipFill>
          <a:blip r:embed="rId2"/>
          <a:stretch>
            <a:fillRect/>
          </a:stretch>
        </p:blipFill>
        <p:spPr>
          <a:xfrm>
            <a:off x="1992590" y="2194560"/>
            <a:ext cx="2493345" cy="310896"/>
          </a:xfrm>
          <a:prstGeom prst="rect">
            <a:avLst/>
          </a:prstGeom>
        </p:spPr>
      </p:pic>
      <p:sp>
        <p:nvSpPr>
          <p:cNvPr id="9" name="Text 5"/>
          <p:cNvSpPr/>
          <p:nvPr/>
        </p:nvSpPr>
        <p:spPr>
          <a:xfrm>
            <a:off x="841248" y="2724912"/>
            <a:ext cx="4796028" cy="685800"/>
          </a:xfrm>
          <a:prstGeom prst="rect">
            <a:avLst/>
          </a:prstGeom>
          <a:noFill/>
          <a:ln/>
        </p:spPr>
        <p:txBody>
          <a:bodyPr wrap="square" lIns="0" tIns="0" rIns="0" bIns="0" rtlCol="0" anchor="ctr"/>
          <a:lstStyle/>
          <a:p>
            <a:pPr indent="0" marL="0">
              <a:lnSpc>
                <a:spcPct val="115000"/>
              </a:lnSpc>
              <a:buNone/>
            </a:pPr>
            <a:r>
              <a:rPr lang="en-US" sz="1200" dirty="0">
                <a:solidFill>
                  <a:srgbClr val="AAB3F4"/>
                </a:solidFill>
                <a:latin typeface="Calibri" pitchFamily="34" charset="0"/>
                <a:ea typeface="Calibri" pitchFamily="34" charset="-122"/>
                <a:cs typeface="Calibri" pitchFamily="34" charset="-120"/>
              </a:rPr>
              <a:t>Se explica el tratamiento con el instrumento Z y se guarda el valor predicho.</a:t>
            </a:r>
            <a:endParaRPr lang="en-US" sz="1200" dirty="0"/>
          </a:p>
        </p:txBody>
      </p:sp>
      <p:sp>
        <p:nvSpPr>
          <p:cNvPr id="10" name="Shape 6"/>
          <p:cNvSpPr/>
          <p:nvPr/>
        </p:nvSpPr>
        <p:spPr>
          <a:xfrm>
            <a:off x="6277356" y="1664208"/>
            <a:ext cx="5344668" cy="1874520"/>
          </a:xfrm>
          <a:prstGeom prst="roundRect">
            <a:avLst>
              <a:gd name="adj" fmla="val 3902"/>
            </a:avLst>
          </a:prstGeom>
          <a:solidFill>
            <a:srgbClr val="343073"/>
          </a:solidFill>
          <a:ln/>
        </p:spPr>
      </p:sp>
      <p:sp>
        <p:nvSpPr>
          <p:cNvPr id="11" name="Text 7"/>
          <p:cNvSpPr/>
          <p:nvPr/>
        </p:nvSpPr>
        <p:spPr>
          <a:xfrm>
            <a:off x="6551676" y="1792224"/>
            <a:ext cx="4796028" cy="256032"/>
          </a:xfrm>
          <a:prstGeom prst="rect">
            <a:avLst/>
          </a:prstGeom>
          <a:noFill/>
          <a:ln/>
        </p:spPr>
        <p:txBody>
          <a:bodyPr wrap="square" lIns="0" tIns="0" rIns="0" bIns="0" rtlCol="0" anchor="ctr"/>
          <a:lstStyle/>
          <a:p>
            <a:pPr indent="0" marL="0">
              <a:buNone/>
            </a:pPr>
            <a:r>
              <a:rPr lang="en-US" sz="1000" b="1" spc="80" kern="0" dirty="0">
                <a:solidFill>
                  <a:srgbClr val="8B87F5"/>
                </a:solidFill>
                <a:latin typeface="Calibri" pitchFamily="34" charset="0"/>
                <a:ea typeface="Calibri" pitchFamily="34" charset="-122"/>
                <a:cs typeface="Calibri" pitchFamily="34" charset="-120"/>
              </a:rPr>
              <a:t>S E G U N D A   E T A P A</a:t>
            </a:r>
            <a:endParaRPr lang="en-US" sz="1000" dirty="0"/>
          </a:p>
        </p:txBody>
      </p:sp>
      <p:pic>
        <p:nvPicPr>
          <p:cNvPr id="12" name="Image 2" descr="/home/claude/fx/iv2.png">    </p:cNvPr>
          <p:cNvPicPr>
            <a:picLocks noChangeAspect="1"/>
          </p:cNvPicPr>
          <p:nvPr/>
        </p:nvPicPr>
        <p:blipFill>
          <a:blip r:embed="rId3"/>
          <a:stretch>
            <a:fillRect/>
          </a:stretch>
        </p:blipFill>
        <p:spPr>
          <a:xfrm>
            <a:off x="7682070" y="2157984"/>
            <a:ext cx="2535239" cy="365760"/>
          </a:xfrm>
          <a:prstGeom prst="rect">
            <a:avLst/>
          </a:prstGeom>
        </p:spPr>
      </p:pic>
      <p:sp>
        <p:nvSpPr>
          <p:cNvPr id="13" name="Text 8"/>
          <p:cNvSpPr/>
          <p:nvPr/>
        </p:nvSpPr>
        <p:spPr>
          <a:xfrm>
            <a:off x="6551676" y="2724912"/>
            <a:ext cx="4796028" cy="685800"/>
          </a:xfrm>
          <a:prstGeom prst="rect">
            <a:avLst/>
          </a:prstGeom>
          <a:noFill/>
          <a:ln/>
        </p:spPr>
        <p:txBody>
          <a:bodyPr wrap="square" lIns="0" tIns="0" rIns="0" bIns="0" rtlCol="0" anchor="ctr"/>
          <a:lstStyle/>
          <a:p>
            <a:pPr indent="0" marL="0">
              <a:lnSpc>
                <a:spcPct val="115000"/>
              </a:lnSpc>
              <a:buNone/>
            </a:pPr>
            <a:r>
              <a:rPr lang="en-US" sz="1200" dirty="0">
                <a:solidFill>
                  <a:srgbClr val="AAB3F4"/>
                </a:solidFill>
                <a:latin typeface="Calibri" pitchFamily="34" charset="0"/>
                <a:ea typeface="Calibri" pitchFamily="34" charset="-122"/>
                <a:cs typeface="Calibri" pitchFamily="34" charset="-120"/>
              </a:rPr>
              <a:t>Se usa ese valor predicho, ya limpio de lo que contaminaba a T, en lugar de T.</a:t>
            </a:r>
            <a:endParaRPr lang="en-US" sz="1200" dirty="0"/>
          </a:p>
        </p:txBody>
      </p:sp>
      <p:sp>
        <p:nvSpPr>
          <p:cNvPr id="14" name="Text 9"/>
          <p:cNvSpPr/>
          <p:nvPr/>
        </p:nvSpPr>
        <p:spPr>
          <a:xfrm>
            <a:off x="566928" y="3730752"/>
            <a:ext cx="11055096" cy="274320"/>
          </a:xfrm>
          <a:prstGeom prst="rect">
            <a:avLst/>
          </a:prstGeom>
          <a:noFill/>
          <a:ln/>
        </p:spPr>
        <p:txBody>
          <a:bodyPr wrap="square" lIns="0" tIns="0" rIns="0" bIns="0" rtlCol="0" anchor="ctr"/>
          <a:lstStyle/>
          <a:p>
            <a:pPr indent="0" marL="0">
              <a:buNone/>
            </a:pPr>
            <a:r>
              <a:rPr lang="en-US" sz="1050" b="1" spc="80" kern="0" dirty="0">
                <a:solidFill>
                  <a:srgbClr val="4B45C4"/>
                </a:solidFill>
                <a:latin typeface="Calibri" pitchFamily="34" charset="0"/>
                <a:ea typeface="Calibri" pitchFamily="34" charset="-122"/>
                <a:cs typeface="Calibri" pitchFamily="34" charset="-120"/>
              </a:rPr>
              <a:t>L O   Q U E   E L   I N S T R U M E N T O   D E B E   C U M P L I R</a:t>
            </a:r>
            <a:endParaRPr lang="en-US" sz="1050" dirty="0"/>
          </a:p>
        </p:txBody>
      </p:sp>
      <p:sp>
        <p:nvSpPr>
          <p:cNvPr id="15" name="Shape 10"/>
          <p:cNvSpPr/>
          <p:nvPr/>
        </p:nvSpPr>
        <p:spPr>
          <a:xfrm>
            <a:off x="566928" y="4041648"/>
            <a:ext cx="3489960" cy="1554480"/>
          </a:xfrm>
          <a:prstGeom prst="roundRect">
            <a:avLst>
              <a:gd name="adj" fmla="val 5294"/>
            </a:avLst>
          </a:prstGeom>
          <a:solidFill>
            <a:srgbClr val="EEF0FC"/>
          </a:solidFill>
          <a:ln/>
        </p:spPr>
      </p:sp>
      <p:sp>
        <p:nvSpPr>
          <p:cNvPr id="16" name="Text 11"/>
          <p:cNvSpPr/>
          <p:nvPr/>
        </p:nvSpPr>
        <p:spPr>
          <a:xfrm>
            <a:off x="822960" y="4242816"/>
            <a:ext cx="2977896"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1 · Relevancia</a:t>
            </a:r>
            <a:endParaRPr lang="en-US" sz="1450" dirty="0"/>
          </a:p>
        </p:txBody>
      </p:sp>
      <p:sp>
        <p:nvSpPr>
          <p:cNvPr id="17" name="Text 12"/>
          <p:cNvSpPr/>
          <p:nvPr/>
        </p:nvSpPr>
        <p:spPr>
          <a:xfrm>
            <a:off x="822960" y="4608576"/>
            <a:ext cx="2977896" cy="8412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Z mueve de verdad a T. Se contrasta con los datos. Un instrumento débil sesga más que no usar ninguno.</a:t>
            </a:r>
            <a:endParaRPr lang="en-US" sz="1250" dirty="0"/>
          </a:p>
        </p:txBody>
      </p:sp>
      <p:sp>
        <p:nvSpPr>
          <p:cNvPr id="18" name="Shape 13"/>
          <p:cNvSpPr/>
          <p:nvPr/>
        </p:nvSpPr>
        <p:spPr>
          <a:xfrm>
            <a:off x="4349496" y="4041648"/>
            <a:ext cx="3489960" cy="1554480"/>
          </a:xfrm>
          <a:prstGeom prst="roundRect">
            <a:avLst>
              <a:gd name="adj" fmla="val 5294"/>
            </a:avLst>
          </a:prstGeom>
          <a:solidFill>
            <a:srgbClr val="EEF0FC"/>
          </a:solidFill>
          <a:ln/>
        </p:spPr>
      </p:sp>
      <p:sp>
        <p:nvSpPr>
          <p:cNvPr id="19" name="Text 14"/>
          <p:cNvSpPr/>
          <p:nvPr/>
        </p:nvSpPr>
        <p:spPr>
          <a:xfrm>
            <a:off x="4605528" y="4242816"/>
            <a:ext cx="2977896"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2 · Restricción de exclusión</a:t>
            </a:r>
            <a:endParaRPr lang="en-US" sz="1450" dirty="0"/>
          </a:p>
        </p:txBody>
      </p:sp>
      <p:sp>
        <p:nvSpPr>
          <p:cNvPr id="20" name="Text 15"/>
          <p:cNvSpPr/>
          <p:nvPr/>
        </p:nvSpPr>
        <p:spPr>
          <a:xfrm>
            <a:off x="4605528" y="4608576"/>
            <a:ext cx="2977896" cy="8412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Z afecta a Y únicamente a través de T. No se contrasta: se argumenta con conocimiento del contexto.</a:t>
            </a:r>
            <a:endParaRPr lang="en-US" sz="1250" dirty="0"/>
          </a:p>
        </p:txBody>
      </p:sp>
      <p:sp>
        <p:nvSpPr>
          <p:cNvPr id="21" name="Shape 16"/>
          <p:cNvSpPr/>
          <p:nvPr/>
        </p:nvSpPr>
        <p:spPr>
          <a:xfrm>
            <a:off x="8132064" y="4041648"/>
            <a:ext cx="3489960" cy="1554480"/>
          </a:xfrm>
          <a:prstGeom prst="roundRect">
            <a:avLst>
              <a:gd name="adj" fmla="val 5294"/>
            </a:avLst>
          </a:prstGeom>
          <a:solidFill>
            <a:srgbClr val="EEF0FC"/>
          </a:solidFill>
          <a:ln/>
        </p:spPr>
      </p:sp>
      <p:sp>
        <p:nvSpPr>
          <p:cNvPr id="22" name="Text 17"/>
          <p:cNvSpPr/>
          <p:nvPr/>
        </p:nvSpPr>
        <p:spPr>
          <a:xfrm>
            <a:off x="8388096" y="4242816"/>
            <a:ext cx="2977896"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3 · Independencia</a:t>
            </a:r>
            <a:endParaRPr lang="en-US" sz="1450" dirty="0"/>
          </a:p>
        </p:txBody>
      </p:sp>
      <p:sp>
        <p:nvSpPr>
          <p:cNvPr id="23" name="Text 18"/>
          <p:cNvSpPr/>
          <p:nvPr/>
        </p:nvSpPr>
        <p:spPr>
          <a:xfrm>
            <a:off x="8388096" y="4608576"/>
            <a:ext cx="2977896" cy="8412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Z es, para efectos prácticos, tan bueno como aleatorio. Nada que afecte a Y explica también a Z.</a:t>
            </a:r>
            <a:endParaRPr lang="en-US" sz="1250" dirty="0"/>
          </a:p>
        </p:txBody>
      </p:sp>
      <p:sp>
        <p:nvSpPr>
          <p:cNvPr id="24" name="Shape 19"/>
          <p:cNvSpPr/>
          <p:nvPr/>
        </p:nvSpPr>
        <p:spPr>
          <a:xfrm>
            <a:off x="566928" y="5687568"/>
            <a:ext cx="11055096" cy="548640"/>
          </a:xfrm>
          <a:prstGeom prst="roundRect">
            <a:avLst>
              <a:gd name="adj" fmla="val 11667"/>
            </a:avLst>
          </a:prstGeom>
          <a:solidFill>
            <a:srgbClr val="F7F8FD"/>
          </a:solidFill>
          <a:ln/>
        </p:spPr>
      </p:sp>
      <p:sp>
        <p:nvSpPr>
          <p:cNvPr id="25" name="Text 20"/>
          <p:cNvSpPr/>
          <p:nvPr/>
        </p:nvSpPr>
        <p:spPr>
          <a:xfrm>
            <a:off x="886968" y="5724144"/>
            <a:ext cx="10415016" cy="475488"/>
          </a:xfrm>
          <a:prstGeom prst="rect">
            <a:avLst/>
          </a:prstGeom>
          <a:noFill/>
          <a:ln/>
        </p:spPr>
        <p:txBody>
          <a:bodyPr wrap="square" lIns="0" tIns="0" rIns="0" bIns="0" rtlCol="0" anchor="ctr"/>
          <a:lstStyle/>
          <a:p>
            <a:pPr indent="0" marL="0">
              <a:buNone/>
            </a:pPr>
            <a:r>
              <a:rPr lang="en-US" sz="1150" b="1" dirty="0">
                <a:solidFill>
                  <a:srgbClr val="4B45C4"/>
                </a:solidFill>
                <a:latin typeface="Calibri" pitchFamily="34" charset="0"/>
                <a:ea typeface="Calibri" pitchFamily="34" charset="-122"/>
                <a:cs typeface="Calibri" pitchFamily="34" charset="-120"/>
              </a:rPr>
              <a:t>Caso canónico — </a:t>
            </a:r>
            <a:pPr indent="0" marL="0">
              <a:buNone/>
            </a:pPr>
            <a:r>
              <a:rPr lang="en-US" sz="1150" dirty="0">
                <a:solidFill>
                  <a:srgbClr val="2B2B3A"/>
                </a:solidFill>
                <a:latin typeface="Calibri" pitchFamily="34" charset="0"/>
                <a:ea typeface="Calibri" pitchFamily="34" charset="-122"/>
                <a:cs typeface="Calibri" pitchFamily="34" charset="-120"/>
              </a:rPr>
              <a:t>Angrist y Krueger (1991, QJE) instrumentan los años de educación con el trimestre de nacimiento: la fecha de corte escolar y la edad mínima para desertar generan variación ajena a la habilidad.</a:t>
            </a:r>
            <a:endParaRPr lang="en-US" sz="1150" dirty="0"/>
          </a:p>
        </p:txBody>
      </p:sp>
      <p:sp>
        <p:nvSpPr>
          <p:cNvPr id="26" name="Text 2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Motivación · Variables instrumentales</a:t>
            </a:r>
            <a:endParaRPr lang="en-US" sz="900" dirty="0"/>
          </a:p>
        </p:txBody>
      </p:sp>
      <p:sp>
        <p:nvSpPr>
          <p:cNvPr id="27" name="Text 2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B4A"/>
        </a:solidFill>
      </p:bgPr>
    </p:bg>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4B45C4"/>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El experimento aleatorio</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AAB3F4"/>
                </a:solidFill>
                <a:latin typeface="Calibri" pitchFamily="34" charset="0"/>
                <a:ea typeface="Calibri" pitchFamily="34" charset="-122"/>
                <a:cs typeface="Calibri" pitchFamily="34" charset="-120"/>
              </a:rPr>
              <a:t>Si el tratamiento se asigna por razones que también afectan al resultado, la salida es sacar esa decisión de manos de todos y sortearla.</a:t>
            </a:r>
            <a:endParaRPr lang="en-US" sz="1350" dirty="0"/>
          </a:p>
        </p:txBody>
      </p:sp>
      <p:sp>
        <p:nvSpPr>
          <p:cNvPr id="6" name="Shape 3"/>
          <p:cNvSpPr/>
          <p:nvPr/>
        </p:nvSpPr>
        <p:spPr>
          <a:xfrm>
            <a:off x="704088" y="2697480"/>
            <a:ext cx="2286000" cy="1234440"/>
          </a:xfrm>
          <a:prstGeom prst="roundRect">
            <a:avLst>
              <a:gd name="adj" fmla="val 5926"/>
            </a:avLst>
          </a:prstGeom>
          <a:solidFill>
            <a:srgbClr val="FFFFFF"/>
          </a:solidFill>
          <a:ln/>
        </p:spPr>
      </p:sp>
      <p:sp>
        <p:nvSpPr>
          <p:cNvPr id="7" name="Text 4"/>
          <p:cNvSpPr/>
          <p:nvPr/>
        </p:nvSpPr>
        <p:spPr>
          <a:xfrm>
            <a:off x="841248" y="2807208"/>
            <a:ext cx="2011680" cy="347472"/>
          </a:xfrm>
          <a:prstGeom prst="rect">
            <a:avLst/>
          </a:prstGeom>
          <a:noFill/>
          <a:ln/>
        </p:spPr>
        <p:txBody>
          <a:bodyPr wrap="square" lIns="0" tIns="0" rIns="0" bIns="0" rtlCol="0" anchor="ctr"/>
          <a:lstStyle/>
          <a:p>
            <a:pPr algn="ctr" indent="0" marL="0">
              <a:buNone/>
            </a:pPr>
            <a:r>
              <a:rPr lang="en-US" sz="1450" b="1" dirty="0">
                <a:solidFill>
                  <a:srgbClr val="1E1B4A"/>
                </a:solidFill>
                <a:latin typeface="Calibri" pitchFamily="34" charset="0"/>
                <a:ea typeface="Calibri" pitchFamily="34" charset="-122"/>
                <a:cs typeface="Calibri" pitchFamily="34" charset="-120"/>
              </a:rPr>
              <a:t>104 barrios</a:t>
            </a:r>
            <a:endParaRPr lang="en-US" sz="1450" dirty="0"/>
          </a:p>
        </p:txBody>
      </p:sp>
      <p:sp>
        <p:nvSpPr>
          <p:cNvPr id="8" name="Text 5"/>
          <p:cNvSpPr/>
          <p:nvPr/>
        </p:nvSpPr>
        <p:spPr>
          <a:xfrm>
            <a:off x="841248" y="3172968"/>
            <a:ext cx="2011680" cy="621792"/>
          </a:xfrm>
          <a:prstGeom prst="rect">
            <a:avLst/>
          </a:prstGeom>
          <a:noFill/>
          <a:ln/>
        </p:spPr>
        <p:txBody>
          <a:bodyPr wrap="square" lIns="0" tIns="0" rIns="0" bIns="0" rtlCol="0" anchor="ctr"/>
          <a:lstStyle/>
          <a:p>
            <a:pPr algn="ctr" indent="0" marL="0">
              <a:lnSpc>
                <a:spcPct val="110000"/>
              </a:lnSpc>
              <a:buNone/>
            </a:pPr>
            <a:r>
              <a:rPr lang="en-US" sz="1100" dirty="0">
                <a:solidFill>
                  <a:srgbClr val="6E6E85"/>
                </a:solidFill>
                <a:latin typeface="Calibri" pitchFamily="34" charset="0"/>
                <a:ea typeface="Calibri" pitchFamily="34" charset="-122"/>
                <a:cs typeface="Calibri" pitchFamily="34" charset="-120"/>
              </a:rPr>
              <a:t>Hyderabad, India,</a:t>
            </a:r>
            <a:endParaRPr lang="en-US" sz="1100" dirty="0"/>
          </a:p>
          <a:p>
            <a:pPr algn="ctr" indent="0" marL="0">
              <a:lnSpc>
                <a:spcPct val="110000"/>
              </a:lnSpc>
              <a:buNone/>
            </a:pPr>
            <a:r>
              <a:rPr lang="en-US" sz="1100" dirty="0">
                <a:solidFill>
                  <a:srgbClr val="6E6E85"/>
                </a:solidFill>
                <a:latin typeface="Calibri" pitchFamily="34" charset="0"/>
                <a:ea typeface="Calibri" pitchFamily="34" charset="-122"/>
                <a:cs typeface="Calibri" pitchFamily="34" charset="-120"/>
              </a:rPr>
              <a:t>2005</a:t>
            </a:r>
            <a:endParaRPr lang="en-US" sz="1100" dirty="0"/>
          </a:p>
        </p:txBody>
      </p:sp>
      <p:sp>
        <p:nvSpPr>
          <p:cNvPr id="9" name="Shape 6"/>
          <p:cNvSpPr/>
          <p:nvPr/>
        </p:nvSpPr>
        <p:spPr>
          <a:xfrm>
            <a:off x="3749040" y="2990088"/>
            <a:ext cx="658368" cy="658368"/>
          </a:xfrm>
          <a:prstGeom prst="ellipse">
            <a:avLst/>
          </a:prstGeom>
          <a:solidFill>
            <a:srgbClr val="4B45C4"/>
          </a:solidFill>
          <a:ln/>
        </p:spPr>
      </p:sp>
      <p:pic>
        <p:nvPicPr>
          <p:cNvPr id="10" name="Image 1" descr="preencoded.png">    </p:cNvPr>
          <p:cNvPicPr>
            <a:picLocks noChangeAspect="1"/>
          </p:cNvPicPr>
          <p:nvPr/>
        </p:nvPicPr>
        <p:blipFill>
          <a:blip r:embed="rId2"/>
          <a:stretch>
            <a:fillRect/>
          </a:stretch>
        </p:blipFill>
        <p:spPr>
          <a:xfrm>
            <a:off x="3933383" y="3174431"/>
            <a:ext cx="289682" cy="289682"/>
          </a:xfrm>
          <a:prstGeom prst="rect">
            <a:avLst/>
          </a:prstGeom>
        </p:spPr>
      </p:pic>
      <p:sp>
        <p:nvSpPr>
          <p:cNvPr id="11" name="Text 7"/>
          <p:cNvSpPr/>
          <p:nvPr/>
        </p:nvSpPr>
        <p:spPr>
          <a:xfrm>
            <a:off x="3355848" y="3721608"/>
            <a:ext cx="1463040" cy="274320"/>
          </a:xfrm>
          <a:prstGeom prst="rect">
            <a:avLst/>
          </a:prstGeom>
          <a:noFill/>
          <a:ln/>
        </p:spPr>
        <p:txBody>
          <a:bodyPr wrap="square" lIns="0" tIns="0" rIns="0" bIns="0" rtlCol="0" anchor="ctr"/>
          <a:lstStyle/>
          <a:p>
            <a:pPr algn="ctr" indent="0" marL="0">
              <a:buNone/>
            </a:pPr>
            <a:r>
              <a:rPr lang="en-US" sz="1200" b="1" i="1" dirty="0">
                <a:solidFill>
                  <a:srgbClr val="8B87F5"/>
                </a:solidFill>
                <a:latin typeface="Calibri" pitchFamily="34" charset="0"/>
                <a:ea typeface="Calibri" pitchFamily="34" charset="-122"/>
                <a:cs typeface="Calibri" pitchFamily="34" charset="-120"/>
              </a:rPr>
              <a:t>Sorteo</a:t>
            </a:r>
            <a:endParaRPr lang="en-US" sz="1200" dirty="0"/>
          </a:p>
        </p:txBody>
      </p:sp>
      <p:sp>
        <p:nvSpPr>
          <p:cNvPr id="12" name="Shape 8"/>
          <p:cNvSpPr/>
          <p:nvPr/>
        </p:nvSpPr>
        <p:spPr>
          <a:xfrm>
            <a:off x="4727448" y="2057400"/>
            <a:ext cx="2834640" cy="1170432"/>
          </a:xfrm>
          <a:prstGeom prst="roundRect">
            <a:avLst>
              <a:gd name="adj" fmla="val 6250"/>
            </a:avLst>
          </a:prstGeom>
          <a:solidFill>
            <a:srgbClr val="3E38A8"/>
          </a:solidFill>
          <a:ln/>
        </p:spPr>
      </p:sp>
      <p:sp>
        <p:nvSpPr>
          <p:cNvPr id="13" name="Text 9"/>
          <p:cNvSpPr/>
          <p:nvPr/>
        </p:nvSpPr>
        <p:spPr>
          <a:xfrm>
            <a:off x="4910328" y="2194560"/>
            <a:ext cx="246888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52 barrios · tratamiento</a:t>
            </a:r>
            <a:endParaRPr lang="en-US" sz="1350" dirty="0"/>
          </a:p>
        </p:txBody>
      </p:sp>
      <p:sp>
        <p:nvSpPr>
          <p:cNvPr id="14" name="Text 10"/>
          <p:cNvSpPr/>
          <p:nvPr/>
        </p:nvSpPr>
        <p:spPr>
          <a:xfrm>
            <a:off x="4910328" y="2560320"/>
            <a:ext cx="2468880" cy="548640"/>
          </a:xfrm>
          <a:prstGeom prst="rect">
            <a:avLst/>
          </a:prstGeom>
          <a:noFill/>
          <a:ln/>
        </p:spPr>
        <p:txBody>
          <a:bodyPr wrap="square" lIns="0" tIns="0" rIns="0" bIns="0" rtlCol="0" anchor="ctr"/>
          <a:lstStyle/>
          <a:p>
            <a:pPr indent="0" marL="0">
              <a:buNone/>
            </a:pPr>
            <a:r>
              <a:rPr lang="en-US" sz="1150" dirty="0">
                <a:solidFill>
                  <a:srgbClr val="AAB3F4"/>
                </a:solidFill>
                <a:latin typeface="Calibri" pitchFamily="34" charset="0"/>
                <a:ea typeface="Calibri" pitchFamily="34" charset="-122"/>
                <a:cs typeface="Calibri" pitchFamily="34" charset="-120"/>
              </a:rPr>
              <a:t>Spandana abre una sucursal.</a:t>
            </a:r>
            <a:endParaRPr lang="en-US" sz="1150" dirty="0"/>
          </a:p>
        </p:txBody>
      </p:sp>
      <p:sp>
        <p:nvSpPr>
          <p:cNvPr id="15" name="Shape 11"/>
          <p:cNvSpPr/>
          <p:nvPr/>
        </p:nvSpPr>
        <p:spPr>
          <a:xfrm>
            <a:off x="4727448" y="3447288"/>
            <a:ext cx="2834640" cy="1170432"/>
          </a:xfrm>
          <a:prstGeom prst="roundRect">
            <a:avLst>
              <a:gd name="adj" fmla="val 6250"/>
            </a:avLst>
          </a:prstGeom>
          <a:solidFill>
            <a:srgbClr val="2A2660"/>
          </a:solidFill>
          <a:ln/>
        </p:spPr>
      </p:sp>
      <p:sp>
        <p:nvSpPr>
          <p:cNvPr id="16" name="Text 12"/>
          <p:cNvSpPr/>
          <p:nvPr/>
        </p:nvSpPr>
        <p:spPr>
          <a:xfrm>
            <a:off x="4910328" y="3584448"/>
            <a:ext cx="246888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52 barrios · control</a:t>
            </a:r>
            <a:endParaRPr lang="en-US" sz="1350" dirty="0"/>
          </a:p>
        </p:txBody>
      </p:sp>
      <p:sp>
        <p:nvSpPr>
          <p:cNvPr id="17" name="Text 13"/>
          <p:cNvSpPr/>
          <p:nvPr/>
        </p:nvSpPr>
        <p:spPr>
          <a:xfrm>
            <a:off x="4910328" y="3950208"/>
            <a:ext cx="2468880" cy="548640"/>
          </a:xfrm>
          <a:prstGeom prst="rect">
            <a:avLst/>
          </a:prstGeom>
          <a:noFill/>
          <a:ln/>
        </p:spPr>
        <p:txBody>
          <a:bodyPr wrap="square" lIns="0" tIns="0" rIns="0" bIns="0" rtlCol="0" anchor="ctr"/>
          <a:lstStyle/>
          <a:p>
            <a:pPr indent="0" marL="0">
              <a:buNone/>
            </a:pPr>
            <a:r>
              <a:rPr lang="en-US" sz="1150" dirty="0">
                <a:solidFill>
                  <a:srgbClr val="AAB3F4"/>
                </a:solidFill>
                <a:latin typeface="Calibri" pitchFamily="34" charset="0"/>
                <a:ea typeface="Calibri" pitchFamily="34" charset="-122"/>
                <a:cs typeface="Calibri" pitchFamily="34" charset="-120"/>
              </a:rPr>
              <a:t>No abre sucursal.</a:t>
            </a:r>
            <a:endParaRPr lang="en-US" sz="1150" dirty="0"/>
          </a:p>
        </p:txBody>
      </p:sp>
      <p:sp>
        <p:nvSpPr>
          <p:cNvPr id="18" name="Text 14"/>
          <p:cNvSpPr/>
          <p:nvPr/>
        </p:nvSpPr>
        <p:spPr>
          <a:xfrm>
            <a:off x="7562088" y="3017520"/>
            <a:ext cx="502920" cy="457200"/>
          </a:xfrm>
          <a:prstGeom prst="rect">
            <a:avLst/>
          </a:prstGeom>
          <a:noFill/>
          <a:ln/>
        </p:spPr>
        <p:txBody>
          <a:bodyPr wrap="square" lIns="0" tIns="0" rIns="0" bIns="0" rtlCol="0" anchor="ctr"/>
          <a:lstStyle/>
          <a:p>
            <a:pPr algn="ctr" indent="0" marL="0">
              <a:buNone/>
            </a:pPr>
            <a:r>
              <a:rPr lang="en-US" sz="2200" b="1" dirty="0">
                <a:solidFill>
                  <a:srgbClr val="AAB3F4"/>
                </a:solidFill>
                <a:latin typeface="Calibri" pitchFamily="34" charset="0"/>
                <a:ea typeface="Calibri" pitchFamily="34" charset="-122"/>
                <a:cs typeface="Calibri" pitchFamily="34" charset="-120"/>
              </a:rPr>
              <a:t>›</a:t>
            </a:r>
            <a:endParaRPr lang="en-US" sz="2200" dirty="0"/>
          </a:p>
        </p:txBody>
      </p:sp>
      <p:sp>
        <p:nvSpPr>
          <p:cNvPr id="19" name="Text 15"/>
          <p:cNvSpPr/>
          <p:nvPr/>
        </p:nvSpPr>
        <p:spPr>
          <a:xfrm>
            <a:off x="4270248" y="3017520"/>
            <a:ext cx="457200" cy="457200"/>
          </a:xfrm>
          <a:prstGeom prst="rect">
            <a:avLst/>
          </a:prstGeom>
          <a:noFill/>
          <a:ln/>
        </p:spPr>
        <p:txBody>
          <a:bodyPr wrap="square" lIns="0" tIns="0" rIns="0" bIns="0" rtlCol="0" anchor="ctr"/>
          <a:lstStyle/>
          <a:p>
            <a:pPr algn="ctr" indent="0" marL="0">
              <a:buNone/>
            </a:pPr>
            <a:r>
              <a:rPr lang="en-US" sz="2200" b="1" dirty="0">
                <a:solidFill>
                  <a:srgbClr val="AAB3F4"/>
                </a:solidFill>
                <a:latin typeface="Calibri" pitchFamily="34" charset="0"/>
                <a:ea typeface="Calibri" pitchFamily="34" charset="-122"/>
                <a:cs typeface="Calibri" pitchFamily="34" charset="-120"/>
              </a:rPr>
              <a:t>›</a:t>
            </a:r>
            <a:endParaRPr lang="en-US" sz="2200" dirty="0"/>
          </a:p>
        </p:txBody>
      </p:sp>
      <p:sp>
        <p:nvSpPr>
          <p:cNvPr id="20" name="Shape 16"/>
          <p:cNvSpPr/>
          <p:nvPr/>
        </p:nvSpPr>
        <p:spPr>
          <a:xfrm>
            <a:off x="8065008" y="2560320"/>
            <a:ext cx="3419856" cy="1508760"/>
          </a:xfrm>
          <a:prstGeom prst="roundRect">
            <a:avLst>
              <a:gd name="adj" fmla="val 4848"/>
            </a:avLst>
          </a:prstGeom>
          <a:solidFill>
            <a:srgbClr val="FFFFFF"/>
          </a:solidFill>
          <a:ln/>
        </p:spPr>
      </p:sp>
      <p:sp>
        <p:nvSpPr>
          <p:cNvPr id="21" name="Text 17"/>
          <p:cNvSpPr/>
          <p:nvPr/>
        </p:nvSpPr>
        <p:spPr>
          <a:xfrm>
            <a:off x="8293608" y="2697480"/>
            <a:ext cx="2962656" cy="1234440"/>
          </a:xfrm>
          <a:prstGeom prst="rect">
            <a:avLst/>
          </a:prstGeom>
          <a:noFill/>
          <a:ln/>
        </p:spPr>
        <p:txBody>
          <a:bodyPr wrap="square" lIns="0" tIns="0" rIns="0" bIns="0" rtlCol="0" anchor="ctr"/>
          <a:lstStyle/>
          <a:p>
            <a:pPr indent="0" marL="0">
              <a:lnSpc>
                <a:spcPct val="115000"/>
              </a:lnSpc>
              <a:buNone/>
            </a:pPr>
            <a:r>
              <a:rPr lang="en-US" sz="1300" b="1" dirty="0">
                <a:solidFill>
                  <a:srgbClr val="1E1B4A"/>
                </a:solidFill>
                <a:latin typeface="Calibri" pitchFamily="34" charset="0"/>
                <a:ea typeface="Calibri" pitchFamily="34" charset="-122"/>
                <a:cs typeface="Calibri" pitchFamily="34" charset="-120"/>
              </a:rPr>
              <a:t>Encuesta 15 a 18 meses después. La diferencia entre los dos grupos es el efecto causal.</a:t>
            </a:r>
            <a:endParaRPr lang="en-US" sz="1300" dirty="0"/>
          </a:p>
        </p:txBody>
      </p:sp>
      <p:sp>
        <p:nvSpPr>
          <p:cNvPr id="22" name="Shape 18"/>
          <p:cNvSpPr/>
          <p:nvPr/>
        </p:nvSpPr>
        <p:spPr>
          <a:xfrm>
            <a:off x="566928" y="4892040"/>
            <a:ext cx="3471672" cy="1234440"/>
          </a:xfrm>
          <a:prstGeom prst="roundRect">
            <a:avLst>
              <a:gd name="adj" fmla="val 5926"/>
            </a:avLst>
          </a:prstGeom>
          <a:solidFill>
            <a:srgbClr val="2A2660"/>
          </a:solidFill>
          <a:ln/>
        </p:spPr>
      </p:sp>
      <p:sp>
        <p:nvSpPr>
          <p:cNvPr id="23" name="Text 19"/>
          <p:cNvSpPr/>
          <p:nvPr/>
        </p:nvSpPr>
        <p:spPr>
          <a:xfrm>
            <a:off x="822960" y="5020056"/>
            <a:ext cx="2959608" cy="274320"/>
          </a:xfrm>
          <a:prstGeom prst="rect">
            <a:avLst/>
          </a:prstGeom>
          <a:noFill/>
          <a:ln/>
        </p:spPr>
        <p:txBody>
          <a:bodyPr wrap="square" lIns="0" tIns="0" rIns="0" bIns="0" rtlCol="0" anchor="ctr"/>
          <a:lstStyle/>
          <a:p>
            <a:pPr indent="0" marL="0">
              <a:buNone/>
            </a:pPr>
            <a:r>
              <a:rPr lang="en-US" sz="1300" b="1" dirty="0">
                <a:solidFill>
                  <a:srgbClr val="8B87F5"/>
                </a:solidFill>
                <a:latin typeface="Calibri" pitchFamily="34" charset="0"/>
                <a:ea typeface="Calibri" pitchFamily="34" charset="-122"/>
                <a:cs typeface="Calibri" pitchFamily="34" charset="-120"/>
              </a:rPr>
              <a:t>El caso que seguiremos</a:t>
            </a:r>
            <a:endParaRPr lang="en-US" sz="1300" dirty="0"/>
          </a:p>
        </p:txBody>
      </p:sp>
      <p:sp>
        <p:nvSpPr>
          <p:cNvPr id="24" name="Text 20"/>
          <p:cNvSpPr/>
          <p:nvPr/>
        </p:nvSpPr>
        <p:spPr>
          <a:xfrm>
            <a:off x="822960" y="5330952"/>
            <a:ext cx="2959608" cy="713232"/>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Banerjee, Duflo, Glennerster y Kinnan (2015), AEJ: Applied. Primera evaluación aleatoria del microcrédito grupal en un mercado nuevo.</a:t>
            </a:r>
            <a:endParaRPr lang="en-US" sz="1100" dirty="0"/>
          </a:p>
        </p:txBody>
      </p:sp>
      <p:sp>
        <p:nvSpPr>
          <p:cNvPr id="25" name="Shape 21"/>
          <p:cNvSpPr/>
          <p:nvPr/>
        </p:nvSpPr>
        <p:spPr>
          <a:xfrm>
            <a:off x="4358640" y="4892040"/>
            <a:ext cx="3471672" cy="1234440"/>
          </a:xfrm>
          <a:prstGeom prst="roundRect">
            <a:avLst>
              <a:gd name="adj" fmla="val 5926"/>
            </a:avLst>
          </a:prstGeom>
          <a:solidFill>
            <a:srgbClr val="2A2660"/>
          </a:solidFill>
          <a:ln/>
        </p:spPr>
      </p:sp>
      <p:sp>
        <p:nvSpPr>
          <p:cNvPr id="26" name="Text 22"/>
          <p:cNvSpPr/>
          <p:nvPr/>
        </p:nvSpPr>
        <p:spPr>
          <a:xfrm>
            <a:off x="4614672" y="5020056"/>
            <a:ext cx="2959608" cy="274320"/>
          </a:xfrm>
          <a:prstGeom prst="rect">
            <a:avLst/>
          </a:prstGeom>
          <a:noFill/>
          <a:ln/>
        </p:spPr>
        <p:txBody>
          <a:bodyPr wrap="square" lIns="0" tIns="0" rIns="0" bIns="0" rtlCol="0" anchor="ctr"/>
          <a:lstStyle/>
          <a:p>
            <a:pPr indent="0" marL="0">
              <a:buNone/>
            </a:pPr>
            <a:r>
              <a:rPr lang="en-US" sz="1300" b="1" dirty="0">
                <a:solidFill>
                  <a:srgbClr val="8B87F5"/>
                </a:solidFill>
                <a:latin typeface="Calibri" pitchFamily="34" charset="0"/>
                <a:ea typeface="Calibri" pitchFamily="34" charset="-122"/>
                <a:cs typeface="Calibri" pitchFamily="34" charset="-120"/>
              </a:rPr>
              <a:t>Cuál es la unidad aleatorizada</a:t>
            </a:r>
            <a:endParaRPr lang="en-US" sz="1300" dirty="0"/>
          </a:p>
        </p:txBody>
      </p:sp>
      <p:sp>
        <p:nvSpPr>
          <p:cNvPr id="27" name="Text 23"/>
          <p:cNvSpPr/>
          <p:nvPr/>
        </p:nvSpPr>
        <p:spPr>
          <a:xfrm>
            <a:off x="4614672" y="5330952"/>
            <a:ext cx="2959608" cy="713232"/>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El barrio, no el hogar. Esa decisión determina después que los errores estándar se agrupen por barrio.</a:t>
            </a:r>
            <a:endParaRPr lang="en-US" sz="1100" dirty="0"/>
          </a:p>
        </p:txBody>
      </p:sp>
      <p:sp>
        <p:nvSpPr>
          <p:cNvPr id="28" name="Shape 24"/>
          <p:cNvSpPr/>
          <p:nvPr/>
        </p:nvSpPr>
        <p:spPr>
          <a:xfrm>
            <a:off x="8150352" y="4892040"/>
            <a:ext cx="3471672" cy="1234440"/>
          </a:xfrm>
          <a:prstGeom prst="roundRect">
            <a:avLst>
              <a:gd name="adj" fmla="val 5926"/>
            </a:avLst>
          </a:prstGeom>
          <a:solidFill>
            <a:srgbClr val="2A2660"/>
          </a:solidFill>
          <a:ln/>
        </p:spPr>
      </p:sp>
      <p:sp>
        <p:nvSpPr>
          <p:cNvPr id="29" name="Text 25"/>
          <p:cNvSpPr/>
          <p:nvPr/>
        </p:nvSpPr>
        <p:spPr>
          <a:xfrm>
            <a:off x="8406384" y="5020056"/>
            <a:ext cx="2959608" cy="274320"/>
          </a:xfrm>
          <a:prstGeom prst="rect">
            <a:avLst/>
          </a:prstGeom>
          <a:noFill/>
          <a:ln/>
        </p:spPr>
        <p:txBody>
          <a:bodyPr wrap="square" lIns="0" tIns="0" rIns="0" bIns="0" rtlCol="0" anchor="ctr"/>
          <a:lstStyle/>
          <a:p>
            <a:pPr indent="0" marL="0">
              <a:buNone/>
            </a:pPr>
            <a:r>
              <a:rPr lang="en-US" sz="1300" b="1" dirty="0">
                <a:solidFill>
                  <a:srgbClr val="8B87F5"/>
                </a:solidFill>
                <a:latin typeface="Calibri" pitchFamily="34" charset="0"/>
                <a:ea typeface="Calibri" pitchFamily="34" charset="-122"/>
                <a:cs typeface="Calibri" pitchFamily="34" charset="-120"/>
              </a:rPr>
              <a:t>Qué se midió al final</a:t>
            </a:r>
            <a:endParaRPr lang="en-US" sz="1300" dirty="0"/>
          </a:p>
        </p:txBody>
      </p:sp>
      <p:sp>
        <p:nvSpPr>
          <p:cNvPr id="30" name="Text 26"/>
          <p:cNvSpPr/>
          <p:nvPr/>
        </p:nvSpPr>
        <p:spPr>
          <a:xfrm>
            <a:off x="8406384" y="5330952"/>
            <a:ext cx="2959608" cy="713232"/>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Toma de microcrédito, inversión y utilidades del negocio, consumo per cápita, bienes durables y bienes de tentación.</a:t>
            </a:r>
            <a:endParaRPr lang="en-US" sz="1100" dirty="0"/>
          </a:p>
        </p:txBody>
      </p:sp>
      <p:sp>
        <p:nvSpPr>
          <p:cNvPr id="31" name="Text 27"/>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AAB3F4"/>
                </a:solidFill>
                <a:latin typeface="Calibri" pitchFamily="34" charset="0"/>
                <a:ea typeface="Calibri" pitchFamily="34" charset="-122"/>
                <a:cs typeface="Calibri" pitchFamily="34" charset="-120"/>
              </a:rPr>
              <a:t>RCT · Qué es un experimento aleatorio</a:t>
            </a:r>
            <a:endParaRPr lang="en-US" sz="900" dirty="0"/>
          </a:p>
        </p:txBody>
      </p:sp>
      <p:sp>
        <p:nvSpPr>
          <p:cNvPr id="32" name="Text 28"/>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AAB3F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Por qué la aleatorización identifica el efecto</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Un solo argumento, y es el más poderoso de toda la caja de herramientas.</a:t>
            </a:r>
            <a:endParaRPr lang="en-US" sz="1350" dirty="0"/>
          </a:p>
        </p:txBody>
      </p:sp>
      <p:sp>
        <p:nvSpPr>
          <p:cNvPr id="6" name="Shape 3"/>
          <p:cNvSpPr/>
          <p:nvPr/>
        </p:nvSpPr>
        <p:spPr>
          <a:xfrm>
            <a:off x="566928" y="1691640"/>
            <a:ext cx="11055096" cy="1051560"/>
          </a:xfrm>
          <a:prstGeom prst="roundRect">
            <a:avLst>
              <a:gd name="adj" fmla="val 6957"/>
            </a:avLst>
          </a:prstGeom>
          <a:solidFill>
            <a:srgbClr val="EEF0FC"/>
          </a:solidFill>
          <a:ln/>
        </p:spPr>
      </p:sp>
      <p:sp>
        <p:nvSpPr>
          <p:cNvPr id="7" name="Text 4"/>
          <p:cNvSpPr/>
          <p:nvPr/>
        </p:nvSpPr>
        <p:spPr>
          <a:xfrm>
            <a:off x="932688" y="1755648"/>
            <a:ext cx="10323576" cy="914400"/>
          </a:xfrm>
          <a:prstGeom prst="rect">
            <a:avLst/>
          </a:prstGeom>
          <a:noFill/>
          <a:ln/>
        </p:spPr>
        <p:txBody>
          <a:bodyPr wrap="square" lIns="0" tIns="0" rIns="0" bIns="0" rtlCol="0" anchor="ctr"/>
          <a:lstStyle/>
          <a:p>
            <a:pPr indent="0" marL="0">
              <a:lnSpc>
                <a:spcPct val="115000"/>
              </a:lnSpc>
              <a:buNone/>
            </a:pPr>
            <a:r>
              <a:rPr lang="en-US" sz="1600" i="1" dirty="0">
                <a:solidFill>
                  <a:srgbClr val="1E1B4A"/>
                </a:solidFill>
                <a:latin typeface="Century Schoolbook" pitchFamily="34" charset="0"/>
                <a:ea typeface="Century Schoolbook" pitchFamily="34" charset="-122"/>
                <a:cs typeface="Century Schoolbook" pitchFamily="34" charset="-120"/>
              </a:rPr>
              <a:t>Si el sorteo decide quién entra, los dos grupos son iguales en promedio antes del tratamiento — en todo, no solo en lo que se midió. Cualquier diferencia posterior solo puede venir del tratamiento.</a:t>
            </a:r>
            <a:endParaRPr lang="en-US" sz="1600" dirty="0"/>
          </a:p>
        </p:txBody>
      </p:sp>
      <p:sp>
        <p:nvSpPr>
          <p:cNvPr id="8" name="Shape 5"/>
          <p:cNvSpPr/>
          <p:nvPr/>
        </p:nvSpPr>
        <p:spPr>
          <a:xfrm>
            <a:off x="566928" y="2971800"/>
            <a:ext cx="3471672" cy="2011680"/>
          </a:xfrm>
          <a:prstGeom prst="roundRect">
            <a:avLst>
              <a:gd name="adj" fmla="val 4091"/>
            </a:avLst>
          </a:prstGeom>
          <a:solidFill>
            <a:srgbClr val="F7F8FD"/>
          </a:solidFill>
          <a:ln/>
        </p:spPr>
      </p:sp>
      <p:sp>
        <p:nvSpPr>
          <p:cNvPr id="9" name="Text 6"/>
          <p:cNvSpPr/>
          <p:nvPr/>
        </p:nvSpPr>
        <p:spPr>
          <a:xfrm>
            <a:off x="822960" y="3172968"/>
            <a:ext cx="2959608" cy="292608"/>
          </a:xfrm>
          <a:prstGeom prst="rect">
            <a:avLst/>
          </a:prstGeom>
          <a:noFill/>
          <a:ln/>
        </p:spPr>
        <p:txBody>
          <a:bodyPr wrap="square" lIns="0" tIns="0" rIns="0" bIns="0" rtlCol="0" anchor="ctr"/>
          <a:lstStyle/>
          <a:p>
            <a:pPr indent="0" marL="0">
              <a:buNone/>
            </a:pPr>
            <a:r>
              <a:rPr lang="en-US" sz="1450" b="1" dirty="0">
                <a:solidFill>
                  <a:srgbClr val="1F6F62"/>
                </a:solidFill>
                <a:latin typeface="Calibri" pitchFamily="34" charset="0"/>
                <a:ea typeface="Calibri" pitchFamily="34" charset="-122"/>
                <a:cs typeface="Calibri" pitchFamily="34" charset="-120"/>
              </a:rPr>
              <a:t>Balance en lo observable</a:t>
            </a:r>
            <a:endParaRPr lang="en-US" sz="1450" dirty="0"/>
          </a:p>
        </p:txBody>
      </p:sp>
      <p:sp>
        <p:nvSpPr>
          <p:cNvPr id="10" name="Text 7"/>
          <p:cNvSpPr/>
          <p:nvPr/>
        </p:nvSpPr>
        <p:spPr>
          <a:xfrm>
            <a:off x="822960" y="3538728"/>
            <a:ext cx="2959608" cy="12984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Se verifica y se reporta. En Hyderabad, la tabla compara los 52 barrios tratados con los 52 de control en población, ingreso y actividad empresarial previa.</a:t>
            </a:r>
            <a:endParaRPr lang="en-US" sz="1250" dirty="0"/>
          </a:p>
        </p:txBody>
      </p:sp>
      <p:sp>
        <p:nvSpPr>
          <p:cNvPr id="11" name="Shape 8"/>
          <p:cNvSpPr/>
          <p:nvPr/>
        </p:nvSpPr>
        <p:spPr>
          <a:xfrm>
            <a:off x="4358640" y="2971800"/>
            <a:ext cx="3471672" cy="2011680"/>
          </a:xfrm>
          <a:prstGeom prst="roundRect">
            <a:avLst>
              <a:gd name="adj" fmla="val 4091"/>
            </a:avLst>
          </a:prstGeom>
          <a:solidFill>
            <a:srgbClr val="EEF0FC"/>
          </a:solidFill>
          <a:ln/>
        </p:spPr>
      </p:sp>
      <p:sp>
        <p:nvSpPr>
          <p:cNvPr id="12" name="Text 9"/>
          <p:cNvSpPr/>
          <p:nvPr/>
        </p:nvSpPr>
        <p:spPr>
          <a:xfrm>
            <a:off x="4614672" y="3172968"/>
            <a:ext cx="2959608"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Balance en lo no observable</a:t>
            </a:r>
            <a:endParaRPr lang="en-US" sz="1450" dirty="0"/>
          </a:p>
        </p:txBody>
      </p:sp>
      <p:sp>
        <p:nvSpPr>
          <p:cNvPr id="13" name="Text 10"/>
          <p:cNvSpPr/>
          <p:nvPr/>
        </p:nvSpPr>
        <p:spPr>
          <a:xfrm>
            <a:off x="4614672" y="3538728"/>
            <a:ext cx="2959608" cy="12984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No se verifica: se deduce del sorteo. Esto es exactamente lo que ningún método no experimental puede comprar, por sofisticado que sea.</a:t>
            </a:r>
            <a:endParaRPr lang="en-US" sz="1250" dirty="0"/>
          </a:p>
        </p:txBody>
      </p:sp>
      <p:sp>
        <p:nvSpPr>
          <p:cNvPr id="14" name="Shape 11"/>
          <p:cNvSpPr/>
          <p:nvPr/>
        </p:nvSpPr>
        <p:spPr>
          <a:xfrm>
            <a:off x="8150352" y="2971800"/>
            <a:ext cx="3471672" cy="2011680"/>
          </a:xfrm>
          <a:prstGeom prst="roundRect">
            <a:avLst>
              <a:gd name="adj" fmla="val 4091"/>
            </a:avLst>
          </a:prstGeom>
          <a:solidFill>
            <a:srgbClr val="EEF0FC"/>
          </a:solidFill>
          <a:ln/>
        </p:spPr>
      </p:sp>
      <p:sp>
        <p:nvSpPr>
          <p:cNvPr id="15" name="Text 12"/>
          <p:cNvSpPr/>
          <p:nvPr/>
        </p:nvSpPr>
        <p:spPr>
          <a:xfrm>
            <a:off x="8406384" y="3172968"/>
            <a:ext cx="2959608"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El control como contrafactual</a:t>
            </a:r>
            <a:endParaRPr lang="en-US" sz="1450" dirty="0"/>
          </a:p>
        </p:txBody>
      </p:sp>
      <p:sp>
        <p:nvSpPr>
          <p:cNvPr id="16" name="Text 13"/>
          <p:cNvSpPr/>
          <p:nvPr/>
        </p:nvSpPr>
        <p:spPr>
          <a:xfrm>
            <a:off x="8406384" y="3538728"/>
            <a:ext cx="2959608" cy="12984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El grupo de control deja de ser «los otros» y pasa a ser una estimación creíble de lo que le habría pasado al grupo tratado.</a:t>
            </a:r>
            <a:endParaRPr lang="en-US" sz="1250" dirty="0"/>
          </a:p>
        </p:txBody>
      </p:sp>
      <p:sp>
        <p:nvSpPr>
          <p:cNvPr id="17" name="Shape 14"/>
          <p:cNvSpPr/>
          <p:nvPr/>
        </p:nvSpPr>
        <p:spPr>
          <a:xfrm>
            <a:off x="566928" y="5257800"/>
            <a:ext cx="11055096" cy="777240"/>
          </a:xfrm>
          <a:prstGeom prst="roundRect">
            <a:avLst>
              <a:gd name="adj" fmla="val 8235"/>
            </a:avLst>
          </a:prstGeom>
          <a:solidFill>
            <a:srgbClr val="FBF0F3"/>
          </a:solidFill>
          <a:ln/>
        </p:spPr>
      </p:sp>
      <p:sp>
        <p:nvSpPr>
          <p:cNvPr id="18" name="Text 15"/>
          <p:cNvSpPr/>
          <p:nvPr/>
        </p:nvSpPr>
        <p:spPr>
          <a:xfrm>
            <a:off x="886968" y="5303520"/>
            <a:ext cx="10415016" cy="685800"/>
          </a:xfrm>
          <a:prstGeom prst="rect">
            <a:avLst/>
          </a:prstGeom>
          <a:noFill/>
          <a:ln/>
        </p:spPr>
        <p:txBody>
          <a:bodyPr wrap="square" lIns="0" tIns="0" rIns="0" bIns="0" rtlCol="0" anchor="ctr"/>
          <a:lstStyle/>
          <a:p>
            <a:pPr indent="0" marL="0">
              <a:lnSpc>
                <a:spcPct val="112000"/>
              </a:lnSpc>
              <a:buNone/>
            </a:pPr>
            <a:r>
              <a:rPr lang="en-US" sz="1250" b="1" dirty="0">
                <a:solidFill>
                  <a:srgbClr val="A83A57"/>
                </a:solidFill>
                <a:latin typeface="Calibri" pitchFamily="34" charset="0"/>
                <a:ea typeface="Calibri" pitchFamily="34" charset="-122"/>
                <a:cs typeface="Calibri" pitchFamily="34" charset="-120"/>
              </a:rPr>
              <a:t>Matiz importante: </a:t>
            </a:r>
            <a:pPr indent="0" marL="0">
              <a:lnSpc>
                <a:spcPct val="112000"/>
              </a:lnSpc>
              <a:buNone/>
            </a:pPr>
            <a:r>
              <a:rPr lang="en-US" sz="1250" dirty="0">
                <a:solidFill>
                  <a:srgbClr val="2B2B3A"/>
                </a:solidFill>
                <a:latin typeface="Calibri" pitchFamily="34" charset="0"/>
                <a:ea typeface="Calibri" pitchFamily="34" charset="-122"/>
                <a:cs typeface="Calibri" pitchFamily="34" charset="-120"/>
              </a:rPr>
              <a:t>aleatorizar garantiza balance en expectativa, no en una muestra concreta. Con pocas unidades puede salir un desbalance por puro azar — por eso la tabla de balance se reporta siempre, y por eso el tamaño de muestra se calcula antes.</a:t>
            </a:r>
            <a:endParaRPr lang="en-US" sz="1250" dirty="0"/>
          </a:p>
        </p:txBody>
      </p:sp>
      <p:sp>
        <p:nvSpPr>
          <p:cNvPr id="19" name="Text 16"/>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RCT · Cómo la aleatorización asegura un efecto causal</a:t>
            </a:r>
            <a:endParaRPr lang="en-US" sz="900" dirty="0"/>
          </a:p>
        </p:txBody>
      </p:sp>
      <p:sp>
        <p:nvSpPr>
          <p:cNvPr id="20" name="Text 17"/>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Los supuestos que el sorteo no regala</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Aleatorizar resuelve la selección. Estas cuatro condiciones siguen siendo responsabilidad del diseño.</a:t>
            </a:r>
            <a:endParaRPr lang="en-US" sz="1350" dirty="0"/>
          </a:p>
        </p:txBody>
      </p:sp>
      <p:sp>
        <p:nvSpPr>
          <p:cNvPr id="6" name="Shape 3"/>
          <p:cNvSpPr/>
          <p:nvPr/>
        </p:nvSpPr>
        <p:spPr>
          <a:xfrm>
            <a:off x="566928" y="1737360"/>
            <a:ext cx="11055096" cy="914400"/>
          </a:xfrm>
          <a:prstGeom prst="roundRect">
            <a:avLst>
              <a:gd name="adj" fmla="val 8000"/>
            </a:avLst>
          </a:prstGeom>
          <a:solidFill>
            <a:srgbClr val="EEF0FC"/>
          </a:solidFill>
          <a:ln/>
        </p:spPr>
      </p:sp>
      <p:sp>
        <p:nvSpPr>
          <p:cNvPr id="7" name="Shape 4"/>
          <p:cNvSpPr/>
          <p:nvPr/>
        </p:nvSpPr>
        <p:spPr>
          <a:xfrm>
            <a:off x="841248" y="1920240"/>
            <a:ext cx="548640" cy="548640"/>
          </a:xfrm>
          <a:prstGeom prst="ellipse">
            <a:avLst/>
          </a:prstGeom>
          <a:solidFill>
            <a:srgbClr val="1E1B4A"/>
          </a:solidFill>
          <a:ln/>
        </p:spPr>
      </p:sp>
      <p:pic>
        <p:nvPicPr>
          <p:cNvPr id="8" name="Image 1" descr="preencoded.png">    </p:cNvPr>
          <p:cNvPicPr>
            <a:picLocks noChangeAspect="1"/>
          </p:cNvPicPr>
          <p:nvPr/>
        </p:nvPicPr>
        <p:blipFill>
          <a:blip r:embed="rId2"/>
          <a:stretch>
            <a:fillRect/>
          </a:stretch>
        </p:blipFill>
        <p:spPr>
          <a:xfrm>
            <a:off x="994867" y="2073859"/>
            <a:ext cx="241402" cy="241402"/>
          </a:xfrm>
          <a:prstGeom prst="rect">
            <a:avLst/>
          </a:prstGeom>
        </p:spPr>
      </p:pic>
      <p:sp>
        <p:nvSpPr>
          <p:cNvPr id="9" name="Text 5"/>
          <p:cNvSpPr/>
          <p:nvPr/>
        </p:nvSpPr>
        <p:spPr>
          <a:xfrm>
            <a:off x="1527048" y="1847088"/>
            <a:ext cx="9774936" cy="292608"/>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Asignación aleatoria y respetada</a:t>
            </a:r>
            <a:endParaRPr lang="en-US" sz="1350" dirty="0"/>
          </a:p>
        </p:txBody>
      </p:sp>
      <p:sp>
        <p:nvSpPr>
          <p:cNvPr id="10" name="Text 6"/>
          <p:cNvSpPr/>
          <p:nvPr/>
        </p:nvSpPr>
        <p:spPr>
          <a:xfrm>
            <a:off x="1527048" y="2148840"/>
            <a:ext cx="9774936" cy="420624"/>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La regla se define, se documenta y no se toca. Reasignar «casos especiales» sobre la marcha destruye el experimento sin dejar rastro.</a:t>
            </a:r>
            <a:endParaRPr lang="en-US" sz="1150" dirty="0"/>
          </a:p>
        </p:txBody>
      </p:sp>
      <p:sp>
        <p:nvSpPr>
          <p:cNvPr id="11" name="Shape 7"/>
          <p:cNvSpPr/>
          <p:nvPr/>
        </p:nvSpPr>
        <p:spPr>
          <a:xfrm>
            <a:off x="566928" y="2761488"/>
            <a:ext cx="11055096" cy="914400"/>
          </a:xfrm>
          <a:prstGeom prst="roundRect">
            <a:avLst>
              <a:gd name="adj" fmla="val 8000"/>
            </a:avLst>
          </a:prstGeom>
          <a:solidFill>
            <a:srgbClr val="EEF0FC"/>
          </a:solidFill>
          <a:ln/>
        </p:spPr>
      </p:sp>
      <p:sp>
        <p:nvSpPr>
          <p:cNvPr id="12" name="Shape 8"/>
          <p:cNvSpPr/>
          <p:nvPr/>
        </p:nvSpPr>
        <p:spPr>
          <a:xfrm>
            <a:off x="841248" y="2944368"/>
            <a:ext cx="548640" cy="548640"/>
          </a:xfrm>
          <a:prstGeom prst="ellipse">
            <a:avLst/>
          </a:prstGeom>
          <a:solidFill>
            <a:srgbClr val="1E1B4A"/>
          </a:solidFill>
          <a:ln/>
        </p:spPr>
      </p:sp>
      <p:pic>
        <p:nvPicPr>
          <p:cNvPr id="13" name="Image 2" descr="preencoded.png">    </p:cNvPr>
          <p:cNvPicPr>
            <a:picLocks noChangeAspect="1"/>
          </p:cNvPicPr>
          <p:nvPr/>
        </p:nvPicPr>
        <p:blipFill>
          <a:blip r:embed="rId3"/>
          <a:stretch>
            <a:fillRect/>
          </a:stretch>
        </p:blipFill>
        <p:spPr>
          <a:xfrm>
            <a:off x="994867" y="3097987"/>
            <a:ext cx="241402" cy="241402"/>
          </a:xfrm>
          <a:prstGeom prst="rect">
            <a:avLst/>
          </a:prstGeom>
        </p:spPr>
      </p:pic>
      <p:sp>
        <p:nvSpPr>
          <p:cNvPr id="14" name="Text 9"/>
          <p:cNvSpPr/>
          <p:nvPr/>
        </p:nvSpPr>
        <p:spPr>
          <a:xfrm>
            <a:off x="1527048" y="2871216"/>
            <a:ext cx="9774936" cy="292608"/>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No interferencia entre unidades (SUTVA)</a:t>
            </a:r>
            <a:endParaRPr lang="en-US" sz="1350" dirty="0"/>
          </a:p>
        </p:txBody>
      </p:sp>
      <p:sp>
        <p:nvSpPr>
          <p:cNvPr id="15" name="Text 10"/>
          <p:cNvSpPr/>
          <p:nvPr/>
        </p:nvSpPr>
        <p:spPr>
          <a:xfrm>
            <a:off x="1527048" y="3172968"/>
            <a:ext cx="9774936" cy="420624"/>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En Hyderabad otras microfinancieras podían entrar en los barrios de control: el contrafactual no era «sin crédito», sino «sin Spandana».</a:t>
            </a:r>
            <a:endParaRPr lang="en-US" sz="1150" dirty="0"/>
          </a:p>
        </p:txBody>
      </p:sp>
      <p:sp>
        <p:nvSpPr>
          <p:cNvPr id="16" name="Shape 11"/>
          <p:cNvSpPr/>
          <p:nvPr/>
        </p:nvSpPr>
        <p:spPr>
          <a:xfrm>
            <a:off x="566928" y="3785616"/>
            <a:ext cx="11055096" cy="914400"/>
          </a:xfrm>
          <a:prstGeom prst="roundRect">
            <a:avLst>
              <a:gd name="adj" fmla="val 8000"/>
            </a:avLst>
          </a:prstGeom>
          <a:solidFill>
            <a:srgbClr val="EEF0FC"/>
          </a:solidFill>
          <a:ln/>
        </p:spPr>
      </p:sp>
      <p:sp>
        <p:nvSpPr>
          <p:cNvPr id="17" name="Shape 12"/>
          <p:cNvSpPr/>
          <p:nvPr/>
        </p:nvSpPr>
        <p:spPr>
          <a:xfrm>
            <a:off x="841248" y="3968496"/>
            <a:ext cx="548640" cy="548640"/>
          </a:xfrm>
          <a:prstGeom prst="ellipse">
            <a:avLst/>
          </a:prstGeom>
          <a:solidFill>
            <a:srgbClr val="1E1B4A"/>
          </a:solidFill>
          <a:ln/>
        </p:spPr>
      </p:sp>
      <p:pic>
        <p:nvPicPr>
          <p:cNvPr id="18" name="Image 3" descr="preencoded.png">    </p:cNvPr>
          <p:cNvPicPr>
            <a:picLocks noChangeAspect="1"/>
          </p:cNvPicPr>
          <p:nvPr/>
        </p:nvPicPr>
        <p:blipFill>
          <a:blip r:embed="rId4"/>
          <a:stretch>
            <a:fillRect/>
          </a:stretch>
        </p:blipFill>
        <p:spPr>
          <a:xfrm>
            <a:off x="994867" y="4122115"/>
            <a:ext cx="241402" cy="241402"/>
          </a:xfrm>
          <a:prstGeom prst="rect">
            <a:avLst/>
          </a:prstGeom>
        </p:spPr>
      </p:pic>
      <p:sp>
        <p:nvSpPr>
          <p:cNvPr id="19" name="Text 13"/>
          <p:cNvSpPr/>
          <p:nvPr/>
        </p:nvSpPr>
        <p:spPr>
          <a:xfrm>
            <a:off x="1527048" y="3895344"/>
            <a:ext cx="9774936" cy="292608"/>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Cumplimiento</a:t>
            </a:r>
            <a:endParaRPr lang="en-US" sz="1350" dirty="0"/>
          </a:p>
        </p:txBody>
      </p:sp>
      <p:sp>
        <p:nvSpPr>
          <p:cNvPr id="20" name="Text 14"/>
          <p:cNvSpPr/>
          <p:nvPr/>
        </p:nvSpPr>
        <p:spPr>
          <a:xfrm>
            <a:off x="1527048" y="4197096"/>
            <a:ext cx="9774936" cy="420624"/>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Quien fue asignado al tratamiento lo recibe, y quien fue asignado al control no. Rara vez se cumple del todo — es el bloque siguiente.</a:t>
            </a:r>
            <a:endParaRPr lang="en-US" sz="1150" dirty="0"/>
          </a:p>
        </p:txBody>
      </p:sp>
      <p:sp>
        <p:nvSpPr>
          <p:cNvPr id="21" name="Shape 15"/>
          <p:cNvSpPr/>
          <p:nvPr/>
        </p:nvSpPr>
        <p:spPr>
          <a:xfrm>
            <a:off x="566928" y="4809744"/>
            <a:ext cx="11055096" cy="914400"/>
          </a:xfrm>
          <a:prstGeom prst="roundRect">
            <a:avLst>
              <a:gd name="adj" fmla="val 8000"/>
            </a:avLst>
          </a:prstGeom>
          <a:solidFill>
            <a:srgbClr val="EEF0FC"/>
          </a:solidFill>
          <a:ln/>
        </p:spPr>
      </p:sp>
      <p:sp>
        <p:nvSpPr>
          <p:cNvPr id="22" name="Shape 16"/>
          <p:cNvSpPr/>
          <p:nvPr/>
        </p:nvSpPr>
        <p:spPr>
          <a:xfrm>
            <a:off x="841248" y="4992624"/>
            <a:ext cx="548640" cy="548640"/>
          </a:xfrm>
          <a:prstGeom prst="ellipse">
            <a:avLst/>
          </a:prstGeom>
          <a:solidFill>
            <a:srgbClr val="1E1B4A"/>
          </a:solidFill>
          <a:ln/>
        </p:spPr>
      </p:sp>
      <p:pic>
        <p:nvPicPr>
          <p:cNvPr id="23" name="Image 4" descr="preencoded.png">    </p:cNvPr>
          <p:cNvPicPr>
            <a:picLocks noChangeAspect="1"/>
          </p:cNvPicPr>
          <p:nvPr/>
        </p:nvPicPr>
        <p:blipFill>
          <a:blip r:embed="rId5"/>
          <a:stretch>
            <a:fillRect/>
          </a:stretch>
        </p:blipFill>
        <p:spPr>
          <a:xfrm>
            <a:off x="994867" y="5146243"/>
            <a:ext cx="241402" cy="241402"/>
          </a:xfrm>
          <a:prstGeom prst="rect">
            <a:avLst/>
          </a:prstGeom>
        </p:spPr>
      </p:pic>
      <p:sp>
        <p:nvSpPr>
          <p:cNvPr id="24" name="Text 17"/>
          <p:cNvSpPr/>
          <p:nvPr/>
        </p:nvSpPr>
        <p:spPr>
          <a:xfrm>
            <a:off x="1527048" y="4919472"/>
            <a:ext cx="9774936" cy="292608"/>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Poder estadístico</a:t>
            </a:r>
            <a:endParaRPr lang="en-US" sz="1350" dirty="0"/>
          </a:p>
        </p:txBody>
      </p:sp>
      <p:sp>
        <p:nvSpPr>
          <p:cNvPr id="25" name="Text 18"/>
          <p:cNvSpPr/>
          <p:nvPr/>
        </p:nvSpPr>
        <p:spPr>
          <a:xfrm>
            <a:off x="1527048" y="5221224"/>
            <a:ext cx="9774936" cy="420624"/>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Muestra suficiente para detectar el efecto que importaría. Sin poder, un «no hay efecto» no significa nada. Es el bloque 5.</a:t>
            </a:r>
            <a:endParaRPr lang="en-US" sz="1150" dirty="0"/>
          </a:p>
        </p:txBody>
      </p:sp>
      <p:sp>
        <p:nvSpPr>
          <p:cNvPr id="26" name="Shape 19"/>
          <p:cNvSpPr/>
          <p:nvPr/>
        </p:nvSpPr>
        <p:spPr>
          <a:xfrm>
            <a:off x="566928" y="5779008"/>
            <a:ext cx="11055096" cy="457200"/>
          </a:xfrm>
          <a:prstGeom prst="roundRect">
            <a:avLst>
              <a:gd name="adj" fmla="val 14000"/>
            </a:avLst>
          </a:prstGeom>
          <a:solidFill>
            <a:srgbClr val="1E1B4A"/>
          </a:solidFill>
          <a:ln/>
        </p:spPr>
      </p:sp>
      <p:sp>
        <p:nvSpPr>
          <p:cNvPr id="27" name="Text 20"/>
          <p:cNvSpPr/>
          <p:nvPr/>
        </p:nvSpPr>
        <p:spPr>
          <a:xfrm>
            <a:off x="859536" y="5815584"/>
            <a:ext cx="10469880" cy="384048"/>
          </a:xfrm>
          <a:prstGeom prst="rect">
            <a:avLst/>
          </a:prstGeom>
          <a:noFill/>
          <a:ln/>
        </p:spPr>
        <p:txBody>
          <a:bodyPr wrap="square" lIns="0" tIns="0" rIns="0" bIns="0" rtlCol="0" anchor="ctr"/>
          <a:lstStyle/>
          <a:p>
            <a:pPr indent="0" marL="0">
              <a:lnSpc>
                <a:spcPct val="110000"/>
              </a:lnSpc>
              <a:buNone/>
            </a:pPr>
            <a:r>
              <a:rPr lang="en-US" sz="1150" dirty="0">
                <a:solidFill>
                  <a:srgbClr val="AAB3F4"/>
                </a:solidFill>
                <a:latin typeface="Calibri" pitchFamily="34" charset="0"/>
                <a:ea typeface="Calibri" pitchFamily="34" charset="-122"/>
                <a:cs typeface="Calibri" pitchFamily="34" charset="-120"/>
              </a:rPr>
              <a:t>Y una advertencia final: validez externa. Un efecto bien estimado vale para esa población y ese contexto — que funcione en Hyderabad no garantiza que funcione en Cali.</a:t>
            </a:r>
            <a:endParaRPr lang="en-US" sz="1150" dirty="0"/>
          </a:p>
        </p:txBody>
      </p:sp>
      <p:sp>
        <p:nvSpPr>
          <p:cNvPr id="28" name="Text 2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RCT · Supuestos</a:t>
            </a:r>
            <a:endParaRPr lang="en-US" sz="900" dirty="0"/>
          </a:p>
        </p:txBody>
      </p:sp>
      <p:sp>
        <p:nvSpPr>
          <p:cNvPr id="29" name="Text 2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La econometría (1): la diferencia de medias</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El estimador del efecto causal es una resta: el promedio del grupo tratado menos el promedio del grupo de control.</a:t>
            </a:r>
            <a:endParaRPr lang="en-US" sz="1350" dirty="0"/>
          </a:p>
        </p:txBody>
      </p:sp>
      <p:graphicFrame>
        <p:nvGraphicFramePr>
          <p:cNvPr id="6" name="Chart 0" descr=""/>
          <p:cNvGraphicFramePr/>
          <p:nvPr/>
        </p:nvGraphicFramePr>
        <p:xfrm>
          <a:off x="566928" y="1664208"/>
          <a:ext cx="6446520" cy="32461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566928" y="4983480"/>
            <a:ext cx="6446520" cy="566928"/>
          </a:xfrm>
          <a:prstGeom prst="rect">
            <a:avLst/>
          </a:prstGeom>
          <a:noFill/>
          <a:ln/>
        </p:spPr>
        <p:txBody>
          <a:bodyPr wrap="square" lIns="0" tIns="0" rIns="0" bIns="0" rtlCol="0" anchor="ctr"/>
          <a:lstStyle/>
          <a:p>
            <a:pPr indent="0" marL="0">
              <a:lnSpc>
                <a:spcPct val="115000"/>
              </a:lnSpc>
              <a:buNone/>
            </a:pPr>
            <a:r>
              <a:rPr lang="en-US" sz="1150" i="1" dirty="0">
                <a:solidFill>
                  <a:srgbClr val="6E6E85"/>
                </a:solidFill>
                <a:latin typeface="Calibri" pitchFamily="34" charset="0"/>
                <a:ea typeface="Calibri" pitchFamily="34" charset="-122"/>
                <a:cs typeface="Calibri" pitchFamily="34" charset="-120"/>
              </a:rPr>
              <a:t>Las dos curvas se solapan casi por completo: el efecto no está en «quién gasta mucho», sino en el desplazamiento del centro. Cifras ilustrativas con la estructura del experimento de Hyderabad.</a:t>
            </a:r>
            <a:endParaRPr lang="en-US" sz="1150" dirty="0"/>
          </a:p>
        </p:txBody>
      </p:sp>
      <p:sp>
        <p:nvSpPr>
          <p:cNvPr id="8" name="Shape 4"/>
          <p:cNvSpPr/>
          <p:nvPr/>
        </p:nvSpPr>
        <p:spPr>
          <a:xfrm>
            <a:off x="7397496" y="1664208"/>
            <a:ext cx="4224528" cy="804672"/>
          </a:xfrm>
          <a:prstGeom prst="roundRect">
            <a:avLst>
              <a:gd name="adj" fmla="val 9091"/>
            </a:avLst>
          </a:prstGeom>
          <a:solidFill>
            <a:srgbClr val="1E1B4A"/>
          </a:solidFill>
          <a:ln/>
        </p:spPr>
      </p:sp>
      <p:pic>
        <p:nvPicPr>
          <p:cNvPr id="9" name="Image 1" descr="/home/claude/fx/dim.png">    </p:cNvPr>
          <p:cNvPicPr>
            <a:picLocks noChangeAspect="1"/>
          </p:cNvPicPr>
          <p:nvPr/>
        </p:nvPicPr>
        <p:blipFill>
          <a:blip r:embed="rId3"/>
          <a:stretch>
            <a:fillRect/>
          </a:stretch>
        </p:blipFill>
        <p:spPr>
          <a:xfrm>
            <a:off x="8683377" y="1883664"/>
            <a:ext cx="1652766" cy="365760"/>
          </a:xfrm>
          <a:prstGeom prst="rect">
            <a:avLst/>
          </a:prstGeom>
        </p:spPr>
      </p:pic>
      <p:sp>
        <p:nvSpPr>
          <p:cNvPr id="10" name="Shape 5"/>
          <p:cNvSpPr/>
          <p:nvPr/>
        </p:nvSpPr>
        <p:spPr>
          <a:xfrm>
            <a:off x="7397496" y="2615184"/>
            <a:ext cx="4224528" cy="1572768"/>
          </a:xfrm>
          <a:prstGeom prst="roundRect">
            <a:avLst>
              <a:gd name="adj" fmla="val 5233"/>
            </a:avLst>
          </a:prstGeom>
          <a:solidFill>
            <a:srgbClr val="EEF0FC"/>
          </a:solidFill>
          <a:ln/>
        </p:spPr>
      </p:sp>
      <p:sp>
        <p:nvSpPr>
          <p:cNvPr id="11" name="Text 6"/>
          <p:cNvSpPr/>
          <p:nvPr/>
        </p:nvSpPr>
        <p:spPr>
          <a:xfrm>
            <a:off x="7671816" y="2706624"/>
            <a:ext cx="3675888" cy="256032"/>
          </a:xfrm>
          <a:prstGeom prst="rect">
            <a:avLst/>
          </a:prstGeom>
          <a:noFill/>
          <a:ln/>
        </p:spPr>
        <p:txBody>
          <a:bodyPr wrap="square" lIns="0" tIns="0" rIns="0" bIns="0" rtlCol="0" anchor="ctr"/>
          <a:lstStyle/>
          <a:p>
            <a:pPr indent="0" marL="0">
              <a:buNone/>
            </a:pPr>
            <a:r>
              <a:rPr lang="en-US" sz="1100" dirty="0">
                <a:solidFill>
                  <a:srgbClr val="6E6E85"/>
                </a:solidFill>
                <a:latin typeface="Calibri" pitchFamily="34" charset="0"/>
                <a:ea typeface="Calibri" pitchFamily="34" charset="-122"/>
                <a:cs typeface="Calibri" pitchFamily="34" charset="-120"/>
              </a:rPr>
              <a:t>Media del grupo de control</a:t>
            </a:r>
            <a:endParaRPr lang="en-US" sz="1100" dirty="0"/>
          </a:p>
        </p:txBody>
      </p:sp>
      <p:sp>
        <p:nvSpPr>
          <p:cNvPr id="12" name="Text 7"/>
          <p:cNvSpPr/>
          <p:nvPr/>
        </p:nvSpPr>
        <p:spPr>
          <a:xfrm>
            <a:off x="7671816" y="2944368"/>
            <a:ext cx="3675888" cy="457200"/>
          </a:xfrm>
          <a:prstGeom prst="rect">
            <a:avLst/>
          </a:prstGeom>
          <a:noFill/>
          <a:ln/>
        </p:spPr>
        <p:txBody>
          <a:bodyPr wrap="square" lIns="0" tIns="0" rIns="0" bIns="0" rtlCol="0" anchor="ctr"/>
          <a:lstStyle/>
          <a:p>
            <a:pPr indent="0" marL="0">
              <a:buNone/>
            </a:pPr>
            <a:r>
              <a:rPr lang="en-US" sz="2500" b="1" dirty="0">
                <a:solidFill>
                  <a:srgbClr val="6F76B8"/>
                </a:solidFill>
                <a:latin typeface="Century Schoolbook" pitchFamily="34" charset="0"/>
                <a:ea typeface="Century Schoolbook" pitchFamily="34" charset="-122"/>
                <a:cs typeface="Century Schoolbook" pitchFamily="34" charset="-120"/>
              </a:rPr>
              <a:t>100,4</a:t>
            </a:r>
            <a:endParaRPr lang="en-US" sz="2500" dirty="0"/>
          </a:p>
        </p:txBody>
      </p:sp>
      <p:sp>
        <p:nvSpPr>
          <p:cNvPr id="13" name="Text 8"/>
          <p:cNvSpPr/>
          <p:nvPr/>
        </p:nvSpPr>
        <p:spPr>
          <a:xfrm>
            <a:off x="7671816" y="3456432"/>
            <a:ext cx="3675888" cy="256032"/>
          </a:xfrm>
          <a:prstGeom prst="rect">
            <a:avLst/>
          </a:prstGeom>
          <a:noFill/>
          <a:ln/>
        </p:spPr>
        <p:txBody>
          <a:bodyPr wrap="square" lIns="0" tIns="0" rIns="0" bIns="0" rtlCol="0" anchor="ctr"/>
          <a:lstStyle/>
          <a:p>
            <a:pPr indent="0" marL="0">
              <a:buNone/>
            </a:pPr>
            <a:r>
              <a:rPr lang="en-US" sz="1100" dirty="0">
                <a:solidFill>
                  <a:srgbClr val="6E6E85"/>
                </a:solidFill>
                <a:latin typeface="Calibri" pitchFamily="34" charset="0"/>
                <a:ea typeface="Calibri" pitchFamily="34" charset="-122"/>
                <a:cs typeface="Calibri" pitchFamily="34" charset="-120"/>
              </a:rPr>
              <a:t>Media del grupo de tratamiento</a:t>
            </a:r>
            <a:endParaRPr lang="en-US" sz="1100" dirty="0"/>
          </a:p>
        </p:txBody>
      </p:sp>
      <p:sp>
        <p:nvSpPr>
          <p:cNvPr id="14" name="Text 9"/>
          <p:cNvSpPr/>
          <p:nvPr/>
        </p:nvSpPr>
        <p:spPr>
          <a:xfrm>
            <a:off x="7671816" y="3694176"/>
            <a:ext cx="3675888" cy="457200"/>
          </a:xfrm>
          <a:prstGeom prst="rect">
            <a:avLst/>
          </a:prstGeom>
          <a:noFill/>
          <a:ln/>
        </p:spPr>
        <p:txBody>
          <a:bodyPr wrap="square" lIns="0" tIns="0" rIns="0" bIns="0" rtlCol="0" anchor="ctr"/>
          <a:lstStyle/>
          <a:p>
            <a:pPr indent="0" marL="0">
              <a:buNone/>
            </a:pPr>
            <a:r>
              <a:rPr lang="en-US" sz="2500" b="1" dirty="0">
                <a:solidFill>
                  <a:srgbClr val="4B45C4"/>
                </a:solidFill>
                <a:latin typeface="Century Schoolbook" pitchFamily="34" charset="0"/>
                <a:ea typeface="Century Schoolbook" pitchFamily="34" charset="-122"/>
                <a:cs typeface="Century Schoolbook" pitchFamily="34" charset="-120"/>
              </a:rPr>
              <a:t>112,1</a:t>
            </a:r>
            <a:endParaRPr lang="en-US" sz="2500" dirty="0"/>
          </a:p>
        </p:txBody>
      </p:sp>
      <p:sp>
        <p:nvSpPr>
          <p:cNvPr id="15" name="Shape 10"/>
          <p:cNvSpPr/>
          <p:nvPr/>
        </p:nvSpPr>
        <p:spPr>
          <a:xfrm>
            <a:off x="7397496" y="4279392"/>
            <a:ext cx="4224528" cy="1261872"/>
          </a:xfrm>
          <a:prstGeom prst="roundRect">
            <a:avLst>
              <a:gd name="adj" fmla="val 6522"/>
            </a:avLst>
          </a:prstGeom>
          <a:solidFill>
            <a:srgbClr val="1E1B4A"/>
          </a:solidFill>
          <a:ln/>
        </p:spPr>
      </p:sp>
      <p:sp>
        <p:nvSpPr>
          <p:cNvPr id="16" name="Text 11"/>
          <p:cNvSpPr/>
          <p:nvPr/>
        </p:nvSpPr>
        <p:spPr>
          <a:xfrm>
            <a:off x="7671816" y="4370832"/>
            <a:ext cx="3675888" cy="256032"/>
          </a:xfrm>
          <a:prstGeom prst="rect">
            <a:avLst/>
          </a:prstGeom>
          <a:noFill/>
          <a:ln/>
        </p:spPr>
        <p:txBody>
          <a:bodyPr wrap="square" lIns="0" tIns="0" rIns="0" bIns="0" rtlCol="0" anchor="ctr"/>
          <a:lstStyle/>
          <a:p>
            <a:pPr indent="0" marL="0">
              <a:buNone/>
            </a:pPr>
            <a:r>
              <a:rPr lang="en-US" sz="950" b="1" spc="60" kern="0" dirty="0">
                <a:solidFill>
                  <a:srgbClr val="8B87F5"/>
                </a:solidFill>
                <a:latin typeface="Calibri" pitchFamily="34" charset="0"/>
                <a:ea typeface="Calibri" pitchFamily="34" charset="-122"/>
                <a:cs typeface="Calibri" pitchFamily="34" charset="-120"/>
              </a:rPr>
              <a:t>D I F E R E N C I A   E S T I M A D A</a:t>
            </a:r>
            <a:endParaRPr lang="en-US" sz="950" dirty="0"/>
          </a:p>
        </p:txBody>
      </p:sp>
      <p:sp>
        <p:nvSpPr>
          <p:cNvPr id="17" name="Text 12"/>
          <p:cNvSpPr/>
          <p:nvPr/>
        </p:nvSpPr>
        <p:spPr>
          <a:xfrm>
            <a:off x="7671816" y="4608576"/>
            <a:ext cx="3675888" cy="530352"/>
          </a:xfrm>
          <a:prstGeom prst="rect">
            <a:avLst/>
          </a:prstGeom>
          <a:noFill/>
          <a:ln/>
        </p:spPr>
        <p:txBody>
          <a:bodyPr wrap="square" lIns="0" tIns="0" rIns="0" bIns="0" rtlCol="0" anchor="ctr"/>
          <a:lstStyle/>
          <a:p>
            <a:pPr indent="0" marL="0">
              <a:buNone/>
            </a:pPr>
            <a:r>
              <a:rPr lang="en-US" sz="3400" b="1" dirty="0">
                <a:solidFill>
                  <a:srgbClr val="FFFFFF"/>
                </a:solidFill>
                <a:latin typeface="Century Schoolbook" pitchFamily="34" charset="0"/>
                <a:ea typeface="Century Schoolbook" pitchFamily="34" charset="-122"/>
                <a:cs typeface="Century Schoolbook" pitchFamily="34" charset="-120"/>
              </a:rPr>
              <a:t>+11,7</a:t>
            </a:r>
            <a:endParaRPr lang="en-US" sz="3400" dirty="0"/>
          </a:p>
        </p:txBody>
      </p:sp>
      <p:sp>
        <p:nvSpPr>
          <p:cNvPr id="18" name="Text 13"/>
          <p:cNvSpPr/>
          <p:nvPr/>
        </p:nvSpPr>
        <p:spPr>
          <a:xfrm>
            <a:off x="7671816" y="5157216"/>
            <a:ext cx="3675888" cy="292608"/>
          </a:xfrm>
          <a:prstGeom prst="rect">
            <a:avLst/>
          </a:prstGeom>
          <a:noFill/>
          <a:ln/>
        </p:spPr>
        <p:txBody>
          <a:bodyPr wrap="square" lIns="0" tIns="0" rIns="0" bIns="0" rtlCol="0" anchor="ctr"/>
          <a:lstStyle/>
          <a:p>
            <a:pPr indent="0" marL="0">
              <a:buNone/>
            </a:pPr>
            <a:r>
              <a:rPr lang="en-US" sz="1100" dirty="0">
                <a:solidFill>
                  <a:srgbClr val="AAB3F4"/>
                </a:solidFill>
                <a:latin typeface="Calibri" pitchFamily="34" charset="0"/>
                <a:ea typeface="Calibri" pitchFamily="34" charset="-122"/>
                <a:cs typeface="Calibri" pitchFamily="34" charset="-120"/>
              </a:rPr>
              <a:t>error estándar 4,3  ·  valor p 0,006</a:t>
            </a:r>
            <a:endParaRPr lang="en-US" sz="1100" dirty="0"/>
          </a:p>
        </p:txBody>
      </p:sp>
      <p:sp>
        <p:nvSpPr>
          <p:cNvPr id="19" name="Shape 14"/>
          <p:cNvSpPr/>
          <p:nvPr/>
        </p:nvSpPr>
        <p:spPr>
          <a:xfrm>
            <a:off x="7397496" y="5687568"/>
            <a:ext cx="4224528" cy="658368"/>
          </a:xfrm>
          <a:prstGeom prst="roundRect">
            <a:avLst>
              <a:gd name="adj" fmla="val 12500"/>
            </a:avLst>
          </a:prstGeom>
          <a:solidFill>
            <a:srgbClr val="F7F8FD"/>
          </a:solidFill>
          <a:ln/>
        </p:spPr>
      </p:sp>
      <p:sp>
        <p:nvSpPr>
          <p:cNvPr id="20" name="Text 15"/>
          <p:cNvSpPr/>
          <p:nvPr/>
        </p:nvSpPr>
        <p:spPr>
          <a:xfrm>
            <a:off x="7653528" y="5888736"/>
            <a:ext cx="3712464" cy="292608"/>
          </a:xfrm>
          <a:prstGeom prst="rect">
            <a:avLst/>
          </a:prstGeom>
          <a:noFill/>
          <a:ln/>
        </p:spPr>
        <p:txBody>
          <a:bodyPr wrap="square" lIns="0" tIns="0" rIns="0" bIns="0" rtlCol="0" anchor="ctr"/>
          <a:lstStyle/>
          <a:p>
            <a:pPr indent="0" marL="0">
              <a:buNone/>
            </a:pPr>
            <a:r>
              <a:rPr lang="en-US" sz="1200" b="1" dirty="0">
                <a:solidFill>
                  <a:srgbClr val="1F6F62"/>
                </a:solidFill>
                <a:latin typeface="Calibri" pitchFamily="34" charset="0"/>
                <a:ea typeface="Calibri" pitchFamily="34" charset="-122"/>
                <a:cs typeface="Calibri" pitchFamily="34" charset="-120"/>
              </a:rPr>
              <a:t>Qué agrega la prueba t</a:t>
            </a:r>
            <a:endParaRPr lang="en-US" sz="1200" dirty="0"/>
          </a:p>
        </p:txBody>
      </p:sp>
      <p:sp>
        <p:nvSpPr>
          <p:cNvPr id="21" name="Text 16"/>
          <p:cNvSpPr/>
          <p:nvPr/>
        </p:nvSpPr>
        <p:spPr>
          <a:xfrm>
            <a:off x="7653528" y="6254496"/>
            <a:ext cx="3712464" cy="-54864"/>
          </a:xfrm>
          <a:prstGeom prst="rect">
            <a:avLst/>
          </a:prstGeom>
          <a:noFill/>
          <a:ln/>
        </p:spPr>
        <p:txBody>
          <a:bodyPr wrap="square" lIns="0" tIns="0" rIns="0" bIns="0" rtlCol="0" anchor="ctr"/>
          <a:lstStyle/>
          <a:p>
            <a:pPr indent="0" marL="0">
              <a:lnSpc>
                <a:spcPct val="114000"/>
              </a:lnSpc>
              <a:buNone/>
            </a:pPr>
            <a:r>
              <a:rPr lang="en-US" sz="1000" dirty="0">
                <a:solidFill>
                  <a:srgbClr val="2B2B3A"/>
                </a:solidFill>
                <a:latin typeface="Calibri" pitchFamily="34" charset="0"/>
                <a:ea typeface="Calibri" pitchFamily="34" charset="-122"/>
                <a:cs typeface="Calibri" pitchFamily="34" charset="-120"/>
              </a:rPr>
              <a:t>Nada sobre causalidad: solo si la resta se distingue del ruido.</a:t>
            </a:r>
            <a:endParaRPr lang="en-US" sz="1000" dirty="0"/>
          </a:p>
        </p:txBody>
      </p:sp>
      <p:sp>
        <p:nvSpPr>
          <p:cNvPr id="22" name="Text 17"/>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La econometría · Diferencia de medias</a:t>
            </a:r>
            <a:endParaRPr lang="en-US" sz="900" dirty="0"/>
          </a:p>
        </p:txBody>
      </p:sp>
      <p:sp>
        <p:nvSpPr>
          <p:cNvPr id="23" name="Text 18"/>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La econometría (2): la regresión</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La misma resta, escrita como modelo. La regresión no agrega causalidad: agrega errores estándar, controles y disciplina.</a:t>
            </a:r>
            <a:endParaRPr lang="en-US" sz="1350" dirty="0"/>
          </a:p>
        </p:txBody>
      </p:sp>
      <p:sp>
        <p:nvSpPr>
          <p:cNvPr id="6" name="Shape 3"/>
          <p:cNvSpPr/>
          <p:nvPr/>
        </p:nvSpPr>
        <p:spPr>
          <a:xfrm>
            <a:off x="566928" y="1645920"/>
            <a:ext cx="11055096" cy="804672"/>
          </a:xfrm>
          <a:prstGeom prst="roundRect">
            <a:avLst>
              <a:gd name="adj" fmla="val 9091"/>
            </a:avLst>
          </a:prstGeom>
          <a:solidFill>
            <a:srgbClr val="1E1B4A"/>
          </a:solidFill>
          <a:ln/>
        </p:spPr>
      </p:sp>
      <p:pic>
        <p:nvPicPr>
          <p:cNvPr id="7" name="Image 1" descr="/home/claude/fx/rct.png">    </p:cNvPr>
          <p:cNvPicPr>
            <a:picLocks noChangeAspect="1"/>
          </p:cNvPicPr>
          <p:nvPr/>
        </p:nvPicPr>
        <p:blipFill>
          <a:blip r:embed="rId2"/>
          <a:stretch>
            <a:fillRect/>
          </a:stretch>
        </p:blipFill>
        <p:spPr>
          <a:xfrm>
            <a:off x="4629137" y="1874520"/>
            <a:ext cx="2930678" cy="347472"/>
          </a:xfrm>
          <a:prstGeom prst="rect">
            <a:avLst/>
          </a:prstGeom>
        </p:spPr>
      </p:pic>
      <p:graphicFrame>
        <p:nvGraphicFramePr>
          <p:cNvPr id="8" name="Chart 0" descr=""/>
          <p:cNvGraphicFramePr/>
          <p:nvPr/>
        </p:nvGraphicFramePr>
        <p:xfrm>
          <a:off x="566928" y="2606040"/>
          <a:ext cx="5623560" cy="3246120"/>
        </p:xfrm>
        <a:graphic xmlns:a="http://schemas.openxmlformats.org/drawingml/2006/main">
          <a:graphicData uri="http://schemas.openxmlformats.org/drawingml/2006/chart">
            <c:chart xmlns:c="http://schemas.openxmlformats.org/drawingml/2006/chart" r:id="rId3"/>
          </a:graphicData>
        </a:graphic>
      </p:graphicFrame>
      <p:sp>
        <p:nvSpPr>
          <p:cNvPr id="9" name="Shape 4"/>
          <p:cNvSpPr/>
          <p:nvPr/>
        </p:nvSpPr>
        <p:spPr>
          <a:xfrm>
            <a:off x="6574536" y="2606040"/>
            <a:ext cx="5047488" cy="804672"/>
          </a:xfrm>
          <a:prstGeom prst="roundRect">
            <a:avLst>
              <a:gd name="adj" fmla="val 7955"/>
            </a:avLst>
          </a:prstGeom>
          <a:solidFill>
            <a:srgbClr val="EEF0FC"/>
          </a:solidFill>
          <a:ln/>
        </p:spPr>
      </p:sp>
      <p:sp>
        <p:nvSpPr>
          <p:cNvPr id="10" name="Text 5"/>
          <p:cNvSpPr/>
          <p:nvPr/>
        </p:nvSpPr>
        <p:spPr>
          <a:xfrm>
            <a:off x="6830568" y="2724912"/>
            <a:ext cx="4535424" cy="256032"/>
          </a:xfrm>
          <a:prstGeom prst="rect">
            <a:avLst/>
          </a:prstGeom>
          <a:noFill/>
          <a:ln/>
        </p:spPr>
        <p:txBody>
          <a:bodyPr wrap="square" lIns="0" tIns="0" rIns="0" bIns="0" rtlCol="0" anchor="ctr"/>
          <a:lstStyle/>
          <a:p>
            <a:pPr indent="0" marL="0">
              <a:buNone/>
            </a:pPr>
            <a:r>
              <a:rPr lang="en-US" sz="1300" b="1" dirty="0">
                <a:solidFill>
                  <a:srgbClr val="4B45C4"/>
                </a:solidFill>
                <a:latin typeface="Calibri" pitchFamily="34" charset="0"/>
                <a:ea typeface="Calibri" pitchFamily="34" charset="-122"/>
                <a:cs typeface="Calibri" pitchFamily="34" charset="-120"/>
              </a:rPr>
              <a:t>β es la diferencia de medias</a:t>
            </a:r>
            <a:endParaRPr lang="en-US" sz="1300" dirty="0"/>
          </a:p>
        </p:txBody>
      </p:sp>
      <p:sp>
        <p:nvSpPr>
          <p:cNvPr id="11" name="Text 6"/>
          <p:cNvSpPr/>
          <p:nvPr/>
        </p:nvSpPr>
        <p:spPr>
          <a:xfrm>
            <a:off x="6830568" y="3008376"/>
            <a:ext cx="4535424" cy="292608"/>
          </a:xfrm>
          <a:prstGeom prst="rect">
            <a:avLst/>
          </a:prstGeom>
          <a:noFill/>
          <a:ln/>
        </p:spPr>
        <p:txBody>
          <a:bodyPr wrap="square" lIns="0" tIns="0" rIns="0" bIns="0" rtlCol="0" anchor="ctr"/>
          <a:lstStyle/>
          <a:p>
            <a:pPr indent="0" marL="0">
              <a:buNone/>
            </a:pPr>
            <a:r>
              <a:rPr lang="en-US" sz="1100" dirty="0">
                <a:solidFill>
                  <a:srgbClr val="2B2B3A"/>
                </a:solidFill>
                <a:latin typeface="Calibri" pitchFamily="34" charset="0"/>
                <a:ea typeface="Calibri" pitchFamily="34" charset="-122"/>
                <a:cs typeface="Calibri" pitchFamily="34" charset="-120"/>
              </a:rPr>
              <a:t>Con T binario, devuelve exactamente la resta de la lámina anterior.</a:t>
            </a:r>
            <a:endParaRPr lang="en-US" sz="1100" dirty="0"/>
          </a:p>
        </p:txBody>
      </p:sp>
      <p:sp>
        <p:nvSpPr>
          <p:cNvPr id="12" name="Shape 7"/>
          <p:cNvSpPr/>
          <p:nvPr/>
        </p:nvSpPr>
        <p:spPr>
          <a:xfrm>
            <a:off x="6574536" y="3502152"/>
            <a:ext cx="5047488" cy="804672"/>
          </a:xfrm>
          <a:prstGeom prst="roundRect">
            <a:avLst>
              <a:gd name="adj" fmla="val 7955"/>
            </a:avLst>
          </a:prstGeom>
          <a:solidFill>
            <a:srgbClr val="EEF0FC"/>
          </a:solidFill>
          <a:ln/>
        </p:spPr>
      </p:sp>
      <p:sp>
        <p:nvSpPr>
          <p:cNvPr id="13" name="Text 8"/>
          <p:cNvSpPr/>
          <p:nvPr/>
        </p:nvSpPr>
        <p:spPr>
          <a:xfrm>
            <a:off x="6830568" y="3621024"/>
            <a:ext cx="4535424" cy="256032"/>
          </a:xfrm>
          <a:prstGeom prst="rect">
            <a:avLst/>
          </a:prstGeom>
          <a:noFill/>
          <a:ln/>
        </p:spPr>
        <p:txBody>
          <a:bodyPr wrap="square" lIns="0" tIns="0" rIns="0" bIns="0" rtlCol="0" anchor="ctr"/>
          <a:lstStyle/>
          <a:p>
            <a:pPr indent="0" marL="0">
              <a:buNone/>
            </a:pPr>
            <a:r>
              <a:rPr lang="en-US" sz="1300" b="1" dirty="0">
                <a:solidFill>
                  <a:srgbClr val="4B45C4"/>
                </a:solidFill>
                <a:latin typeface="Calibri" pitchFamily="34" charset="0"/>
                <a:ea typeface="Calibri" pitchFamily="34" charset="-122"/>
                <a:cs typeface="Calibri" pitchFamily="34" charset="-120"/>
              </a:rPr>
              <a:t>Los controles X dan precisión</a:t>
            </a:r>
            <a:endParaRPr lang="en-US" sz="1300" dirty="0"/>
          </a:p>
        </p:txBody>
      </p:sp>
      <p:sp>
        <p:nvSpPr>
          <p:cNvPr id="14" name="Text 9"/>
          <p:cNvSpPr/>
          <p:nvPr/>
        </p:nvSpPr>
        <p:spPr>
          <a:xfrm>
            <a:off x="6830568" y="3904488"/>
            <a:ext cx="4535424" cy="292608"/>
          </a:xfrm>
          <a:prstGeom prst="rect">
            <a:avLst/>
          </a:prstGeom>
          <a:noFill/>
          <a:ln/>
        </p:spPr>
        <p:txBody>
          <a:bodyPr wrap="square" lIns="0" tIns="0" rIns="0" bIns="0" rtlCol="0" anchor="ctr"/>
          <a:lstStyle/>
          <a:p>
            <a:pPr indent="0" marL="0">
              <a:buNone/>
            </a:pPr>
            <a:r>
              <a:rPr lang="en-US" sz="1100" dirty="0">
                <a:solidFill>
                  <a:srgbClr val="2B2B3A"/>
                </a:solidFill>
                <a:latin typeface="Calibri" pitchFamily="34" charset="0"/>
                <a:ea typeface="Calibri" pitchFamily="34" charset="-122"/>
                <a:cs typeface="Calibri" pitchFamily="34" charset="-120"/>
              </a:rPr>
              <a:t>No corrigen sesgo: en un experimento válido no queda sesgo.</a:t>
            </a:r>
            <a:endParaRPr lang="en-US" sz="1100" dirty="0"/>
          </a:p>
        </p:txBody>
      </p:sp>
      <p:sp>
        <p:nvSpPr>
          <p:cNvPr id="15" name="Shape 10"/>
          <p:cNvSpPr/>
          <p:nvPr/>
        </p:nvSpPr>
        <p:spPr>
          <a:xfrm>
            <a:off x="6574536" y="4398264"/>
            <a:ext cx="5047488" cy="804672"/>
          </a:xfrm>
          <a:prstGeom prst="roundRect">
            <a:avLst>
              <a:gd name="adj" fmla="val 7955"/>
            </a:avLst>
          </a:prstGeom>
          <a:solidFill>
            <a:srgbClr val="FBF0F3"/>
          </a:solidFill>
          <a:ln/>
        </p:spPr>
      </p:sp>
      <p:sp>
        <p:nvSpPr>
          <p:cNvPr id="16" name="Text 11"/>
          <p:cNvSpPr/>
          <p:nvPr/>
        </p:nvSpPr>
        <p:spPr>
          <a:xfrm>
            <a:off x="6830568" y="4517136"/>
            <a:ext cx="4535424" cy="256032"/>
          </a:xfrm>
          <a:prstGeom prst="rect">
            <a:avLst/>
          </a:prstGeom>
          <a:noFill/>
          <a:ln/>
        </p:spPr>
        <p:txBody>
          <a:bodyPr wrap="square" lIns="0" tIns="0" rIns="0" bIns="0" rtlCol="0" anchor="ctr"/>
          <a:lstStyle/>
          <a:p>
            <a:pPr indent="0" marL="0">
              <a:buNone/>
            </a:pPr>
            <a:r>
              <a:rPr lang="en-US" sz="1300" b="1" dirty="0">
                <a:solidFill>
                  <a:srgbClr val="A83A57"/>
                </a:solidFill>
                <a:latin typeface="Calibri" pitchFamily="34" charset="0"/>
                <a:ea typeface="Calibri" pitchFamily="34" charset="-122"/>
                <a:cs typeface="Calibri" pitchFamily="34" charset="-120"/>
              </a:rPr>
              <a:t>Agrupar los errores estándar</a:t>
            </a:r>
            <a:endParaRPr lang="en-US" sz="1300" dirty="0"/>
          </a:p>
        </p:txBody>
      </p:sp>
      <p:sp>
        <p:nvSpPr>
          <p:cNvPr id="17" name="Text 12"/>
          <p:cNvSpPr/>
          <p:nvPr/>
        </p:nvSpPr>
        <p:spPr>
          <a:xfrm>
            <a:off x="6830568" y="4800600"/>
            <a:ext cx="4535424" cy="292608"/>
          </a:xfrm>
          <a:prstGeom prst="rect">
            <a:avLst/>
          </a:prstGeom>
          <a:noFill/>
          <a:ln/>
        </p:spPr>
        <p:txBody>
          <a:bodyPr wrap="square" lIns="0" tIns="0" rIns="0" bIns="0" rtlCol="0" anchor="ctr"/>
          <a:lstStyle/>
          <a:p>
            <a:pPr indent="0" marL="0">
              <a:buNone/>
            </a:pPr>
            <a:r>
              <a:rPr lang="en-US" sz="1100" dirty="0">
                <a:solidFill>
                  <a:srgbClr val="2B2B3A"/>
                </a:solidFill>
                <a:latin typeface="Calibri" pitchFamily="34" charset="0"/>
                <a:ea typeface="Calibri" pitchFamily="34" charset="-122"/>
                <a:cs typeface="Calibri" pitchFamily="34" charset="-120"/>
              </a:rPr>
              <a:t>Se sorteó el barrio, así que los errores se agrupan por barrio.</a:t>
            </a:r>
            <a:endParaRPr lang="en-US" sz="1100" dirty="0"/>
          </a:p>
        </p:txBody>
      </p:sp>
      <p:sp>
        <p:nvSpPr>
          <p:cNvPr id="18" name="Shape 13"/>
          <p:cNvSpPr/>
          <p:nvPr/>
        </p:nvSpPr>
        <p:spPr>
          <a:xfrm>
            <a:off x="6574536" y="5294376"/>
            <a:ext cx="5047488" cy="804672"/>
          </a:xfrm>
          <a:prstGeom prst="roundRect">
            <a:avLst>
              <a:gd name="adj" fmla="val 7955"/>
            </a:avLst>
          </a:prstGeom>
          <a:solidFill>
            <a:srgbClr val="F7F8FD"/>
          </a:solidFill>
          <a:ln/>
        </p:spPr>
      </p:sp>
      <p:sp>
        <p:nvSpPr>
          <p:cNvPr id="19" name="Text 14"/>
          <p:cNvSpPr/>
          <p:nvPr/>
        </p:nvSpPr>
        <p:spPr>
          <a:xfrm>
            <a:off x="6830568" y="5413248"/>
            <a:ext cx="4535424" cy="256032"/>
          </a:xfrm>
          <a:prstGeom prst="rect">
            <a:avLst/>
          </a:prstGeom>
          <a:noFill/>
          <a:ln/>
        </p:spPr>
        <p:txBody>
          <a:bodyPr wrap="square" lIns="0" tIns="0" rIns="0" bIns="0" rtlCol="0" anchor="ctr"/>
          <a:lstStyle/>
          <a:p>
            <a:pPr indent="0" marL="0">
              <a:buNone/>
            </a:pPr>
            <a:r>
              <a:rPr lang="en-US" sz="1300" b="1" dirty="0">
                <a:solidFill>
                  <a:srgbClr val="1F6F62"/>
                </a:solidFill>
                <a:latin typeface="Calibri" pitchFamily="34" charset="0"/>
                <a:ea typeface="Calibri" pitchFamily="34" charset="-122"/>
                <a:cs typeface="Calibri" pitchFamily="34" charset="-120"/>
              </a:rPr>
              <a:t>Especificar antes de mirar</a:t>
            </a:r>
            <a:endParaRPr lang="en-US" sz="1300" dirty="0"/>
          </a:p>
        </p:txBody>
      </p:sp>
      <p:sp>
        <p:nvSpPr>
          <p:cNvPr id="20" name="Text 15"/>
          <p:cNvSpPr/>
          <p:nvPr/>
        </p:nvSpPr>
        <p:spPr>
          <a:xfrm>
            <a:off x="6830568" y="5696712"/>
            <a:ext cx="4535424" cy="292608"/>
          </a:xfrm>
          <a:prstGeom prst="rect">
            <a:avLst/>
          </a:prstGeom>
          <a:noFill/>
          <a:ln/>
        </p:spPr>
        <p:txBody>
          <a:bodyPr wrap="square" lIns="0" tIns="0" rIns="0" bIns="0" rtlCol="0" anchor="ctr"/>
          <a:lstStyle/>
          <a:p>
            <a:pPr indent="0" marL="0">
              <a:buNone/>
            </a:pPr>
            <a:r>
              <a:rPr lang="en-US" sz="1100" dirty="0">
                <a:solidFill>
                  <a:srgbClr val="2B2B3A"/>
                </a:solidFill>
                <a:latin typeface="Calibri" pitchFamily="34" charset="0"/>
                <a:ea typeface="Calibri" pitchFamily="34" charset="-122"/>
                <a:cs typeface="Calibri" pitchFamily="34" charset="-120"/>
              </a:rPr>
              <a:t>Variables y subgrupos se fijan antes de ver los resultados.</a:t>
            </a:r>
            <a:endParaRPr lang="en-US" sz="1100" dirty="0"/>
          </a:p>
        </p:txBody>
      </p:sp>
      <p:sp>
        <p:nvSpPr>
          <p:cNvPr id="21" name="Text 16"/>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La econometría · Análisis de regresión</a:t>
            </a:r>
            <a:endParaRPr lang="en-US" sz="900" dirty="0"/>
          </a:p>
        </p:txBody>
      </p:sp>
      <p:sp>
        <p:nvSpPr>
          <p:cNvPr id="22" name="Text 17"/>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Cumplimiento imperfecto: ITT y LATE</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Se asigna, pero no todos obedecen. Hay quien fue invitado y no fue, y quien no fue invitado y se las arregló para entrar.</a:t>
            </a:r>
            <a:endParaRPr lang="en-US" sz="1350" dirty="0"/>
          </a:p>
        </p:txBody>
      </p:sp>
      <p:sp>
        <p:nvSpPr>
          <p:cNvPr id="6" name="Text 3"/>
          <p:cNvSpPr/>
          <p:nvPr/>
        </p:nvSpPr>
        <p:spPr>
          <a:xfrm>
            <a:off x="566928" y="1627632"/>
            <a:ext cx="11055096" cy="256032"/>
          </a:xfrm>
          <a:prstGeom prst="rect">
            <a:avLst/>
          </a:prstGeom>
          <a:noFill/>
          <a:ln/>
        </p:spPr>
        <p:txBody>
          <a:bodyPr wrap="square" lIns="0" tIns="0" rIns="0" bIns="0" rtlCol="0" anchor="ctr"/>
          <a:lstStyle/>
          <a:p>
            <a:pPr indent="0" marL="0">
              <a:buNone/>
            </a:pPr>
            <a:r>
              <a:rPr lang="en-US" sz="1000" b="1" spc="70" kern="0" dirty="0">
                <a:solidFill>
                  <a:srgbClr val="4B45C4"/>
                </a:solidFill>
                <a:latin typeface="Calibri" pitchFamily="34" charset="0"/>
                <a:ea typeface="Calibri" pitchFamily="34" charset="-122"/>
                <a:cs typeface="Calibri" pitchFamily="34" charset="-120"/>
              </a:rPr>
              <a:t>C U A T R O   T I P O S   D E   U N I D A D</a:t>
            </a:r>
            <a:endParaRPr lang="en-US" sz="1000" dirty="0"/>
          </a:p>
        </p:txBody>
      </p:sp>
      <p:sp>
        <p:nvSpPr>
          <p:cNvPr id="7" name="Shape 4"/>
          <p:cNvSpPr/>
          <p:nvPr/>
        </p:nvSpPr>
        <p:spPr>
          <a:xfrm>
            <a:off x="566928" y="1920240"/>
            <a:ext cx="2571750" cy="1316736"/>
          </a:xfrm>
          <a:prstGeom prst="roundRect">
            <a:avLst>
              <a:gd name="adj" fmla="val 5556"/>
            </a:avLst>
          </a:prstGeom>
          <a:solidFill>
            <a:srgbClr val="EEF0FC"/>
          </a:solidFill>
          <a:ln/>
        </p:spPr>
      </p:sp>
      <p:sp>
        <p:nvSpPr>
          <p:cNvPr id="8" name="Text 5"/>
          <p:cNvSpPr/>
          <p:nvPr/>
        </p:nvSpPr>
        <p:spPr>
          <a:xfrm>
            <a:off x="786384" y="2029968"/>
            <a:ext cx="2132838" cy="274320"/>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Cumplidores</a:t>
            </a:r>
            <a:endParaRPr lang="en-US" sz="1300" dirty="0"/>
          </a:p>
        </p:txBody>
      </p:sp>
      <p:sp>
        <p:nvSpPr>
          <p:cNvPr id="9" name="Text 6"/>
          <p:cNvSpPr/>
          <p:nvPr/>
        </p:nvSpPr>
        <p:spPr>
          <a:xfrm>
            <a:off x="786384" y="2322576"/>
            <a:ext cx="2132838" cy="841248"/>
          </a:xfrm>
          <a:prstGeom prst="rect">
            <a:avLst/>
          </a:prstGeom>
          <a:noFill/>
          <a:ln/>
        </p:spPr>
        <p:txBody>
          <a:bodyPr wrap="square" lIns="0" tIns="0" rIns="0" bIns="0" rtlCol="0" anchor="ctr"/>
          <a:lstStyle/>
          <a:p>
            <a:pPr indent="0" marL="0">
              <a:lnSpc>
                <a:spcPct val="110000"/>
              </a:lnSpc>
              <a:buNone/>
            </a:pPr>
            <a:r>
              <a:rPr lang="en-US" sz="1100" dirty="0">
                <a:solidFill>
                  <a:srgbClr val="2B2B3A"/>
                </a:solidFill>
                <a:latin typeface="Calibri" pitchFamily="34" charset="0"/>
                <a:ea typeface="Calibri" pitchFamily="34" charset="-122"/>
                <a:cs typeface="Calibri" pitchFamily="34" charset="-120"/>
              </a:rPr>
              <a:t>Toman el crédito porque abrió la sucursal. Son el único grupo sobre el que el experimento informa directamente.</a:t>
            </a:r>
            <a:endParaRPr lang="en-US" sz="1100" dirty="0"/>
          </a:p>
        </p:txBody>
      </p:sp>
      <p:sp>
        <p:nvSpPr>
          <p:cNvPr id="10" name="Shape 7"/>
          <p:cNvSpPr/>
          <p:nvPr/>
        </p:nvSpPr>
        <p:spPr>
          <a:xfrm>
            <a:off x="3394710" y="1920240"/>
            <a:ext cx="2571750" cy="1316736"/>
          </a:xfrm>
          <a:prstGeom prst="roundRect">
            <a:avLst>
              <a:gd name="adj" fmla="val 5556"/>
            </a:avLst>
          </a:prstGeom>
          <a:solidFill>
            <a:srgbClr val="EEF0FC"/>
          </a:solidFill>
          <a:ln/>
        </p:spPr>
      </p:sp>
      <p:sp>
        <p:nvSpPr>
          <p:cNvPr id="11" name="Text 8"/>
          <p:cNvSpPr/>
          <p:nvPr/>
        </p:nvSpPr>
        <p:spPr>
          <a:xfrm>
            <a:off x="3614166" y="2029968"/>
            <a:ext cx="2132838" cy="274320"/>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Siempre-tomadores</a:t>
            </a:r>
            <a:endParaRPr lang="en-US" sz="1300" dirty="0"/>
          </a:p>
        </p:txBody>
      </p:sp>
      <p:sp>
        <p:nvSpPr>
          <p:cNvPr id="12" name="Text 9"/>
          <p:cNvSpPr/>
          <p:nvPr/>
        </p:nvSpPr>
        <p:spPr>
          <a:xfrm>
            <a:off x="3614166" y="2322576"/>
            <a:ext cx="2132838" cy="841248"/>
          </a:xfrm>
          <a:prstGeom prst="rect">
            <a:avLst/>
          </a:prstGeom>
          <a:noFill/>
          <a:ln/>
        </p:spPr>
        <p:txBody>
          <a:bodyPr wrap="square" lIns="0" tIns="0" rIns="0" bIns="0" rtlCol="0" anchor="ctr"/>
          <a:lstStyle/>
          <a:p>
            <a:pPr indent="0" marL="0">
              <a:lnSpc>
                <a:spcPct val="110000"/>
              </a:lnSpc>
              <a:buNone/>
            </a:pPr>
            <a:r>
              <a:rPr lang="en-US" sz="1100" dirty="0">
                <a:solidFill>
                  <a:srgbClr val="2B2B3A"/>
                </a:solidFill>
                <a:latin typeface="Calibri" pitchFamily="34" charset="0"/>
                <a:ea typeface="Calibri" pitchFamily="34" charset="-122"/>
                <a:cs typeface="Calibri" pitchFamily="34" charset="-120"/>
              </a:rPr>
              <a:t>Se habrían endeudado con otra microfinanciera de todos modos. La asignación no los mueve.</a:t>
            </a:r>
            <a:endParaRPr lang="en-US" sz="1100" dirty="0"/>
          </a:p>
        </p:txBody>
      </p:sp>
      <p:sp>
        <p:nvSpPr>
          <p:cNvPr id="13" name="Shape 10"/>
          <p:cNvSpPr/>
          <p:nvPr/>
        </p:nvSpPr>
        <p:spPr>
          <a:xfrm>
            <a:off x="6222492" y="1920240"/>
            <a:ext cx="2571750" cy="1316736"/>
          </a:xfrm>
          <a:prstGeom prst="roundRect">
            <a:avLst>
              <a:gd name="adj" fmla="val 5556"/>
            </a:avLst>
          </a:prstGeom>
          <a:solidFill>
            <a:srgbClr val="EEF0FC"/>
          </a:solidFill>
          <a:ln/>
        </p:spPr>
      </p:sp>
      <p:sp>
        <p:nvSpPr>
          <p:cNvPr id="14" name="Text 11"/>
          <p:cNvSpPr/>
          <p:nvPr/>
        </p:nvSpPr>
        <p:spPr>
          <a:xfrm>
            <a:off x="6441948" y="2029968"/>
            <a:ext cx="2132838" cy="274320"/>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Nunca-tomadores</a:t>
            </a:r>
            <a:endParaRPr lang="en-US" sz="1300" dirty="0"/>
          </a:p>
        </p:txBody>
      </p:sp>
      <p:sp>
        <p:nvSpPr>
          <p:cNvPr id="15" name="Text 12"/>
          <p:cNvSpPr/>
          <p:nvPr/>
        </p:nvSpPr>
        <p:spPr>
          <a:xfrm>
            <a:off x="6441948" y="2322576"/>
            <a:ext cx="2132838" cy="841248"/>
          </a:xfrm>
          <a:prstGeom prst="rect">
            <a:avLst/>
          </a:prstGeom>
          <a:noFill/>
          <a:ln/>
        </p:spPr>
        <p:txBody>
          <a:bodyPr wrap="square" lIns="0" tIns="0" rIns="0" bIns="0" rtlCol="0" anchor="ctr"/>
          <a:lstStyle/>
          <a:p>
            <a:pPr indent="0" marL="0">
              <a:lnSpc>
                <a:spcPct val="110000"/>
              </a:lnSpc>
              <a:buNone/>
            </a:pPr>
            <a:r>
              <a:rPr lang="en-US" sz="1100" dirty="0">
                <a:solidFill>
                  <a:srgbClr val="2B2B3A"/>
                </a:solidFill>
                <a:latin typeface="Calibri" pitchFamily="34" charset="0"/>
                <a:ea typeface="Calibri" pitchFamily="34" charset="-122"/>
                <a:cs typeface="Calibri" pitchFamily="34" charset="-120"/>
              </a:rPr>
              <a:t>No toman crédito aunque tengan la sucursal enfrente. Tampoco los mueve la asignación.</a:t>
            </a:r>
            <a:endParaRPr lang="en-US" sz="1100" dirty="0"/>
          </a:p>
        </p:txBody>
      </p:sp>
      <p:sp>
        <p:nvSpPr>
          <p:cNvPr id="16" name="Shape 13"/>
          <p:cNvSpPr/>
          <p:nvPr/>
        </p:nvSpPr>
        <p:spPr>
          <a:xfrm>
            <a:off x="9050274" y="1920240"/>
            <a:ext cx="2571750" cy="1316736"/>
          </a:xfrm>
          <a:prstGeom prst="roundRect">
            <a:avLst>
              <a:gd name="adj" fmla="val 5556"/>
            </a:avLst>
          </a:prstGeom>
          <a:solidFill>
            <a:srgbClr val="FBF0F3"/>
          </a:solidFill>
          <a:ln/>
        </p:spPr>
      </p:sp>
      <p:sp>
        <p:nvSpPr>
          <p:cNvPr id="17" name="Text 14"/>
          <p:cNvSpPr/>
          <p:nvPr/>
        </p:nvSpPr>
        <p:spPr>
          <a:xfrm>
            <a:off x="9269730" y="2029968"/>
            <a:ext cx="2132838" cy="274320"/>
          </a:xfrm>
          <a:prstGeom prst="rect">
            <a:avLst/>
          </a:prstGeom>
          <a:noFill/>
          <a:ln/>
        </p:spPr>
        <p:txBody>
          <a:bodyPr wrap="square" lIns="0" tIns="0" rIns="0" bIns="0" rtlCol="0" anchor="ctr"/>
          <a:lstStyle/>
          <a:p>
            <a:pPr indent="0" marL="0">
              <a:buNone/>
            </a:pPr>
            <a:r>
              <a:rPr lang="en-US" sz="1300" b="1" dirty="0">
                <a:solidFill>
                  <a:srgbClr val="A83A57"/>
                </a:solidFill>
                <a:latin typeface="Calibri" pitchFamily="34" charset="0"/>
                <a:ea typeface="Calibri" pitchFamily="34" charset="-122"/>
                <a:cs typeface="Calibri" pitchFamily="34" charset="-120"/>
              </a:rPr>
              <a:t>Desafiantes</a:t>
            </a:r>
            <a:endParaRPr lang="en-US" sz="1300" dirty="0"/>
          </a:p>
        </p:txBody>
      </p:sp>
      <p:sp>
        <p:nvSpPr>
          <p:cNvPr id="18" name="Text 15"/>
          <p:cNvSpPr/>
          <p:nvPr/>
        </p:nvSpPr>
        <p:spPr>
          <a:xfrm>
            <a:off x="9269730" y="2322576"/>
            <a:ext cx="2132838" cy="841248"/>
          </a:xfrm>
          <a:prstGeom prst="rect">
            <a:avLst/>
          </a:prstGeom>
          <a:noFill/>
          <a:ln/>
        </p:spPr>
        <p:txBody>
          <a:bodyPr wrap="square" lIns="0" tIns="0" rIns="0" bIns="0" rtlCol="0" anchor="ctr"/>
          <a:lstStyle/>
          <a:p>
            <a:pPr indent="0" marL="0">
              <a:lnSpc>
                <a:spcPct val="110000"/>
              </a:lnSpc>
              <a:buNone/>
            </a:pPr>
            <a:r>
              <a:rPr lang="en-US" sz="1100" dirty="0">
                <a:solidFill>
                  <a:srgbClr val="2B2B3A"/>
                </a:solidFill>
                <a:latin typeface="Calibri" pitchFamily="34" charset="0"/>
                <a:ea typeface="Calibri" pitchFamily="34" charset="-122"/>
                <a:cs typeface="Calibri" pitchFamily="34" charset="-120"/>
              </a:rPr>
              <a:t>Harían justo lo contrario de lo asignado. Se supone que no existen (monotonicidad).</a:t>
            </a:r>
            <a:endParaRPr lang="en-US" sz="1100" dirty="0"/>
          </a:p>
        </p:txBody>
      </p:sp>
      <p:sp>
        <p:nvSpPr>
          <p:cNvPr id="19" name="Shape 16"/>
          <p:cNvSpPr/>
          <p:nvPr/>
        </p:nvSpPr>
        <p:spPr>
          <a:xfrm>
            <a:off x="566928" y="3419856"/>
            <a:ext cx="5344668" cy="2029968"/>
          </a:xfrm>
          <a:prstGeom prst="roundRect">
            <a:avLst>
              <a:gd name="adj" fmla="val 3604"/>
            </a:avLst>
          </a:prstGeom>
          <a:solidFill>
            <a:srgbClr val="1E1B4A"/>
          </a:solidFill>
          <a:ln/>
        </p:spPr>
      </p:sp>
      <p:sp>
        <p:nvSpPr>
          <p:cNvPr id="20" name="Text 17"/>
          <p:cNvSpPr/>
          <p:nvPr/>
        </p:nvSpPr>
        <p:spPr>
          <a:xfrm>
            <a:off x="859536" y="3529584"/>
            <a:ext cx="4759452" cy="329184"/>
          </a:xfrm>
          <a:prstGeom prst="rect">
            <a:avLst/>
          </a:prstGeom>
          <a:noFill/>
          <a:ln/>
        </p:spPr>
        <p:txBody>
          <a:bodyPr wrap="square" lIns="0" tIns="0" rIns="0" bIns="0" rtlCol="0" anchor="ctr"/>
          <a:lstStyle/>
          <a:p>
            <a:pPr indent="0" marL="0">
              <a:buNone/>
            </a:pPr>
            <a:r>
              <a:rPr lang="en-US" sz="1550" b="1" dirty="0">
                <a:solidFill>
                  <a:srgbClr val="8B87F5"/>
                </a:solidFill>
                <a:latin typeface="Calibri" pitchFamily="34" charset="0"/>
                <a:ea typeface="Calibri" pitchFamily="34" charset="-122"/>
                <a:cs typeface="Calibri" pitchFamily="34" charset="-120"/>
              </a:rPr>
              <a:t>ITT · Intención de tratar</a:t>
            </a:r>
            <a:endParaRPr lang="en-US" sz="1550" dirty="0"/>
          </a:p>
        </p:txBody>
      </p:sp>
      <p:sp>
        <p:nvSpPr>
          <p:cNvPr id="21" name="Text 18"/>
          <p:cNvSpPr/>
          <p:nvPr/>
        </p:nvSpPr>
        <p:spPr>
          <a:xfrm>
            <a:off x="859536" y="3895344"/>
            <a:ext cx="4759452" cy="141732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Compara los 52 barrios tratados contra los 52 de control, sin mirar quién tomó el crédito. Siempre estimable y nunca sesgado. Responde la pregunta de política: ¿qué logra abrir la sucursal, con el nivel real de adherencia que tenga?</a:t>
            </a:r>
            <a:endParaRPr lang="en-US" sz="1150" dirty="0"/>
          </a:p>
        </p:txBody>
      </p:sp>
      <p:sp>
        <p:nvSpPr>
          <p:cNvPr id="22" name="Shape 19"/>
          <p:cNvSpPr/>
          <p:nvPr/>
        </p:nvSpPr>
        <p:spPr>
          <a:xfrm>
            <a:off x="6277356" y="3419856"/>
            <a:ext cx="5344668" cy="2029968"/>
          </a:xfrm>
          <a:prstGeom prst="roundRect">
            <a:avLst>
              <a:gd name="adj" fmla="val 3604"/>
            </a:avLst>
          </a:prstGeom>
          <a:solidFill>
            <a:srgbClr val="343073"/>
          </a:solidFill>
          <a:ln/>
        </p:spPr>
      </p:sp>
      <p:sp>
        <p:nvSpPr>
          <p:cNvPr id="23" name="Text 20"/>
          <p:cNvSpPr/>
          <p:nvPr/>
        </p:nvSpPr>
        <p:spPr>
          <a:xfrm>
            <a:off x="6569964" y="3529584"/>
            <a:ext cx="4759452" cy="329184"/>
          </a:xfrm>
          <a:prstGeom prst="rect">
            <a:avLst/>
          </a:prstGeom>
          <a:noFill/>
          <a:ln/>
        </p:spPr>
        <p:txBody>
          <a:bodyPr wrap="square" lIns="0" tIns="0" rIns="0" bIns="0" rtlCol="0" anchor="ctr"/>
          <a:lstStyle/>
          <a:p>
            <a:pPr indent="0" marL="0">
              <a:buNone/>
            </a:pPr>
            <a:r>
              <a:rPr lang="en-US" sz="1550" b="1" dirty="0">
                <a:solidFill>
                  <a:srgbClr val="8B87F5"/>
                </a:solidFill>
                <a:latin typeface="Calibri" pitchFamily="34" charset="0"/>
                <a:ea typeface="Calibri" pitchFamily="34" charset="-122"/>
                <a:cs typeface="Calibri" pitchFamily="34" charset="-120"/>
              </a:rPr>
              <a:t>LATE · Efecto sobre los cumplidores</a:t>
            </a:r>
            <a:endParaRPr lang="en-US" sz="1550" dirty="0"/>
          </a:p>
        </p:txBody>
      </p:sp>
      <p:pic>
        <p:nvPicPr>
          <p:cNvPr id="24" name="Image 1" descr="/home/claude/fx/late.png">    </p:cNvPr>
          <p:cNvPicPr>
            <a:picLocks noChangeAspect="1"/>
          </p:cNvPicPr>
          <p:nvPr/>
        </p:nvPicPr>
        <p:blipFill>
          <a:blip r:embed="rId2"/>
          <a:stretch>
            <a:fillRect/>
          </a:stretch>
        </p:blipFill>
        <p:spPr>
          <a:xfrm>
            <a:off x="7827255" y="3950208"/>
            <a:ext cx="2244871" cy="402336"/>
          </a:xfrm>
          <a:prstGeom prst="rect">
            <a:avLst/>
          </a:prstGeom>
        </p:spPr>
      </p:pic>
      <p:sp>
        <p:nvSpPr>
          <p:cNvPr id="25" name="Text 21"/>
          <p:cNvSpPr/>
          <p:nvPr/>
        </p:nvSpPr>
        <p:spPr>
          <a:xfrm>
            <a:off x="6569964" y="4517136"/>
            <a:ext cx="4759452" cy="841248"/>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En Hyderabad la apertura subió la toma de crédito 8,4 puntos porcentuales. Es un 2SLS con la asignación como instrumento, y vale solo para ese subgrupo.</a:t>
            </a:r>
            <a:endParaRPr lang="en-US" sz="1150" dirty="0"/>
          </a:p>
        </p:txBody>
      </p:sp>
      <p:sp>
        <p:nvSpPr>
          <p:cNvPr id="26" name="Shape 22"/>
          <p:cNvSpPr/>
          <p:nvPr/>
        </p:nvSpPr>
        <p:spPr>
          <a:xfrm>
            <a:off x="566928" y="5614416"/>
            <a:ext cx="11055096" cy="621792"/>
          </a:xfrm>
          <a:prstGeom prst="roundRect">
            <a:avLst>
              <a:gd name="adj" fmla="val 10294"/>
            </a:avLst>
          </a:prstGeom>
          <a:solidFill>
            <a:srgbClr val="FBF0F3"/>
          </a:solidFill>
          <a:ln/>
        </p:spPr>
      </p:sp>
      <p:sp>
        <p:nvSpPr>
          <p:cNvPr id="27" name="Text 23"/>
          <p:cNvSpPr/>
          <p:nvPr/>
        </p:nvSpPr>
        <p:spPr>
          <a:xfrm>
            <a:off x="886968" y="5650992"/>
            <a:ext cx="10415016" cy="548640"/>
          </a:xfrm>
          <a:prstGeom prst="rect">
            <a:avLst/>
          </a:prstGeom>
          <a:noFill/>
          <a:ln/>
        </p:spPr>
        <p:txBody>
          <a:bodyPr wrap="square" lIns="0" tIns="0" rIns="0" bIns="0" rtlCol="0" anchor="ctr"/>
          <a:lstStyle/>
          <a:p>
            <a:pPr indent="0" marL="0">
              <a:lnSpc>
                <a:spcPct val="110000"/>
              </a:lnSpc>
              <a:buNone/>
            </a:pPr>
            <a:r>
              <a:rPr lang="en-US" sz="1200" b="1" dirty="0">
                <a:solidFill>
                  <a:srgbClr val="A83A57"/>
                </a:solidFill>
                <a:latin typeface="Calibri" pitchFamily="34" charset="0"/>
                <a:ea typeface="Calibri" pitchFamily="34" charset="-122"/>
                <a:cs typeface="Calibri" pitchFamily="34" charset="-120"/>
              </a:rPr>
              <a:t>El error más común: </a:t>
            </a:r>
            <a:pPr indent="0" marL="0">
              <a:lnSpc>
                <a:spcPct val="110000"/>
              </a:lnSpc>
              <a:buNone/>
            </a:pPr>
            <a:r>
              <a:rPr lang="en-US" sz="1200" dirty="0">
                <a:solidFill>
                  <a:srgbClr val="2B2B3A"/>
                </a:solidFill>
                <a:latin typeface="Calibri" pitchFamily="34" charset="0"/>
                <a:ea typeface="Calibri" pitchFamily="34" charset="-122"/>
                <a:cs typeface="Calibri" pitchFamily="34" charset="-120"/>
              </a:rPr>
              <a:t>comparar solo a quienes efectivamente tomaron el tratamiento contra el resto. Eso reintroduce la selección por la puerta de atrás y deshace todo lo que el sorteo había ganado.</a:t>
            </a:r>
            <a:endParaRPr lang="en-US" sz="1200" dirty="0"/>
          </a:p>
        </p:txBody>
      </p:sp>
      <p:sp>
        <p:nvSpPr>
          <p:cNvPr id="28" name="Text 24"/>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Limitaciones · Cumplimiento imperfecto</a:t>
            </a:r>
            <a:endParaRPr lang="en-US" sz="900" dirty="0"/>
          </a:p>
        </p:txBody>
      </p:sp>
      <p:sp>
        <p:nvSpPr>
          <p:cNvPr id="29" name="Text 25"/>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Atrición: cuando la gente desaparece</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Si quienes abandonan el estudio son distintos en cada grupo, la muestra final ya no está balanceada — y el sorteo deja de protegernos.</a:t>
            </a:r>
            <a:endParaRPr lang="en-US" sz="1350" dirty="0"/>
          </a:p>
        </p:txBody>
      </p:sp>
      <p:sp>
        <p:nvSpPr>
          <p:cNvPr id="6" name="Shape 3"/>
          <p:cNvSpPr/>
          <p:nvPr/>
        </p:nvSpPr>
        <p:spPr>
          <a:xfrm>
            <a:off x="566928" y="1691640"/>
            <a:ext cx="5344668" cy="1371600"/>
          </a:xfrm>
          <a:prstGeom prst="roundRect">
            <a:avLst>
              <a:gd name="adj" fmla="val 6000"/>
            </a:avLst>
          </a:prstGeom>
          <a:solidFill>
            <a:srgbClr val="FBF0F3"/>
          </a:solidFill>
          <a:ln/>
        </p:spPr>
      </p:sp>
      <p:sp>
        <p:nvSpPr>
          <p:cNvPr id="7" name="Text 4"/>
          <p:cNvSpPr/>
          <p:nvPr/>
        </p:nvSpPr>
        <p:spPr>
          <a:xfrm>
            <a:off x="822960" y="1892808"/>
            <a:ext cx="4832604" cy="292608"/>
          </a:xfrm>
          <a:prstGeom prst="rect">
            <a:avLst/>
          </a:prstGeom>
          <a:noFill/>
          <a:ln/>
        </p:spPr>
        <p:txBody>
          <a:bodyPr wrap="square" lIns="0" tIns="0" rIns="0" bIns="0" rtlCol="0" anchor="ctr"/>
          <a:lstStyle/>
          <a:p>
            <a:pPr indent="0" marL="0">
              <a:buNone/>
            </a:pPr>
            <a:r>
              <a:rPr lang="en-US" sz="1450" b="1" dirty="0">
                <a:solidFill>
                  <a:srgbClr val="A83A57"/>
                </a:solidFill>
                <a:latin typeface="Calibri" pitchFamily="34" charset="0"/>
                <a:ea typeface="Calibri" pitchFamily="34" charset="-122"/>
                <a:cs typeface="Calibri" pitchFamily="34" charset="-120"/>
              </a:rPr>
              <a:t>Por qué importa</a:t>
            </a:r>
            <a:endParaRPr lang="en-US" sz="1450" dirty="0"/>
          </a:p>
        </p:txBody>
      </p:sp>
      <p:sp>
        <p:nvSpPr>
          <p:cNvPr id="8" name="Text 5"/>
          <p:cNvSpPr/>
          <p:nvPr/>
        </p:nvSpPr>
        <p:spPr>
          <a:xfrm>
            <a:off x="822960" y="2258568"/>
            <a:ext cx="4832604" cy="65836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Si el programa hace que los peores casos del grupo tratado se retiren, el promedio que queda mejora sin que nada haya mejorado. El efecto medido es un artefacto.</a:t>
            </a:r>
            <a:endParaRPr lang="en-US" sz="1250" dirty="0"/>
          </a:p>
        </p:txBody>
      </p:sp>
      <p:sp>
        <p:nvSpPr>
          <p:cNvPr id="9" name="Shape 6"/>
          <p:cNvSpPr/>
          <p:nvPr/>
        </p:nvSpPr>
        <p:spPr>
          <a:xfrm>
            <a:off x="6277356" y="1691640"/>
            <a:ext cx="5344668" cy="1371600"/>
          </a:xfrm>
          <a:prstGeom prst="roundRect">
            <a:avLst>
              <a:gd name="adj" fmla="val 6000"/>
            </a:avLst>
          </a:prstGeom>
          <a:solidFill>
            <a:srgbClr val="F7F8FD"/>
          </a:solidFill>
          <a:ln/>
        </p:spPr>
      </p:sp>
      <p:sp>
        <p:nvSpPr>
          <p:cNvPr id="10" name="Text 7"/>
          <p:cNvSpPr/>
          <p:nvPr/>
        </p:nvSpPr>
        <p:spPr>
          <a:xfrm>
            <a:off x="6533388" y="1892808"/>
            <a:ext cx="4832604" cy="292608"/>
          </a:xfrm>
          <a:prstGeom prst="rect">
            <a:avLst/>
          </a:prstGeom>
          <a:noFill/>
          <a:ln/>
        </p:spPr>
        <p:txBody>
          <a:bodyPr wrap="square" lIns="0" tIns="0" rIns="0" bIns="0" rtlCol="0" anchor="ctr"/>
          <a:lstStyle/>
          <a:p>
            <a:pPr indent="0" marL="0">
              <a:buNone/>
            </a:pPr>
            <a:r>
              <a:rPr lang="en-US" sz="1450" b="1" dirty="0">
                <a:solidFill>
                  <a:srgbClr val="1F6F62"/>
                </a:solidFill>
                <a:latin typeface="Calibri" pitchFamily="34" charset="0"/>
                <a:ea typeface="Calibri" pitchFamily="34" charset="-122"/>
                <a:cs typeface="Calibri" pitchFamily="34" charset="-120"/>
              </a:rPr>
              <a:t>Lo primero, siempre: reportarla</a:t>
            </a:r>
            <a:endParaRPr lang="en-US" sz="1450" dirty="0"/>
          </a:p>
        </p:txBody>
      </p:sp>
      <p:sp>
        <p:nvSpPr>
          <p:cNvPr id="11" name="Text 8"/>
          <p:cNvSpPr/>
          <p:nvPr/>
        </p:nvSpPr>
        <p:spPr>
          <a:xfrm>
            <a:off x="6533388" y="2258568"/>
            <a:ext cx="4832604" cy="65836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Tasa de atrición por grupo y comparación de características de quienes salen. Si las tasas son parecidas y los perfiles también, el riesgo es bajo.</a:t>
            </a:r>
            <a:endParaRPr lang="en-US" sz="1250" dirty="0"/>
          </a:p>
        </p:txBody>
      </p:sp>
      <p:sp>
        <p:nvSpPr>
          <p:cNvPr id="12" name="Text 9"/>
          <p:cNvSpPr/>
          <p:nvPr/>
        </p:nvSpPr>
        <p:spPr>
          <a:xfrm>
            <a:off x="566928" y="3291840"/>
            <a:ext cx="11055096" cy="274320"/>
          </a:xfrm>
          <a:prstGeom prst="rect">
            <a:avLst/>
          </a:prstGeom>
          <a:noFill/>
          <a:ln/>
        </p:spPr>
        <p:txBody>
          <a:bodyPr wrap="square" lIns="0" tIns="0" rIns="0" bIns="0" rtlCol="0" anchor="ctr"/>
          <a:lstStyle/>
          <a:p>
            <a:pPr indent="0" marL="0">
              <a:buNone/>
            </a:pPr>
            <a:r>
              <a:rPr lang="en-US" sz="1000" b="1" spc="70" kern="0" dirty="0">
                <a:solidFill>
                  <a:srgbClr val="4B45C4"/>
                </a:solidFill>
                <a:latin typeface="Calibri" pitchFamily="34" charset="0"/>
                <a:ea typeface="Calibri" pitchFamily="34" charset="-122"/>
                <a:cs typeface="Calibri" pitchFamily="34" charset="-120"/>
              </a:rPr>
              <a:t>C U A N D O   L A   A T R I C I Ó N   E S   S E R I A :   A C O T A R</a:t>
            </a:r>
            <a:endParaRPr lang="en-US" sz="1000" dirty="0"/>
          </a:p>
        </p:txBody>
      </p:sp>
      <p:sp>
        <p:nvSpPr>
          <p:cNvPr id="13" name="Shape 10"/>
          <p:cNvSpPr/>
          <p:nvPr/>
        </p:nvSpPr>
        <p:spPr>
          <a:xfrm>
            <a:off x="566928" y="3611880"/>
            <a:ext cx="5344668" cy="1783080"/>
          </a:xfrm>
          <a:prstGeom prst="roundRect">
            <a:avLst>
              <a:gd name="adj" fmla="val 4615"/>
            </a:avLst>
          </a:prstGeom>
          <a:solidFill>
            <a:srgbClr val="EEF0FC"/>
          </a:solidFill>
          <a:ln/>
        </p:spPr>
      </p:sp>
      <p:sp>
        <p:nvSpPr>
          <p:cNvPr id="14" name="Text 11"/>
          <p:cNvSpPr/>
          <p:nvPr/>
        </p:nvSpPr>
        <p:spPr>
          <a:xfrm>
            <a:off x="822960" y="3813048"/>
            <a:ext cx="4832604"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Cotas de Manski</a:t>
            </a:r>
            <a:endParaRPr lang="en-US" sz="1450" dirty="0"/>
          </a:p>
        </p:txBody>
      </p:sp>
      <p:sp>
        <p:nvSpPr>
          <p:cNvPr id="15" name="Text 12"/>
          <p:cNvSpPr/>
          <p:nvPr/>
        </p:nvSpPr>
        <p:spPr>
          <a:xfrm>
            <a:off x="822960" y="4178808"/>
            <a:ext cx="4832604" cy="10698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Sin supuesto alguno: a cada dato faltante se le imputa el peor valor posible, y luego el mejor. El efecto real está entre esos dos extremos. Es honesto por construcción, pero el rango suele salir tan ancho que no permite concluir.</a:t>
            </a:r>
            <a:endParaRPr lang="en-US" sz="1250" dirty="0"/>
          </a:p>
        </p:txBody>
      </p:sp>
      <p:sp>
        <p:nvSpPr>
          <p:cNvPr id="16" name="Shape 13"/>
          <p:cNvSpPr/>
          <p:nvPr/>
        </p:nvSpPr>
        <p:spPr>
          <a:xfrm>
            <a:off x="6277356" y="3611880"/>
            <a:ext cx="5344668" cy="1783080"/>
          </a:xfrm>
          <a:prstGeom prst="roundRect">
            <a:avLst>
              <a:gd name="adj" fmla="val 4615"/>
            </a:avLst>
          </a:prstGeom>
          <a:solidFill>
            <a:srgbClr val="EEF0FC"/>
          </a:solidFill>
          <a:ln/>
        </p:spPr>
      </p:sp>
      <p:sp>
        <p:nvSpPr>
          <p:cNvPr id="17" name="Text 14"/>
          <p:cNvSpPr/>
          <p:nvPr/>
        </p:nvSpPr>
        <p:spPr>
          <a:xfrm>
            <a:off x="6533388" y="3813048"/>
            <a:ext cx="4832604" cy="292608"/>
          </a:xfrm>
          <a:prstGeom prst="rect">
            <a:avLst/>
          </a:prstGeom>
          <a:noFill/>
          <a:ln/>
        </p:spPr>
        <p:txBody>
          <a:bodyPr wrap="square" lIns="0" tIns="0" rIns="0" bIns="0" rtlCol="0" anchor="ctr"/>
          <a:lstStyle/>
          <a:p>
            <a:pPr indent="0" marL="0">
              <a:buNone/>
            </a:pPr>
            <a:r>
              <a:rPr lang="en-US" sz="1450" b="1" dirty="0">
                <a:solidFill>
                  <a:srgbClr val="4B45C4"/>
                </a:solidFill>
                <a:latin typeface="Calibri" pitchFamily="34" charset="0"/>
                <a:ea typeface="Calibri" pitchFamily="34" charset="-122"/>
                <a:cs typeface="Calibri" pitchFamily="34" charset="-120"/>
              </a:rPr>
              <a:t>Cotas de Lee</a:t>
            </a:r>
            <a:endParaRPr lang="en-US" sz="1450" dirty="0"/>
          </a:p>
        </p:txBody>
      </p:sp>
      <p:sp>
        <p:nvSpPr>
          <p:cNvPr id="18" name="Text 15"/>
          <p:cNvSpPr/>
          <p:nvPr/>
        </p:nvSpPr>
        <p:spPr>
          <a:xfrm>
            <a:off x="6533388" y="4178808"/>
            <a:ext cx="4832604" cy="1069848"/>
          </a:xfrm>
          <a:prstGeom prst="rect">
            <a:avLst/>
          </a:prstGeom>
          <a:noFill/>
          <a:ln/>
        </p:spPr>
        <p:txBody>
          <a:bodyPr wrap="square" lIns="0" tIns="0" rIns="0" bIns="0" rtlCol="0" anchor="ctr"/>
          <a:lstStyle/>
          <a:p>
            <a:pPr indent="0" marL="0">
              <a:lnSpc>
                <a:spcPct val="114000"/>
              </a:lnSpc>
              <a:buNone/>
            </a:pPr>
            <a:r>
              <a:rPr lang="en-US" sz="1250" dirty="0">
                <a:solidFill>
                  <a:srgbClr val="2B2B3A"/>
                </a:solidFill>
                <a:latin typeface="Calibri" pitchFamily="34" charset="0"/>
                <a:ea typeface="Calibri" pitchFamily="34" charset="-122"/>
                <a:cs typeface="Calibri" pitchFamily="34" charset="-120"/>
              </a:rPr>
              <a:t>Añade un supuesto de monotonicidad: la atrición empuja en una sola dirección. Con él se recorta el grupo que perdió menos gente hasta igualar las tasas. El intervalo se estrecha bastante, al precio de ese supuesto.</a:t>
            </a:r>
            <a:endParaRPr lang="en-US" sz="1250" dirty="0"/>
          </a:p>
        </p:txBody>
      </p:sp>
      <p:sp>
        <p:nvSpPr>
          <p:cNvPr id="19" name="Shape 16"/>
          <p:cNvSpPr/>
          <p:nvPr/>
        </p:nvSpPr>
        <p:spPr>
          <a:xfrm>
            <a:off x="566928" y="5577840"/>
            <a:ext cx="11055096" cy="640080"/>
          </a:xfrm>
          <a:prstGeom prst="roundRect">
            <a:avLst>
              <a:gd name="adj" fmla="val 10000"/>
            </a:avLst>
          </a:prstGeom>
          <a:solidFill>
            <a:srgbClr val="1E1B4A"/>
          </a:solidFill>
          <a:ln/>
        </p:spPr>
      </p:sp>
      <p:sp>
        <p:nvSpPr>
          <p:cNvPr id="20" name="Text 17"/>
          <p:cNvSpPr/>
          <p:nvPr/>
        </p:nvSpPr>
        <p:spPr>
          <a:xfrm>
            <a:off x="859536" y="5614416"/>
            <a:ext cx="10469880" cy="566928"/>
          </a:xfrm>
          <a:prstGeom prst="rect">
            <a:avLst/>
          </a:prstGeom>
          <a:noFill/>
          <a:ln/>
        </p:spPr>
        <p:txBody>
          <a:bodyPr wrap="square" lIns="0" tIns="0" rIns="0" bIns="0" rtlCol="0" anchor="ctr"/>
          <a:lstStyle/>
          <a:p>
            <a:pPr indent="0" marL="0">
              <a:lnSpc>
                <a:spcPct val="110000"/>
              </a:lnSpc>
              <a:buNone/>
            </a:pPr>
            <a:r>
              <a:rPr lang="en-US" sz="1250" dirty="0">
                <a:solidFill>
                  <a:srgbClr val="AAB3F4"/>
                </a:solidFill>
                <a:latin typeface="Calibri" pitchFamily="34" charset="0"/>
                <a:ea typeface="Calibri" pitchFamily="34" charset="-122"/>
                <a:cs typeface="Calibri" pitchFamily="34" charset="-120"/>
              </a:rPr>
              <a:t>Las cotas no entregan un número: entregan un intervalo honesto. Si la conclusión sobrevive a todo el rango, es robusta; si se cae en la mitad del rango, el dato no alcanza para sostenerla.</a:t>
            </a:r>
            <a:endParaRPr lang="en-US" sz="1250" dirty="0"/>
          </a:p>
        </p:txBody>
      </p:sp>
      <p:sp>
        <p:nvSpPr>
          <p:cNvPr id="21" name="Text 18"/>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Limitaciones · Atrición</a:t>
            </a:r>
            <a:endParaRPr lang="en-US" sz="900" dirty="0"/>
          </a:p>
        </p:txBody>
      </p:sp>
      <p:sp>
        <p:nvSpPr>
          <p:cNvPr id="22" name="Text 19"/>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Clusterización y estratificación</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Dos decisiones que se toman al diseñar el sorteo. Una cuesta poder; la otra lo gana.</a:t>
            </a:r>
            <a:endParaRPr lang="en-US" sz="1350" dirty="0"/>
          </a:p>
        </p:txBody>
      </p:sp>
      <p:pic>
        <p:nvPicPr>
          <p:cNvPr id="6" name="Image 1" descr="preencoded.png">    </p:cNvPr>
          <p:cNvPicPr>
            <a:picLocks noChangeAspect="1"/>
          </p:cNvPicPr>
          <p:nvPr/>
        </p:nvPicPr>
        <p:blipFill>
          <a:blip r:embed="rId2"/>
          <a:stretch>
            <a:fillRect/>
          </a:stretch>
        </p:blipFill>
        <p:spPr>
          <a:xfrm>
            <a:off x="566928" y="1609344"/>
            <a:ext cx="5943600" cy="2478024"/>
          </a:xfrm>
          <a:prstGeom prst="rect">
            <a:avLst/>
          </a:prstGeom>
        </p:spPr>
      </p:pic>
      <p:sp>
        <p:nvSpPr>
          <p:cNvPr id="7" name="Shape 3"/>
          <p:cNvSpPr/>
          <p:nvPr/>
        </p:nvSpPr>
        <p:spPr>
          <a:xfrm>
            <a:off x="6739128" y="1609344"/>
            <a:ext cx="4882896" cy="2478024"/>
          </a:xfrm>
          <a:prstGeom prst="roundRect">
            <a:avLst>
              <a:gd name="adj" fmla="val 3321"/>
            </a:avLst>
          </a:prstGeom>
          <a:solidFill>
            <a:srgbClr val="EEF0FC"/>
          </a:solidFill>
          <a:ln/>
        </p:spPr>
      </p:sp>
      <p:sp>
        <p:nvSpPr>
          <p:cNvPr id="8" name="Text 4"/>
          <p:cNvSpPr/>
          <p:nvPr/>
        </p:nvSpPr>
        <p:spPr>
          <a:xfrm>
            <a:off x="7013448" y="1719072"/>
            <a:ext cx="4334256" cy="256032"/>
          </a:xfrm>
          <a:prstGeom prst="rect">
            <a:avLst/>
          </a:prstGeom>
          <a:noFill/>
          <a:ln/>
        </p:spPr>
        <p:txBody>
          <a:bodyPr wrap="square" lIns="0" tIns="0" rIns="0" bIns="0" rtlCol="0" anchor="ctr"/>
          <a:lstStyle/>
          <a:p>
            <a:pPr indent="0" marL="0">
              <a:buNone/>
            </a:pPr>
            <a:r>
              <a:rPr lang="en-US" sz="1000" b="1" spc="70" kern="0" dirty="0">
                <a:solidFill>
                  <a:srgbClr val="4B45C4"/>
                </a:solidFill>
                <a:latin typeface="Calibri" pitchFamily="34" charset="0"/>
                <a:ea typeface="Calibri" pitchFamily="34" charset="-122"/>
                <a:cs typeface="Calibri" pitchFamily="34" charset="-120"/>
              </a:rPr>
              <a:t>C L U S T E R I Z A C I Ó N</a:t>
            </a:r>
            <a:endParaRPr lang="en-US" sz="1000" dirty="0"/>
          </a:p>
        </p:txBody>
      </p:sp>
      <p:sp>
        <p:nvSpPr>
          <p:cNvPr id="9" name="Text 5"/>
          <p:cNvSpPr/>
          <p:nvPr/>
        </p:nvSpPr>
        <p:spPr>
          <a:xfrm>
            <a:off x="7013448" y="1993392"/>
            <a:ext cx="4334256" cy="256032"/>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Cuándo se usa</a:t>
            </a:r>
            <a:endParaRPr lang="en-US" sz="1300" dirty="0"/>
          </a:p>
        </p:txBody>
      </p:sp>
      <p:sp>
        <p:nvSpPr>
          <p:cNvPr id="10" name="Text 6"/>
          <p:cNvSpPr/>
          <p:nvPr/>
        </p:nvSpPr>
        <p:spPr>
          <a:xfrm>
            <a:off x="7013448" y="2267712"/>
            <a:ext cx="4334256" cy="868680"/>
          </a:xfrm>
          <a:prstGeom prst="rect">
            <a:avLst/>
          </a:prstGeom>
          <a:noFill/>
          <a:ln/>
        </p:spPr>
        <p:txBody>
          <a:bodyPr wrap="square" lIns="0" tIns="0" rIns="0" bIns="0" rtlCol="0" anchor="ctr"/>
          <a:lstStyle/>
          <a:p>
            <a:pPr indent="0" marL="0">
              <a:lnSpc>
                <a:spcPct val="114000"/>
              </a:lnSpc>
              <a:buNone/>
            </a:pPr>
            <a:r>
              <a:rPr lang="en-US" sz="1150" dirty="0">
                <a:solidFill>
                  <a:srgbClr val="2B2B3A"/>
                </a:solidFill>
                <a:latin typeface="Calibri" pitchFamily="34" charset="0"/>
                <a:ea typeface="Calibri" pitchFamily="34" charset="-122"/>
                <a:cs typeface="Calibri" pitchFamily="34" charset="-120"/>
              </a:rPr>
              <a:t>Cuando el tratamiento no se puede dar a una persona sin dárselo a todo su grupo (una escuela, un barrio, un municipio), o cuando habría contagio entre vecinos. Se sortea el conglomerado completo.</a:t>
            </a:r>
            <a:endParaRPr lang="en-US" sz="1150" dirty="0"/>
          </a:p>
        </p:txBody>
      </p:sp>
      <p:sp>
        <p:nvSpPr>
          <p:cNvPr id="11" name="Text 7"/>
          <p:cNvSpPr/>
          <p:nvPr/>
        </p:nvSpPr>
        <p:spPr>
          <a:xfrm>
            <a:off x="7013448" y="3163824"/>
            <a:ext cx="4334256" cy="256032"/>
          </a:xfrm>
          <a:prstGeom prst="rect">
            <a:avLst/>
          </a:prstGeom>
          <a:noFill/>
          <a:ln/>
        </p:spPr>
        <p:txBody>
          <a:bodyPr wrap="square" lIns="0" tIns="0" rIns="0" bIns="0" rtlCol="0" anchor="ctr"/>
          <a:lstStyle/>
          <a:p>
            <a:pPr indent="0" marL="0">
              <a:buNone/>
            </a:pPr>
            <a:r>
              <a:rPr lang="en-US" sz="1300" b="1" dirty="0">
                <a:solidFill>
                  <a:srgbClr val="A83A57"/>
                </a:solidFill>
                <a:latin typeface="Calibri" pitchFamily="34" charset="0"/>
                <a:ea typeface="Calibri" pitchFamily="34" charset="-122"/>
                <a:cs typeface="Calibri" pitchFamily="34" charset="-120"/>
              </a:rPr>
              <a:t>Qué cuesta</a:t>
            </a:r>
            <a:endParaRPr lang="en-US" sz="1300" dirty="0"/>
          </a:p>
        </p:txBody>
      </p:sp>
      <p:sp>
        <p:nvSpPr>
          <p:cNvPr id="12" name="Text 8"/>
          <p:cNvSpPr/>
          <p:nvPr/>
        </p:nvSpPr>
        <p:spPr>
          <a:xfrm>
            <a:off x="7013448" y="3438144"/>
            <a:ext cx="4334256" cy="566928"/>
          </a:xfrm>
          <a:prstGeom prst="rect">
            <a:avLst/>
          </a:prstGeom>
          <a:noFill/>
          <a:ln/>
        </p:spPr>
        <p:txBody>
          <a:bodyPr wrap="square" lIns="0" tIns="0" rIns="0" bIns="0" rtlCol="0" anchor="ctr"/>
          <a:lstStyle/>
          <a:p>
            <a:pPr indent="0" marL="0">
              <a:lnSpc>
                <a:spcPct val="114000"/>
              </a:lnSpc>
              <a:buNone/>
            </a:pPr>
            <a:r>
              <a:rPr lang="en-US" sz="1150" dirty="0">
                <a:solidFill>
                  <a:srgbClr val="2B2B3A"/>
                </a:solidFill>
                <a:latin typeface="Calibri" pitchFamily="34" charset="0"/>
                <a:ea typeface="Calibri" pitchFamily="34" charset="-122"/>
                <a:cs typeface="Calibri" pitchFamily="34" charset="-120"/>
              </a:rPr>
              <a:t>Los errores estándar se agrupan al nivel del sorteo y el poder cae: lo que manda ya no es el número de personas, sino el número de conglomerados.</a:t>
            </a:r>
            <a:endParaRPr lang="en-US" sz="1150" dirty="0"/>
          </a:p>
        </p:txBody>
      </p:sp>
      <p:sp>
        <p:nvSpPr>
          <p:cNvPr id="13" name="Shape 9"/>
          <p:cNvSpPr/>
          <p:nvPr/>
        </p:nvSpPr>
        <p:spPr>
          <a:xfrm>
            <a:off x="566928" y="4224528"/>
            <a:ext cx="5943600" cy="1170432"/>
          </a:xfrm>
          <a:prstGeom prst="roundRect">
            <a:avLst>
              <a:gd name="adj" fmla="val 7031"/>
            </a:avLst>
          </a:prstGeom>
          <a:solidFill>
            <a:srgbClr val="1E1B4A"/>
          </a:solidFill>
          <a:ln/>
        </p:spPr>
      </p:sp>
      <p:sp>
        <p:nvSpPr>
          <p:cNvPr id="14" name="Text 10"/>
          <p:cNvSpPr/>
          <p:nvPr/>
        </p:nvSpPr>
        <p:spPr>
          <a:xfrm>
            <a:off x="841248" y="4297680"/>
            <a:ext cx="5394960" cy="237744"/>
          </a:xfrm>
          <a:prstGeom prst="rect">
            <a:avLst/>
          </a:prstGeom>
          <a:noFill/>
          <a:ln/>
        </p:spPr>
        <p:txBody>
          <a:bodyPr wrap="square" lIns="0" tIns="0" rIns="0" bIns="0" rtlCol="0" anchor="ctr"/>
          <a:lstStyle/>
          <a:p>
            <a:pPr indent="0" marL="0">
              <a:buNone/>
            </a:pPr>
            <a:r>
              <a:rPr lang="en-US" sz="950" b="1" spc="60" kern="0" dirty="0">
                <a:solidFill>
                  <a:srgbClr val="8B87F5"/>
                </a:solidFill>
                <a:latin typeface="Calibri" pitchFamily="34" charset="0"/>
                <a:ea typeface="Calibri" pitchFamily="34" charset="-122"/>
                <a:cs typeface="Calibri" pitchFamily="34" charset="-120"/>
              </a:rPr>
              <a:t>E F E C T O   D E   D I S E Ñ O</a:t>
            </a:r>
            <a:endParaRPr lang="en-US" sz="950" dirty="0"/>
          </a:p>
        </p:txBody>
      </p:sp>
      <p:pic>
        <p:nvPicPr>
          <p:cNvPr id="15" name="Image 2" descr="/home/claude/fx/deff.png">    </p:cNvPr>
          <p:cNvPicPr>
            <a:picLocks noChangeAspect="1"/>
          </p:cNvPicPr>
          <p:nvPr/>
        </p:nvPicPr>
        <p:blipFill>
          <a:blip r:embed="rId3"/>
          <a:stretch>
            <a:fillRect/>
          </a:stretch>
        </p:blipFill>
        <p:spPr>
          <a:xfrm>
            <a:off x="2470802" y="4590288"/>
            <a:ext cx="2135852" cy="292608"/>
          </a:xfrm>
          <a:prstGeom prst="rect">
            <a:avLst/>
          </a:prstGeom>
        </p:spPr>
      </p:pic>
      <p:sp>
        <p:nvSpPr>
          <p:cNvPr id="16" name="Text 11"/>
          <p:cNvSpPr/>
          <p:nvPr/>
        </p:nvSpPr>
        <p:spPr>
          <a:xfrm>
            <a:off x="841248" y="4992624"/>
            <a:ext cx="5394960" cy="292608"/>
          </a:xfrm>
          <a:prstGeom prst="rect">
            <a:avLst/>
          </a:prstGeom>
          <a:noFill/>
          <a:ln/>
        </p:spPr>
        <p:txBody>
          <a:bodyPr wrap="square" lIns="0" tIns="0" rIns="0" bIns="0" rtlCol="0" anchor="ctr"/>
          <a:lstStyle/>
          <a:p>
            <a:pPr algn="ctr" indent="0" marL="0">
              <a:buNone/>
            </a:pPr>
            <a:r>
              <a:rPr lang="en-US" sz="1050" i="1" dirty="0">
                <a:solidFill>
                  <a:srgbClr val="AAB3F4"/>
                </a:solidFill>
                <a:latin typeface="Calibri" pitchFamily="34" charset="0"/>
                <a:ea typeface="Calibri" pitchFamily="34" charset="-122"/>
                <a:cs typeface="Calibri" pitchFamily="34" charset="-120"/>
              </a:rPr>
              <a:t>m: tamaño del conglomerado   ·   ρ: correlación intraclase (qué tanto se parecen entre sí)</a:t>
            </a:r>
            <a:endParaRPr lang="en-US" sz="1050" dirty="0"/>
          </a:p>
        </p:txBody>
      </p:sp>
      <p:sp>
        <p:nvSpPr>
          <p:cNvPr id="17" name="Shape 12"/>
          <p:cNvSpPr/>
          <p:nvPr/>
        </p:nvSpPr>
        <p:spPr>
          <a:xfrm>
            <a:off x="6739128" y="4224528"/>
            <a:ext cx="4882896" cy="1938528"/>
          </a:xfrm>
          <a:prstGeom prst="roundRect">
            <a:avLst>
              <a:gd name="adj" fmla="val 4245"/>
            </a:avLst>
          </a:prstGeom>
          <a:solidFill>
            <a:srgbClr val="F7F8FD"/>
          </a:solidFill>
          <a:ln/>
        </p:spPr>
      </p:sp>
      <p:sp>
        <p:nvSpPr>
          <p:cNvPr id="18" name="Text 13"/>
          <p:cNvSpPr/>
          <p:nvPr/>
        </p:nvSpPr>
        <p:spPr>
          <a:xfrm>
            <a:off x="7013448" y="4315968"/>
            <a:ext cx="4334256" cy="256032"/>
          </a:xfrm>
          <a:prstGeom prst="rect">
            <a:avLst/>
          </a:prstGeom>
          <a:noFill/>
          <a:ln/>
        </p:spPr>
        <p:txBody>
          <a:bodyPr wrap="square" lIns="0" tIns="0" rIns="0" bIns="0" rtlCol="0" anchor="ctr"/>
          <a:lstStyle/>
          <a:p>
            <a:pPr indent="0" marL="0">
              <a:buNone/>
            </a:pPr>
            <a:r>
              <a:rPr lang="en-US" sz="1000" b="1" spc="70" kern="0" dirty="0">
                <a:solidFill>
                  <a:srgbClr val="1F6F62"/>
                </a:solidFill>
                <a:latin typeface="Calibri" pitchFamily="34" charset="0"/>
                <a:ea typeface="Calibri" pitchFamily="34" charset="-122"/>
                <a:cs typeface="Calibri" pitchFamily="34" charset="-120"/>
              </a:rPr>
              <a:t>E S T R A T I F I C A C I Ó N</a:t>
            </a:r>
            <a:endParaRPr lang="en-US" sz="1000" dirty="0"/>
          </a:p>
        </p:txBody>
      </p:sp>
      <p:sp>
        <p:nvSpPr>
          <p:cNvPr id="19" name="Text 14"/>
          <p:cNvSpPr/>
          <p:nvPr/>
        </p:nvSpPr>
        <p:spPr>
          <a:xfrm>
            <a:off x="7013448" y="4590288"/>
            <a:ext cx="4334256" cy="256032"/>
          </a:xfrm>
          <a:prstGeom prst="rect">
            <a:avLst/>
          </a:prstGeom>
          <a:noFill/>
          <a:ln/>
        </p:spPr>
        <p:txBody>
          <a:bodyPr wrap="square" lIns="0" tIns="0" rIns="0" bIns="0" rtlCol="0" anchor="ctr"/>
          <a:lstStyle/>
          <a:p>
            <a:pPr indent="0" marL="0">
              <a:buNone/>
            </a:pPr>
            <a:r>
              <a:rPr lang="en-US" sz="1300" b="1" dirty="0">
                <a:solidFill>
                  <a:srgbClr val="1E1B4A"/>
                </a:solidFill>
                <a:latin typeface="Calibri" pitchFamily="34" charset="0"/>
                <a:ea typeface="Calibri" pitchFamily="34" charset="-122"/>
                <a:cs typeface="Calibri" pitchFamily="34" charset="-120"/>
              </a:rPr>
              <a:t>Sortear por bloques</a:t>
            </a:r>
            <a:endParaRPr lang="en-US" sz="1300" dirty="0"/>
          </a:p>
        </p:txBody>
      </p:sp>
      <p:sp>
        <p:nvSpPr>
          <p:cNvPr id="20" name="Text 15"/>
          <p:cNvSpPr/>
          <p:nvPr/>
        </p:nvSpPr>
        <p:spPr>
          <a:xfrm>
            <a:off x="7013448" y="4864608"/>
            <a:ext cx="4334256" cy="1207008"/>
          </a:xfrm>
          <a:prstGeom prst="rect">
            <a:avLst/>
          </a:prstGeom>
          <a:noFill/>
          <a:ln/>
        </p:spPr>
        <p:txBody>
          <a:bodyPr wrap="square" lIns="0" tIns="0" rIns="0" bIns="0" rtlCol="0" anchor="ctr"/>
          <a:lstStyle/>
          <a:p>
            <a:pPr indent="0" marL="0">
              <a:lnSpc>
                <a:spcPct val="114000"/>
              </a:lnSpc>
              <a:buNone/>
            </a:pPr>
            <a:r>
              <a:rPr lang="en-US" sz="1100" dirty="0">
                <a:solidFill>
                  <a:srgbClr val="2B2B3A"/>
                </a:solidFill>
                <a:latin typeface="Calibri" pitchFamily="34" charset="0"/>
                <a:ea typeface="Calibri" pitchFamily="34" charset="-122"/>
                <a:cs typeface="Calibri" pitchFamily="34" charset="-120"/>
              </a:rPr>
              <a:t>Se agrupan las unidades por características previas —región, tamaño, resultado de línea base— y se aleatoriza dentro de cada bloque. Garantiza balance en esas variables en lugar de dejarlo al azar, reduce la varianza y mejora el poder sin costar muestra. Los estratos entran después como controles en la regresión.</a:t>
            </a:r>
            <a:endParaRPr lang="en-US" sz="1100" dirty="0"/>
          </a:p>
        </p:txBody>
      </p:sp>
      <p:sp>
        <p:nvSpPr>
          <p:cNvPr id="21" name="Shape 16"/>
          <p:cNvSpPr/>
          <p:nvPr/>
        </p:nvSpPr>
        <p:spPr>
          <a:xfrm>
            <a:off x="566928" y="5504688"/>
            <a:ext cx="5943600" cy="658368"/>
          </a:xfrm>
          <a:prstGeom prst="roundRect">
            <a:avLst>
              <a:gd name="adj" fmla="val 9722"/>
            </a:avLst>
          </a:prstGeom>
          <a:solidFill>
            <a:srgbClr val="F7F8FD"/>
          </a:solidFill>
          <a:ln/>
        </p:spPr>
      </p:sp>
      <p:sp>
        <p:nvSpPr>
          <p:cNvPr id="22" name="Text 17"/>
          <p:cNvSpPr/>
          <p:nvPr/>
        </p:nvSpPr>
        <p:spPr>
          <a:xfrm>
            <a:off x="859536" y="5541264"/>
            <a:ext cx="5358384" cy="585216"/>
          </a:xfrm>
          <a:prstGeom prst="rect">
            <a:avLst/>
          </a:prstGeom>
          <a:noFill/>
          <a:ln/>
        </p:spPr>
        <p:txBody>
          <a:bodyPr wrap="square" lIns="0" tIns="0" rIns="0" bIns="0" rtlCol="0" anchor="ctr"/>
          <a:lstStyle/>
          <a:p>
            <a:pPr indent="0" marL="0">
              <a:lnSpc>
                <a:spcPct val="110000"/>
              </a:lnSpc>
              <a:buNone/>
            </a:pPr>
            <a:r>
              <a:rPr lang="en-US" sz="1100" dirty="0">
                <a:solidFill>
                  <a:srgbClr val="2B2B3A"/>
                </a:solidFill>
                <a:latin typeface="Calibri" pitchFamily="34" charset="0"/>
                <a:ea typeface="Calibri" pitchFamily="34" charset="-122"/>
                <a:cs typeface="Calibri" pitchFamily="34" charset="-120"/>
              </a:rPr>
              <a:t>Regla práctica: clusterizar solo cuando la naturaleza del tratamiento lo obliga; estratificar casi siempre que se pueda.</a:t>
            </a:r>
            <a:endParaRPr lang="en-US" sz="1100" dirty="0"/>
          </a:p>
        </p:txBody>
      </p:sp>
      <p:sp>
        <p:nvSpPr>
          <p:cNvPr id="23" name="Text 18"/>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Cálculos de poder · Clusterización y estratificación</a:t>
            </a:r>
            <a:endParaRPr lang="en-US" sz="900" dirty="0"/>
          </a:p>
        </p:txBody>
      </p:sp>
      <p:sp>
        <p:nvSpPr>
          <p:cNvPr id="24" name="Text 19"/>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Tipos de error y el poder</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Toda prueba puede fallar de dos maneras opuestas. La significancia controla una; el poder controla la otra.</a:t>
            </a:r>
            <a:endParaRPr lang="en-US" sz="1350" dirty="0"/>
          </a:p>
        </p:txBody>
      </p:sp>
      <p:pic>
        <p:nvPicPr>
          <p:cNvPr id="6" name="Image 1" descr="preencoded.png">    </p:cNvPr>
          <p:cNvPicPr>
            <a:picLocks noChangeAspect="1"/>
          </p:cNvPicPr>
          <p:nvPr/>
        </p:nvPicPr>
        <p:blipFill>
          <a:blip r:embed="rId2"/>
          <a:stretch>
            <a:fillRect/>
          </a:stretch>
        </p:blipFill>
        <p:spPr>
          <a:xfrm>
            <a:off x="566928" y="1627632"/>
            <a:ext cx="7086600" cy="3291840"/>
          </a:xfrm>
          <a:prstGeom prst="rect">
            <a:avLst/>
          </a:prstGeom>
        </p:spPr>
      </p:pic>
      <p:sp>
        <p:nvSpPr>
          <p:cNvPr id="7" name="Shape 3"/>
          <p:cNvSpPr/>
          <p:nvPr/>
        </p:nvSpPr>
        <p:spPr>
          <a:xfrm>
            <a:off x="566928" y="5074920"/>
            <a:ext cx="7086600" cy="822960"/>
          </a:xfrm>
          <a:prstGeom prst="roundRect">
            <a:avLst>
              <a:gd name="adj" fmla="val 7778"/>
            </a:avLst>
          </a:prstGeom>
          <a:solidFill>
            <a:srgbClr val="F7F8FD"/>
          </a:solidFill>
          <a:ln/>
        </p:spPr>
      </p:sp>
      <p:sp>
        <p:nvSpPr>
          <p:cNvPr id="8" name="Text 4"/>
          <p:cNvSpPr/>
          <p:nvPr/>
        </p:nvSpPr>
        <p:spPr>
          <a:xfrm>
            <a:off x="859536" y="5111496"/>
            <a:ext cx="6501384" cy="749808"/>
          </a:xfrm>
          <a:prstGeom prst="rect">
            <a:avLst/>
          </a:prstGeom>
          <a:noFill/>
          <a:ln/>
        </p:spPr>
        <p:txBody>
          <a:bodyPr wrap="square" lIns="0" tIns="0" rIns="0" bIns="0" rtlCol="0" anchor="ctr"/>
          <a:lstStyle/>
          <a:p>
            <a:pPr indent="0" marL="0">
              <a:lnSpc>
                <a:spcPct val="110000"/>
              </a:lnSpc>
              <a:buNone/>
            </a:pPr>
            <a:r>
              <a:rPr lang="en-US" sz="1100" dirty="0">
                <a:solidFill>
                  <a:srgbClr val="2B2B3A"/>
                </a:solidFill>
                <a:latin typeface="Calibri" pitchFamily="34" charset="0"/>
                <a:ea typeface="Calibri" pitchFamily="34" charset="-122"/>
                <a:cs typeface="Calibri" pitchFamily="34" charset="-120"/>
              </a:rPr>
              <a:t>Bajar α —ser más exigente para declarar un hallazgo— sube κ si nada más cambia. Solo el diseño, con más muestra o menos varianza, mejora las dos cosas a la vez.</a:t>
            </a:r>
            <a:endParaRPr lang="en-US" sz="1100" dirty="0"/>
          </a:p>
        </p:txBody>
      </p:sp>
      <p:sp>
        <p:nvSpPr>
          <p:cNvPr id="9" name="Shape 5"/>
          <p:cNvSpPr/>
          <p:nvPr/>
        </p:nvSpPr>
        <p:spPr>
          <a:xfrm>
            <a:off x="7863840" y="1627632"/>
            <a:ext cx="3758184" cy="1389888"/>
          </a:xfrm>
          <a:prstGeom prst="roundRect">
            <a:avLst>
              <a:gd name="adj" fmla="val 5921"/>
            </a:avLst>
          </a:prstGeom>
          <a:solidFill>
            <a:srgbClr val="FBF0F3"/>
          </a:solidFill>
          <a:ln/>
        </p:spPr>
      </p:sp>
      <p:sp>
        <p:nvSpPr>
          <p:cNvPr id="10" name="Text 6"/>
          <p:cNvSpPr/>
          <p:nvPr/>
        </p:nvSpPr>
        <p:spPr>
          <a:xfrm>
            <a:off x="8119872" y="1737360"/>
            <a:ext cx="3246120" cy="237744"/>
          </a:xfrm>
          <a:prstGeom prst="rect">
            <a:avLst/>
          </a:prstGeom>
          <a:noFill/>
          <a:ln/>
        </p:spPr>
        <p:txBody>
          <a:bodyPr wrap="square" lIns="0" tIns="0" rIns="0" bIns="0" rtlCol="0" anchor="ctr"/>
          <a:lstStyle/>
          <a:p>
            <a:pPr indent="0" marL="0">
              <a:buNone/>
            </a:pPr>
            <a:r>
              <a:rPr lang="en-US" sz="950" b="1" spc="60" kern="0" dirty="0">
                <a:solidFill>
                  <a:srgbClr val="A83A57"/>
                </a:solidFill>
                <a:latin typeface="Calibri" pitchFamily="34" charset="0"/>
                <a:ea typeface="Calibri" pitchFamily="34" charset="-122"/>
                <a:cs typeface="Calibri" pitchFamily="34" charset="-120"/>
              </a:rPr>
              <a:t>E R R O R   T I P O   I   ·   α</a:t>
            </a:r>
            <a:endParaRPr lang="en-US" sz="950" dirty="0"/>
          </a:p>
        </p:txBody>
      </p:sp>
      <p:sp>
        <p:nvSpPr>
          <p:cNvPr id="11" name="Text 7"/>
          <p:cNvSpPr/>
          <p:nvPr/>
        </p:nvSpPr>
        <p:spPr>
          <a:xfrm>
            <a:off x="8119872" y="2011680"/>
            <a:ext cx="3246120" cy="914400"/>
          </a:xfrm>
          <a:prstGeom prst="rect">
            <a:avLst/>
          </a:prstGeom>
          <a:noFill/>
          <a:ln/>
        </p:spPr>
        <p:txBody>
          <a:bodyPr wrap="square" lIns="0" tIns="0" rIns="0" bIns="0" rtlCol="0" anchor="ctr"/>
          <a:lstStyle/>
          <a:p>
            <a:pPr indent="0" marL="0">
              <a:lnSpc>
                <a:spcPct val="115000"/>
              </a:lnSpc>
              <a:buNone/>
            </a:pPr>
            <a:r>
              <a:rPr lang="en-US" sz="1200" dirty="0">
                <a:solidFill>
                  <a:srgbClr val="2B2B3A"/>
                </a:solidFill>
                <a:latin typeface="Calibri" pitchFamily="34" charset="0"/>
                <a:ea typeface="Calibri" pitchFamily="34" charset="-122"/>
                <a:cs typeface="Calibri" pitchFamily="34" charset="-120"/>
              </a:rPr>
              <a:t>Concluir que hay efecto cuando no lo hay. Es el nivel de significancia: se fija de antemano, casi siempre en 0,05.</a:t>
            </a:r>
            <a:endParaRPr lang="en-US" sz="1200" dirty="0"/>
          </a:p>
        </p:txBody>
      </p:sp>
      <p:sp>
        <p:nvSpPr>
          <p:cNvPr id="12" name="Shape 8"/>
          <p:cNvSpPr/>
          <p:nvPr/>
        </p:nvSpPr>
        <p:spPr>
          <a:xfrm>
            <a:off x="7863840" y="3145536"/>
            <a:ext cx="3758184" cy="1389888"/>
          </a:xfrm>
          <a:prstGeom prst="roundRect">
            <a:avLst>
              <a:gd name="adj" fmla="val 5921"/>
            </a:avLst>
          </a:prstGeom>
          <a:solidFill>
            <a:srgbClr val="EEF0FC"/>
          </a:solidFill>
          <a:ln/>
        </p:spPr>
      </p:sp>
      <p:sp>
        <p:nvSpPr>
          <p:cNvPr id="13" name="Text 9"/>
          <p:cNvSpPr/>
          <p:nvPr/>
        </p:nvSpPr>
        <p:spPr>
          <a:xfrm>
            <a:off x="8119872" y="3255264"/>
            <a:ext cx="3246120" cy="237744"/>
          </a:xfrm>
          <a:prstGeom prst="rect">
            <a:avLst/>
          </a:prstGeom>
          <a:noFill/>
          <a:ln/>
        </p:spPr>
        <p:txBody>
          <a:bodyPr wrap="square" lIns="0" tIns="0" rIns="0" bIns="0" rtlCol="0" anchor="ctr"/>
          <a:lstStyle/>
          <a:p>
            <a:pPr indent="0" marL="0">
              <a:buNone/>
            </a:pPr>
            <a:r>
              <a:rPr lang="en-US" sz="950" b="1" spc="60" kern="0" dirty="0">
                <a:solidFill>
                  <a:srgbClr val="4B45C4"/>
                </a:solidFill>
                <a:latin typeface="Calibri" pitchFamily="34" charset="0"/>
                <a:ea typeface="Calibri" pitchFamily="34" charset="-122"/>
                <a:cs typeface="Calibri" pitchFamily="34" charset="-120"/>
              </a:rPr>
              <a:t>E R R O R   T I P O   I I   ·   κ</a:t>
            </a:r>
            <a:endParaRPr lang="en-US" sz="950" dirty="0"/>
          </a:p>
        </p:txBody>
      </p:sp>
      <p:sp>
        <p:nvSpPr>
          <p:cNvPr id="14" name="Text 10"/>
          <p:cNvSpPr/>
          <p:nvPr/>
        </p:nvSpPr>
        <p:spPr>
          <a:xfrm>
            <a:off x="8119872" y="3529584"/>
            <a:ext cx="3246120" cy="914400"/>
          </a:xfrm>
          <a:prstGeom prst="rect">
            <a:avLst/>
          </a:prstGeom>
          <a:noFill/>
          <a:ln/>
        </p:spPr>
        <p:txBody>
          <a:bodyPr wrap="square" lIns="0" tIns="0" rIns="0" bIns="0" rtlCol="0" anchor="ctr"/>
          <a:lstStyle/>
          <a:p>
            <a:pPr indent="0" marL="0">
              <a:lnSpc>
                <a:spcPct val="115000"/>
              </a:lnSpc>
              <a:buNone/>
            </a:pPr>
            <a:r>
              <a:rPr lang="en-US" sz="1200" dirty="0">
                <a:solidFill>
                  <a:srgbClr val="2B2B3A"/>
                </a:solidFill>
                <a:latin typeface="Calibri" pitchFamily="34" charset="0"/>
                <a:ea typeface="Calibri" pitchFamily="34" charset="-122"/>
                <a:cs typeface="Calibri" pitchFamily="34" charset="-120"/>
              </a:rPr>
              <a:t>No detectar un efecto que sí existe. No se fija: resulta del diseño —muestra, varianza y tamaño del efecto real—.</a:t>
            </a:r>
            <a:endParaRPr lang="en-US" sz="1200" dirty="0"/>
          </a:p>
        </p:txBody>
      </p:sp>
      <p:sp>
        <p:nvSpPr>
          <p:cNvPr id="15" name="Shape 11"/>
          <p:cNvSpPr/>
          <p:nvPr/>
        </p:nvSpPr>
        <p:spPr>
          <a:xfrm>
            <a:off x="7863840" y="4663440"/>
            <a:ext cx="3758184" cy="1444752"/>
          </a:xfrm>
          <a:prstGeom prst="roundRect">
            <a:avLst>
              <a:gd name="adj" fmla="val 5696"/>
            </a:avLst>
          </a:prstGeom>
          <a:solidFill>
            <a:srgbClr val="1E1B4A"/>
          </a:solidFill>
          <a:ln/>
        </p:spPr>
      </p:sp>
      <p:sp>
        <p:nvSpPr>
          <p:cNvPr id="16" name="Text 12"/>
          <p:cNvSpPr/>
          <p:nvPr/>
        </p:nvSpPr>
        <p:spPr>
          <a:xfrm>
            <a:off x="8119872" y="4773168"/>
            <a:ext cx="3246120" cy="256032"/>
          </a:xfrm>
          <a:prstGeom prst="rect">
            <a:avLst/>
          </a:prstGeom>
          <a:noFill/>
          <a:ln/>
        </p:spPr>
        <p:txBody>
          <a:bodyPr wrap="square" lIns="0" tIns="0" rIns="0" bIns="0" rtlCol="0" anchor="ctr"/>
          <a:lstStyle/>
          <a:p>
            <a:pPr indent="0" marL="0">
              <a:buNone/>
            </a:pPr>
            <a:r>
              <a:rPr lang="en-US" sz="1000" b="1" spc="60" kern="0" dirty="0">
                <a:solidFill>
                  <a:srgbClr val="8B87F5"/>
                </a:solidFill>
                <a:latin typeface="Calibri" pitchFamily="34" charset="0"/>
                <a:ea typeface="Calibri" pitchFamily="34" charset="-122"/>
                <a:cs typeface="Calibri" pitchFamily="34" charset="-120"/>
              </a:rPr>
              <a:t>P O D E R   =   1 − κ</a:t>
            </a:r>
            <a:endParaRPr lang="en-US" sz="1000" dirty="0"/>
          </a:p>
        </p:txBody>
      </p:sp>
      <p:sp>
        <p:nvSpPr>
          <p:cNvPr id="17" name="Text 13"/>
          <p:cNvSpPr/>
          <p:nvPr/>
        </p:nvSpPr>
        <p:spPr>
          <a:xfrm>
            <a:off x="8119872" y="5010912"/>
            <a:ext cx="3246120" cy="45720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0,80</a:t>
            </a:r>
            <a:endParaRPr lang="en-US" sz="3000" dirty="0"/>
          </a:p>
        </p:txBody>
      </p:sp>
      <p:sp>
        <p:nvSpPr>
          <p:cNvPr id="18" name="Text 14"/>
          <p:cNvSpPr/>
          <p:nvPr/>
        </p:nvSpPr>
        <p:spPr>
          <a:xfrm>
            <a:off x="8119872" y="5468112"/>
            <a:ext cx="3246120" cy="548640"/>
          </a:xfrm>
          <a:prstGeom prst="rect">
            <a:avLst/>
          </a:prstGeom>
          <a:noFill/>
          <a:ln/>
        </p:spPr>
        <p:txBody>
          <a:bodyPr wrap="square" lIns="0" tIns="0" rIns="0" bIns="0" rtlCol="0" anchor="ctr"/>
          <a:lstStyle/>
          <a:p>
            <a:pPr indent="0" marL="0">
              <a:lnSpc>
                <a:spcPct val="112000"/>
              </a:lnSpc>
              <a:buNone/>
            </a:pPr>
            <a:r>
              <a:rPr lang="en-US" sz="1100" dirty="0">
                <a:solidFill>
                  <a:srgbClr val="AAB3F4"/>
                </a:solidFill>
                <a:latin typeface="Calibri" pitchFamily="34" charset="0"/>
                <a:ea typeface="Calibri" pitchFamily="34" charset="-122"/>
                <a:cs typeface="Calibri" pitchFamily="34" charset="-120"/>
              </a:rPr>
              <a:t>Convención habitual: detectar el efecto en 8 de cada 10 experimentos como este.</a:t>
            </a:r>
            <a:endParaRPr lang="en-US" sz="1100" dirty="0"/>
          </a:p>
        </p:txBody>
      </p:sp>
      <p:sp>
        <p:nvSpPr>
          <p:cNvPr id="19" name="Text 15"/>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Cálculos de poder · Tipos de error</a:t>
            </a:r>
            <a:endParaRPr lang="en-US" sz="900" dirty="0"/>
          </a:p>
        </p:txBody>
      </p:sp>
      <p:sp>
        <p:nvSpPr>
          <p:cNvPr id="20" name="Text 16"/>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La fórmula de poder: el MDE</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El cálculo de poder no se hace al final: define el tamaño de muestra antes de salir a campo.</a:t>
            </a:r>
            <a:endParaRPr lang="en-US" sz="1350" dirty="0"/>
          </a:p>
        </p:txBody>
      </p:sp>
      <p:sp>
        <p:nvSpPr>
          <p:cNvPr id="6" name="Shape 3"/>
          <p:cNvSpPr/>
          <p:nvPr/>
        </p:nvSpPr>
        <p:spPr>
          <a:xfrm>
            <a:off x="566928" y="1591056"/>
            <a:ext cx="11055096" cy="896112"/>
          </a:xfrm>
          <a:prstGeom prst="roundRect">
            <a:avLst>
              <a:gd name="adj" fmla="val 8163"/>
            </a:avLst>
          </a:prstGeom>
          <a:solidFill>
            <a:srgbClr val="1E1B4A"/>
          </a:solidFill>
          <a:ln/>
        </p:spPr>
      </p:sp>
      <p:pic>
        <p:nvPicPr>
          <p:cNvPr id="7" name="Image 1" descr="/home/claude/fx/mde.png">    </p:cNvPr>
          <p:cNvPicPr>
            <a:picLocks noChangeAspect="1"/>
          </p:cNvPicPr>
          <p:nvPr/>
        </p:nvPicPr>
        <p:blipFill>
          <a:blip r:embed="rId2"/>
          <a:stretch>
            <a:fillRect/>
          </a:stretch>
        </p:blipFill>
        <p:spPr>
          <a:xfrm>
            <a:off x="4476686" y="1792224"/>
            <a:ext cx="3235579" cy="493776"/>
          </a:xfrm>
          <a:prstGeom prst="rect">
            <a:avLst/>
          </a:prstGeom>
        </p:spPr>
      </p:pic>
      <p:sp>
        <p:nvSpPr>
          <p:cNvPr id="8" name="Text 4"/>
          <p:cNvSpPr/>
          <p:nvPr/>
        </p:nvSpPr>
        <p:spPr>
          <a:xfrm>
            <a:off x="566928" y="2560320"/>
            <a:ext cx="11055096" cy="274320"/>
          </a:xfrm>
          <a:prstGeom prst="rect">
            <a:avLst/>
          </a:prstGeom>
          <a:noFill/>
          <a:ln/>
        </p:spPr>
        <p:txBody>
          <a:bodyPr wrap="square" lIns="0" tIns="0" rIns="0" bIns="0" rtlCol="0" anchor="ctr"/>
          <a:lstStyle/>
          <a:p>
            <a:pPr algn="ctr" indent="0" marL="0">
              <a:buNone/>
            </a:pPr>
            <a:r>
              <a:rPr lang="en-US" sz="1150" i="1" dirty="0">
                <a:solidFill>
                  <a:srgbClr val="6E6E85"/>
                </a:solidFill>
                <a:latin typeface="Calibri" pitchFamily="34" charset="0"/>
                <a:ea typeface="Calibri" pitchFamily="34" charset="-122"/>
                <a:cs typeface="Calibri" pitchFamily="34" charset="-120"/>
              </a:rPr>
              <a:t>El efecto más pequeño que el diseño alcanza a detectar. Si el efecto real es menor que el MDE, el experimento dirá «sin efecto» aunque lo haya.</a:t>
            </a:r>
            <a:endParaRPr lang="en-US" sz="1150" dirty="0"/>
          </a:p>
        </p:txBody>
      </p:sp>
      <p:sp>
        <p:nvSpPr>
          <p:cNvPr id="9" name="Shape 5"/>
          <p:cNvSpPr/>
          <p:nvPr/>
        </p:nvSpPr>
        <p:spPr>
          <a:xfrm>
            <a:off x="566928" y="2926080"/>
            <a:ext cx="2035454" cy="1481328"/>
          </a:xfrm>
          <a:prstGeom prst="roundRect">
            <a:avLst>
              <a:gd name="adj" fmla="val 4938"/>
            </a:avLst>
          </a:prstGeom>
          <a:solidFill>
            <a:srgbClr val="EEF0FC"/>
          </a:solidFill>
          <a:ln/>
        </p:spPr>
      </p:sp>
      <p:sp>
        <p:nvSpPr>
          <p:cNvPr id="10" name="Text 6"/>
          <p:cNvSpPr/>
          <p:nvPr/>
        </p:nvSpPr>
        <p:spPr>
          <a:xfrm>
            <a:off x="694944" y="3017520"/>
            <a:ext cx="1779422" cy="365760"/>
          </a:xfrm>
          <a:prstGeom prst="rect">
            <a:avLst/>
          </a:prstGeom>
          <a:noFill/>
          <a:ln/>
        </p:spPr>
        <p:txBody>
          <a:bodyPr wrap="square" lIns="0" tIns="0" rIns="0" bIns="0" rtlCol="0" anchor="ctr"/>
          <a:lstStyle/>
          <a:p>
            <a:pPr algn="ctr" indent="0" marL="0">
              <a:buNone/>
            </a:pPr>
            <a:r>
              <a:rPr lang="en-US" sz="2000" b="1" dirty="0">
                <a:solidFill>
                  <a:srgbClr val="4B45C4"/>
                </a:solidFill>
                <a:latin typeface="Cambria" pitchFamily="34" charset="0"/>
                <a:ea typeface="Cambria" pitchFamily="34" charset="-122"/>
                <a:cs typeface="Cambria" pitchFamily="34" charset="-120"/>
              </a:rPr>
              <a:t>α</a:t>
            </a:r>
            <a:endParaRPr lang="en-US" sz="2000" dirty="0"/>
          </a:p>
        </p:txBody>
      </p:sp>
      <p:sp>
        <p:nvSpPr>
          <p:cNvPr id="11" name="Text 7"/>
          <p:cNvSpPr/>
          <p:nvPr/>
        </p:nvSpPr>
        <p:spPr>
          <a:xfrm>
            <a:off x="694944" y="3401568"/>
            <a:ext cx="1779422" cy="274320"/>
          </a:xfrm>
          <a:prstGeom prst="rect">
            <a:avLst/>
          </a:prstGeom>
          <a:noFill/>
          <a:ln/>
        </p:spPr>
        <p:txBody>
          <a:bodyPr wrap="square" lIns="0" tIns="0" rIns="0" bIns="0" rtlCol="0" anchor="ctr"/>
          <a:lstStyle/>
          <a:p>
            <a:pPr algn="ctr" indent="0" marL="0">
              <a:buNone/>
            </a:pPr>
            <a:r>
              <a:rPr lang="en-US" sz="1150" b="1" dirty="0">
                <a:solidFill>
                  <a:srgbClr val="1E1B4A"/>
                </a:solidFill>
                <a:latin typeface="Calibri" pitchFamily="34" charset="0"/>
                <a:ea typeface="Calibri" pitchFamily="34" charset="-122"/>
                <a:cs typeface="Calibri" pitchFamily="34" charset="-120"/>
              </a:rPr>
              <a:t>Significancia</a:t>
            </a:r>
            <a:endParaRPr lang="en-US" sz="1150" dirty="0"/>
          </a:p>
        </p:txBody>
      </p:sp>
      <p:sp>
        <p:nvSpPr>
          <p:cNvPr id="12" name="Text 8"/>
          <p:cNvSpPr/>
          <p:nvPr/>
        </p:nvSpPr>
        <p:spPr>
          <a:xfrm>
            <a:off x="694944" y="3694176"/>
            <a:ext cx="1779422" cy="640080"/>
          </a:xfrm>
          <a:prstGeom prst="rect">
            <a:avLst/>
          </a:prstGeom>
          <a:noFill/>
          <a:ln/>
        </p:spPr>
        <p:txBody>
          <a:bodyPr wrap="square" lIns="0" tIns="0" rIns="0" bIns="0" rtlCol="0" anchor="ctr"/>
          <a:lstStyle/>
          <a:p>
            <a:pPr algn="ctr" indent="0" marL="0">
              <a:lnSpc>
                <a:spcPct val="110000"/>
              </a:lnSpc>
              <a:buNone/>
            </a:pPr>
            <a:r>
              <a:rPr lang="en-US" sz="1000" dirty="0">
                <a:solidFill>
                  <a:srgbClr val="2B2B3A"/>
                </a:solidFill>
                <a:latin typeface="Calibri" pitchFamily="34" charset="0"/>
                <a:ea typeface="Calibri" pitchFamily="34" charset="-122"/>
                <a:cs typeface="Calibri" pitchFamily="34" charset="-120"/>
              </a:rPr>
              <a:t>Probabilidad de error tipo I. Se fija: casi siempre 0,05.</a:t>
            </a:r>
            <a:endParaRPr lang="en-US" sz="1000" dirty="0"/>
          </a:p>
        </p:txBody>
      </p:sp>
      <p:sp>
        <p:nvSpPr>
          <p:cNvPr id="13" name="Shape 9"/>
          <p:cNvSpPr/>
          <p:nvPr/>
        </p:nvSpPr>
        <p:spPr>
          <a:xfrm>
            <a:off x="2821838" y="2926080"/>
            <a:ext cx="2035454" cy="1481328"/>
          </a:xfrm>
          <a:prstGeom prst="roundRect">
            <a:avLst>
              <a:gd name="adj" fmla="val 4938"/>
            </a:avLst>
          </a:prstGeom>
          <a:solidFill>
            <a:srgbClr val="EEF0FC"/>
          </a:solidFill>
          <a:ln/>
        </p:spPr>
      </p:sp>
      <p:sp>
        <p:nvSpPr>
          <p:cNvPr id="14" name="Text 10"/>
          <p:cNvSpPr/>
          <p:nvPr/>
        </p:nvSpPr>
        <p:spPr>
          <a:xfrm>
            <a:off x="2949854" y="3017520"/>
            <a:ext cx="1779422" cy="365760"/>
          </a:xfrm>
          <a:prstGeom prst="rect">
            <a:avLst/>
          </a:prstGeom>
          <a:noFill/>
          <a:ln/>
        </p:spPr>
        <p:txBody>
          <a:bodyPr wrap="square" lIns="0" tIns="0" rIns="0" bIns="0" rtlCol="0" anchor="ctr"/>
          <a:lstStyle/>
          <a:p>
            <a:pPr algn="ctr" indent="0" marL="0">
              <a:buNone/>
            </a:pPr>
            <a:r>
              <a:rPr lang="en-US" sz="2000" b="1" dirty="0">
                <a:solidFill>
                  <a:srgbClr val="4B45C4"/>
                </a:solidFill>
                <a:latin typeface="Cambria" pitchFamily="34" charset="0"/>
                <a:ea typeface="Cambria" pitchFamily="34" charset="-122"/>
                <a:cs typeface="Cambria" pitchFamily="34" charset="-120"/>
              </a:rPr>
              <a:t>1 − κ</a:t>
            </a:r>
            <a:endParaRPr lang="en-US" sz="2000" dirty="0"/>
          </a:p>
        </p:txBody>
      </p:sp>
      <p:sp>
        <p:nvSpPr>
          <p:cNvPr id="15" name="Text 11"/>
          <p:cNvSpPr/>
          <p:nvPr/>
        </p:nvSpPr>
        <p:spPr>
          <a:xfrm>
            <a:off x="2949854" y="3401568"/>
            <a:ext cx="1779422" cy="274320"/>
          </a:xfrm>
          <a:prstGeom prst="rect">
            <a:avLst/>
          </a:prstGeom>
          <a:noFill/>
          <a:ln/>
        </p:spPr>
        <p:txBody>
          <a:bodyPr wrap="square" lIns="0" tIns="0" rIns="0" bIns="0" rtlCol="0" anchor="ctr"/>
          <a:lstStyle/>
          <a:p>
            <a:pPr algn="ctr" indent="0" marL="0">
              <a:buNone/>
            </a:pPr>
            <a:r>
              <a:rPr lang="en-US" sz="1150" b="1" dirty="0">
                <a:solidFill>
                  <a:srgbClr val="1E1B4A"/>
                </a:solidFill>
                <a:latin typeface="Calibri" pitchFamily="34" charset="0"/>
                <a:ea typeface="Calibri" pitchFamily="34" charset="-122"/>
                <a:cs typeface="Calibri" pitchFamily="34" charset="-120"/>
              </a:rPr>
              <a:t>Poder</a:t>
            </a:r>
            <a:endParaRPr lang="en-US" sz="1150" dirty="0"/>
          </a:p>
        </p:txBody>
      </p:sp>
      <p:sp>
        <p:nvSpPr>
          <p:cNvPr id="16" name="Text 12"/>
          <p:cNvSpPr/>
          <p:nvPr/>
        </p:nvSpPr>
        <p:spPr>
          <a:xfrm>
            <a:off x="2949854" y="3694176"/>
            <a:ext cx="1779422" cy="640080"/>
          </a:xfrm>
          <a:prstGeom prst="rect">
            <a:avLst/>
          </a:prstGeom>
          <a:noFill/>
          <a:ln/>
        </p:spPr>
        <p:txBody>
          <a:bodyPr wrap="square" lIns="0" tIns="0" rIns="0" bIns="0" rtlCol="0" anchor="ctr"/>
          <a:lstStyle/>
          <a:p>
            <a:pPr algn="ctr" indent="0" marL="0">
              <a:lnSpc>
                <a:spcPct val="110000"/>
              </a:lnSpc>
              <a:buNone/>
            </a:pPr>
            <a:r>
              <a:rPr lang="en-US" sz="1000" dirty="0">
                <a:solidFill>
                  <a:srgbClr val="2B2B3A"/>
                </a:solidFill>
                <a:latin typeface="Calibri" pitchFamily="34" charset="0"/>
                <a:ea typeface="Calibri" pitchFamily="34" charset="-122"/>
                <a:cs typeface="Calibri" pitchFamily="34" charset="-120"/>
              </a:rPr>
              <a:t>Probabilidad de detectar el efecto si existe. Se fija: casi siempre 0,80.</a:t>
            </a:r>
            <a:endParaRPr lang="en-US" sz="1000" dirty="0"/>
          </a:p>
        </p:txBody>
      </p:sp>
      <p:sp>
        <p:nvSpPr>
          <p:cNvPr id="17" name="Shape 13"/>
          <p:cNvSpPr/>
          <p:nvPr/>
        </p:nvSpPr>
        <p:spPr>
          <a:xfrm>
            <a:off x="5076749" y="2926080"/>
            <a:ext cx="2035454" cy="1481328"/>
          </a:xfrm>
          <a:prstGeom prst="roundRect">
            <a:avLst>
              <a:gd name="adj" fmla="val 4938"/>
            </a:avLst>
          </a:prstGeom>
          <a:solidFill>
            <a:srgbClr val="EEF0FC"/>
          </a:solidFill>
          <a:ln/>
        </p:spPr>
      </p:sp>
      <p:sp>
        <p:nvSpPr>
          <p:cNvPr id="18" name="Text 14"/>
          <p:cNvSpPr/>
          <p:nvPr/>
        </p:nvSpPr>
        <p:spPr>
          <a:xfrm>
            <a:off x="5204765" y="3017520"/>
            <a:ext cx="1779422" cy="365760"/>
          </a:xfrm>
          <a:prstGeom prst="rect">
            <a:avLst/>
          </a:prstGeom>
          <a:noFill/>
          <a:ln/>
        </p:spPr>
        <p:txBody>
          <a:bodyPr wrap="square" lIns="0" tIns="0" rIns="0" bIns="0" rtlCol="0" anchor="ctr"/>
          <a:lstStyle/>
          <a:p>
            <a:pPr algn="ctr" indent="0" marL="0">
              <a:buNone/>
            </a:pPr>
            <a:r>
              <a:rPr lang="en-US" sz="2000" b="1" dirty="0">
                <a:solidFill>
                  <a:srgbClr val="4B45C4"/>
                </a:solidFill>
                <a:latin typeface="Cambria" pitchFamily="34" charset="0"/>
                <a:ea typeface="Cambria" pitchFamily="34" charset="-122"/>
                <a:cs typeface="Cambria" pitchFamily="34" charset="-120"/>
              </a:rPr>
              <a:t>P</a:t>
            </a:r>
            <a:endParaRPr lang="en-US" sz="2000" dirty="0"/>
          </a:p>
        </p:txBody>
      </p:sp>
      <p:sp>
        <p:nvSpPr>
          <p:cNvPr id="19" name="Text 15"/>
          <p:cNvSpPr/>
          <p:nvPr/>
        </p:nvSpPr>
        <p:spPr>
          <a:xfrm>
            <a:off x="5204765" y="3401568"/>
            <a:ext cx="1779422" cy="274320"/>
          </a:xfrm>
          <a:prstGeom prst="rect">
            <a:avLst/>
          </a:prstGeom>
          <a:noFill/>
          <a:ln/>
        </p:spPr>
        <p:txBody>
          <a:bodyPr wrap="square" lIns="0" tIns="0" rIns="0" bIns="0" rtlCol="0" anchor="ctr"/>
          <a:lstStyle/>
          <a:p>
            <a:pPr algn="ctr" indent="0" marL="0">
              <a:buNone/>
            </a:pPr>
            <a:r>
              <a:rPr lang="en-US" sz="1150" b="1" dirty="0">
                <a:solidFill>
                  <a:srgbClr val="1E1B4A"/>
                </a:solidFill>
                <a:latin typeface="Calibri" pitchFamily="34" charset="0"/>
                <a:ea typeface="Calibri" pitchFamily="34" charset="-122"/>
                <a:cs typeface="Calibri" pitchFamily="34" charset="-120"/>
              </a:rPr>
              <a:t>Reparto de la muestra</a:t>
            </a:r>
            <a:endParaRPr lang="en-US" sz="1150" dirty="0"/>
          </a:p>
        </p:txBody>
      </p:sp>
      <p:sp>
        <p:nvSpPr>
          <p:cNvPr id="20" name="Text 16"/>
          <p:cNvSpPr/>
          <p:nvPr/>
        </p:nvSpPr>
        <p:spPr>
          <a:xfrm>
            <a:off x="5204765" y="3694176"/>
            <a:ext cx="1779422" cy="640080"/>
          </a:xfrm>
          <a:prstGeom prst="rect">
            <a:avLst/>
          </a:prstGeom>
          <a:noFill/>
          <a:ln/>
        </p:spPr>
        <p:txBody>
          <a:bodyPr wrap="square" lIns="0" tIns="0" rIns="0" bIns="0" rtlCol="0" anchor="ctr"/>
          <a:lstStyle/>
          <a:p>
            <a:pPr algn="ctr" indent="0" marL="0">
              <a:lnSpc>
                <a:spcPct val="110000"/>
              </a:lnSpc>
              <a:buNone/>
            </a:pPr>
            <a:r>
              <a:rPr lang="en-US" sz="1000" dirty="0">
                <a:solidFill>
                  <a:srgbClr val="2B2B3A"/>
                </a:solidFill>
                <a:latin typeface="Calibri" pitchFamily="34" charset="0"/>
                <a:ea typeface="Calibri" pitchFamily="34" charset="-122"/>
                <a:cs typeface="Calibri" pitchFamily="34" charset="-120"/>
              </a:rPr>
              <a:t>Proporción asignada a tratamiento. Con costos iguales, el óptimo es 0,5.</a:t>
            </a:r>
            <a:endParaRPr lang="en-US" sz="1000" dirty="0"/>
          </a:p>
        </p:txBody>
      </p:sp>
      <p:sp>
        <p:nvSpPr>
          <p:cNvPr id="21" name="Shape 17"/>
          <p:cNvSpPr/>
          <p:nvPr/>
        </p:nvSpPr>
        <p:spPr>
          <a:xfrm>
            <a:off x="7331659" y="2926080"/>
            <a:ext cx="2035454" cy="1481328"/>
          </a:xfrm>
          <a:prstGeom prst="roundRect">
            <a:avLst>
              <a:gd name="adj" fmla="val 4938"/>
            </a:avLst>
          </a:prstGeom>
          <a:solidFill>
            <a:srgbClr val="EEF0FC"/>
          </a:solidFill>
          <a:ln/>
        </p:spPr>
      </p:sp>
      <p:sp>
        <p:nvSpPr>
          <p:cNvPr id="22" name="Text 18"/>
          <p:cNvSpPr/>
          <p:nvPr/>
        </p:nvSpPr>
        <p:spPr>
          <a:xfrm>
            <a:off x="7459675" y="3017520"/>
            <a:ext cx="1779422" cy="365760"/>
          </a:xfrm>
          <a:prstGeom prst="rect">
            <a:avLst/>
          </a:prstGeom>
          <a:noFill/>
          <a:ln/>
        </p:spPr>
        <p:txBody>
          <a:bodyPr wrap="square" lIns="0" tIns="0" rIns="0" bIns="0" rtlCol="0" anchor="ctr"/>
          <a:lstStyle/>
          <a:p>
            <a:pPr algn="ctr" indent="0" marL="0">
              <a:buNone/>
            </a:pPr>
            <a:r>
              <a:rPr lang="en-US" sz="2000" b="1" dirty="0">
                <a:solidFill>
                  <a:srgbClr val="4B45C4"/>
                </a:solidFill>
                <a:latin typeface="Cambria" pitchFamily="34" charset="0"/>
                <a:ea typeface="Cambria" pitchFamily="34" charset="-122"/>
                <a:cs typeface="Cambria" pitchFamily="34" charset="-120"/>
              </a:rPr>
              <a:t>σ²</a:t>
            </a:r>
            <a:endParaRPr lang="en-US" sz="2000" dirty="0"/>
          </a:p>
        </p:txBody>
      </p:sp>
      <p:sp>
        <p:nvSpPr>
          <p:cNvPr id="23" name="Text 19"/>
          <p:cNvSpPr/>
          <p:nvPr/>
        </p:nvSpPr>
        <p:spPr>
          <a:xfrm>
            <a:off x="7459675" y="3401568"/>
            <a:ext cx="1779422" cy="274320"/>
          </a:xfrm>
          <a:prstGeom prst="rect">
            <a:avLst/>
          </a:prstGeom>
          <a:noFill/>
          <a:ln/>
        </p:spPr>
        <p:txBody>
          <a:bodyPr wrap="square" lIns="0" tIns="0" rIns="0" bIns="0" rtlCol="0" anchor="ctr"/>
          <a:lstStyle/>
          <a:p>
            <a:pPr algn="ctr" indent="0" marL="0">
              <a:buNone/>
            </a:pPr>
            <a:r>
              <a:rPr lang="en-US" sz="1150" b="1" dirty="0">
                <a:solidFill>
                  <a:srgbClr val="1E1B4A"/>
                </a:solidFill>
                <a:latin typeface="Calibri" pitchFamily="34" charset="0"/>
                <a:ea typeface="Calibri" pitchFamily="34" charset="-122"/>
                <a:cs typeface="Calibri" pitchFamily="34" charset="-120"/>
              </a:rPr>
              <a:t>Varianza del resultado</a:t>
            </a:r>
            <a:endParaRPr lang="en-US" sz="1150" dirty="0"/>
          </a:p>
        </p:txBody>
      </p:sp>
      <p:sp>
        <p:nvSpPr>
          <p:cNvPr id="24" name="Text 20"/>
          <p:cNvSpPr/>
          <p:nvPr/>
        </p:nvSpPr>
        <p:spPr>
          <a:xfrm>
            <a:off x="7459675" y="3694176"/>
            <a:ext cx="1779422" cy="640080"/>
          </a:xfrm>
          <a:prstGeom prst="rect">
            <a:avLst/>
          </a:prstGeom>
          <a:noFill/>
          <a:ln/>
        </p:spPr>
        <p:txBody>
          <a:bodyPr wrap="square" lIns="0" tIns="0" rIns="0" bIns="0" rtlCol="0" anchor="ctr"/>
          <a:lstStyle/>
          <a:p>
            <a:pPr algn="ctr" indent="0" marL="0">
              <a:lnSpc>
                <a:spcPct val="110000"/>
              </a:lnSpc>
              <a:buNone/>
            </a:pPr>
            <a:r>
              <a:rPr lang="en-US" sz="1000" dirty="0">
                <a:solidFill>
                  <a:srgbClr val="2B2B3A"/>
                </a:solidFill>
                <a:latin typeface="Calibri" pitchFamily="34" charset="0"/>
                <a:ea typeface="Calibri" pitchFamily="34" charset="-122"/>
                <a:cs typeface="Calibri" pitchFamily="34" charset="-120"/>
              </a:rPr>
              <a:t>Cuánto ruido tiene la variable. Se estima de una línea base.</a:t>
            </a:r>
            <a:endParaRPr lang="en-US" sz="1000" dirty="0"/>
          </a:p>
        </p:txBody>
      </p:sp>
      <p:sp>
        <p:nvSpPr>
          <p:cNvPr id="25" name="Shape 21"/>
          <p:cNvSpPr/>
          <p:nvPr/>
        </p:nvSpPr>
        <p:spPr>
          <a:xfrm>
            <a:off x="9586570" y="2926080"/>
            <a:ext cx="2035454" cy="1481328"/>
          </a:xfrm>
          <a:prstGeom prst="roundRect">
            <a:avLst>
              <a:gd name="adj" fmla="val 4938"/>
            </a:avLst>
          </a:prstGeom>
          <a:solidFill>
            <a:srgbClr val="EEF0FC"/>
          </a:solidFill>
          <a:ln/>
        </p:spPr>
      </p:sp>
      <p:sp>
        <p:nvSpPr>
          <p:cNvPr id="26" name="Text 22"/>
          <p:cNvSpPr/>
          <p:nvPr/>
        </p:nvSpPr>
        <p:spPr>
          <a:xfrm>
            <a:off x="9714586" y="3017520"/>
            <a:ext cx="1779422" cy="365760"/>
          </a:xfrm>
          <a:prstGeom prst="rect">
            <a:avLst/>
          </a:prstGeom>
          <a:noFill/>
          <a:ln/>
        </p:spPr>
        <p:txBody>
          <a:bodyPr wrap="square" lIns="0" tIns="0" rIns="0" bIns="0" rtlCol="0" anchor="ctr"/>
          <a:lstStyle/>
          <a:p>
            <a:pPr algn="ctr" indent="0" marL="0">
              <a:buNone/>
            </a:pPr>
            <a:r>
              <a:rPr lang="en-US" sz="2000" b="1" dirty="0">
                <a:solidFill>
                  <a:srgbClr val="4B45C4"/>
                </a:solidFill>
                <a:latin typeface="Cambria" pitchFamily="34" charset="0"/>
                <a:ea typeface="Cambria" pitchFamily="34" charset="-122"/>
                <a:cs typeface="Cambria" pitchFamily="34" charset="-120"/>
              </a:rPr>
              <a:t>N</a:t>
            </a:r>
            <a:endParaRPr lang="en-US" sz="2000" dirty="0"/>
          </a:p>
        </p:txBody>
      </p:sp>
      <p:sp>
        <p:nvSpPr>
          <p:cNvPr id="27" name="Text 23"/>
          <p:cNvSpPr/>
          <p:nvPr/>
        </p:nvSpPr>
        <p:spPr>
          <a:xfrm>
            <a:off x="9714586" y="3401568"/>
            <a:ext cx="1779422" cy="274320"/>
          </a:xfrm>
          <a:prstGeom prst="rect">
            <a:avLst/>
          </a:prstGeom>
          <a:noFill/>
          <a:ln/>
        </p:spPr>
        <p:txBody>
          <a:bodyPr wrap="square" lIns="0" tIns="0" rIns="0" bIns="0" rtlCol="0" anchor="ctr"/>
          <a:lstStyle/>
          <a:p>
            <a:pPr algn="ctr" indent="0" marL="0">
              <a:buNone/>
            </a:pPr>
            <a:r>
              <a:rPr lang="en-US" sz="1150" b="1" dirty="0">
                <a:solidFill>
                  <a:srgbClr val="1E1B4A"/>
                </a:solidFill>
                <a:latin typeface="Calibri" pitchFamily="34" charset="0"/>
                <a:ea typeface="Calibri" pitchFamily="34" charset="-122"/>
                <a:cs typeface="Calibri" pitchFamily="34" charset="-120"/>
              </a:rPr>
              <a:t>Tamaño de muestra</a:t>
            </a:r>
            <a:endParaRPr lang="en-US" sz="1150" dirty="0"/>
          </a:p>
        </p:txBody>
      </p:sp>
      <p:sp>
        <p:nvSpPr>
          <p:cNvPr id="28" name="Text 24"/>
          <p:cNvSpPr/>
          <p:nvPr/>
        </p:nvSpPr>
        <p:spPr>
          <a:xfrm>
            <a:off x="9714586" y="3694176"/>
            <a:ext cx="1779422" cy="640080"/>
          </a:xfrm>
          <a:prstGeom prst="rect">
            <a:avLst/>
          </a:prstGeom>
          <a:noFill/>
          <a:ln/>
        </p:spPr>
        <p:txBody>
          <a:bodyPr wrap="square" lIns="0" tIns="0" rIns="0" bIns="0" rtlCol="0" anchor="ctr"/>
          <a:lstStyle/>
          <a:p>
            <a:pPr algn="ctr" indent="0" marL="0">
              <a:lnSpc>
                <a:spcPct val="110000"/>
              </a:lnSpc>
              <a:buNone/>
            </a:pPr>
            <a:r>
              <a:rPr lang="en-US" sz="1000" dirty="0">
                <a:solidFill>
                  <a:srgbClr val="2B2B3A"/>
                </a:solidFill>
                <a:latin typeface="Calibri" pitchFamily="34" charset="0"/>
                <a:ea typeface="Calibri" pitchFamily="34" charset="-122"/>
                <a:cs typeface="Calibri" pitchFamily="34" charset="-120"/>
              </a:rPr>
              <a:t>Número de unidades. Es la palanca que el investigador controla.</a:t>
            </a:r>
            <a:endParaRPr lang="en-US" sz="1000" dirty="0"/>
          </a:p>
        </p:txBody>
      </p:sp>
      <p:sp>
        <p:nvSpPr>
          <p:cNvPr id="29" name="Text 25"/>
          <p:cNvSpPr/>
          <p:nvPr/>
        </p:nvSpPr>
        <p:spPr>
          <a:xfrm>
            <a:off x="566928" y="4553712"/>
            <a:ext cx="11055096" cy="256032"/>
          </a:xfrm>
          <a:prstGeom prst="rect">
            <a:avLst/>
          </a:prstGeom>
          <a:noFill/>
          <a:ln/>
        </p:spPr>
        <p:txBody>
          <a:bodyPr wrap="square" lIns="0" tIns="0" rIns="0" bIns="0" rtlCol="0" anchor="ctr"/>
          <a:lstStyle/>
          <a:p>
            <a:pPr indent="0" marL="0">
              <a:buNone/>
            </a:pPr>
            <a:r>
              <a:rPr lang="en-US" sz="1000" b="1" spc="70" kern="0" dirty="0">
                <a:solidFill>
                  <a:srgbClr val="4B45C4"/>
                </a:solidFill>
                <a:latin typeface="Calibri" pitchFamily="34" charset="0"/>
                <a:ea typeface="Calibri" pitchFamily="34" charset="-122"/>
                <a:cs typeface="Calibri" pitchFamily="34" charset="-120"/>
              </a:rPr>
              <a:t>Q U É   M U E V E   E L   M D E</a:t>
            </a:r>
            <a:endParaRPr lang="en-US" sz="1000" dirty="0"/>
          </a:p>
        </p:txBody>
      </p:sp>
      <p:sp>
        <p:nvSpPr>
          <p:cNvPr id="30" name="Shape 26"/>
          <p:cNvSpPr/>
          <p:nvPr/>
        </p:nvSpPr>
        <p:spPr>
          <a:xfrm>
            <a:off x="566928" y="4828032"/>
            <a:ext cx="2612898" cy="859536"/>
          </a:xfrm>
          <a:prstGeom prst="roundRect">
            <a:avLst>
              <a:gd name="adj" fmla="val 7447"/>
            </a:avLst>
          </a:prstGeom>
          <a:solidFill>
            <a:srgbClr val="F7F8FD"/>
          </a:solidFill>
          <a:ln/>
        </p:spPr>
      </p:sp>
      <p:sp>
        <p:nvSpPr>
          <p:cNvPr id="31" name="Text 27"/>
          <p:cNvSpPr/>
          <p:nvPr/>
        </p:nvSpPr>
        <p:spPr>
          <a:xfrm>
            <a:off x="749808" y="4882896"/>
            <a:ext cx="2247138" cy="274320"/>
          </a:xfrm>
          <a:prstGeom prst="rect">
            <a:avLst/>
          </a:prstGeom>
          <a:noFill/>
          <a:ln/>
        </p:spPr>
        <p:txBody>
          <a:bodyPr wrap="square" lIns="0" tIns="0" rIns="0" bIns="0" rtlCol="0" anchor="ctr"/>
          <a:lstStyle/>
          <a:p>
            <a:pPr indent="0" marL="0">
              <a:buNone/>
            </a:pPr>
            <a:r>
              <a:rPr lang="en-US" sz="1250" b="1" dirty="0">
                <a:solidFill>
                  <a:srgbClr val="1E1B4A"/>
                </a:solidFill>
                <a:latin typeface="Calibri" pitchFamily="34" charset="0"/>
                <a:ea typeface="Calibri" pitchFamily="34" charset="-122"/>
                <a:cs typeface="Calibri" pitchFamily="34" charset="-120"/>
              </a:rPr>
              <a:t>N ↑   </a:t>
            </a:r>
            <a:pPr indent="0" marL="0">
              <a:buNone/>
            </a:pPr>
            <a:r>
              <a:rPr lang="en-US" sz="1150" dirty="0">
                <a:solidFill>
                  <a:srgbClr val="6E6E85"/>
                </a:solidFill>
                <a:latin typeface="Calibri" pitchFamily="34" charset="0"/>
                <a:ea typeface="Calibri" pitchFamily="34" charset="-122"/>
                <a:cs typeface="Calibri" pitchFamily="34" charset="-120"/>
              </a:rPr>
              <a:t>→   </a:t>
            </a:r>
            <a:pPr indent="0" marL="0">
              <a:buNone/>
            </a:pPr>
            <a:r>
              <a:rPr lang="en-US" sz="1250" b="1" dirty="0">
                <a:solidFill>
                  <a:srgbClr val="1F6F62"/>
                </a:solidFill>
                <a:latin typeface="Calibri" pitchFamily="34" charset="0"/>
                <a:ea typeface="Calibri" pitchFamily="34" charset="-122"/>
                <a:cs typeface="Calibri" pitchFamily="34" charset="-120"/>
              </a:rPr>
              <a:t>MDE ↓</a:t>
            </a:r>
            <a:endParaRPr lang="en-US" sz="1250" dirty="0"/>
          </a:p>
        </p:txBody>
      </p:sp>
      <p:sp>
        <p:nvSpPr>
          <p:cNvPr id="32" name="Text 28"/>
          <p:cNvSpPr/>
          <p:nvPr/>
        </p:nvSpPr>
        <p:spPr>
          <a:xfrm>
            <a:off x="749808" y="5138928"/>
            <a:ext cx="2247138" cy="493776"/>
          </a:xfrm>
          <a:prstGeom prst="rect">
            <a:avLst/>
          </a:prstGeom>
          <a:noFill/>
          <a:ln/>
        </p:spPr>
        <p:txBody>
          <a:bodyPr wrap="square" lIns="0" tIns="0" rIns="0" bIns="0" rtlCol="0" anchor="ctr"/>
          <a:lstStyle/>
          <a:p>
            <a:pPr indent="0" marL="0">
              <a:lnSpc>
                <a:spcPct val="108000"/>
              </a:lnSpc>
              <a:buNone/>
            </a:pPr>
            <a:r>
              <a:rPr lang="en-US" sz="950" i="1" dirty="0">
                <a:solidFill>
                  <a:srgbClr val="6E6E85"/>
                </a:solidFill>
                <a:latin typeface="Calibri" pitchFamily="34" charset="0"/>
                <a:ea typeface="Calibri" pitchFamily="34" charset="-122"/>
                <a:cs typeface="Calibri" pitchFamily="34" charset="-120"/>
              </a:rPr>
              <a:t>pero a razón de √N: cuadruplicar la muestra solo lo reduce a la mitad</a:t>
            </a:r>
            <a:endParaRPr lang="en-US" sz="950" dirty="0"/>
          </a:p>
        </p:txBody>
      </p:sp>
      <p:sp>
        <p:nvSpPr>
          <p:cNvPr id="33" name="Shape 29"/>
          <p:cNvSpPr/>
          <p:nvPr/>
        </p:nvSpPr>
        <p:spPr>
          <a:xfrm>
            <a:off x="3380994" y="4828032"/>
            <a:ext cx="2612898" cy="859536"/>
          </a:xfrm>
          <a:prstGeom prst="roundRect">
            <a:avLst>
              <a:gd name="adj" fmla="val 7447"/>
            </a:avLst>
          </a:prstGeom>
          <a:solidFill>
            <a:srgbClr val="F7F8FD"/>
          </a:solidFill>
          <a:ln/>
        </p:spPr>
      </p:sp>
      <p:sp>
        <p:nvSpPr>
          <p:cNvPr id="34" name="Text 30"/>
          <p:cNvSpPr/>
          <p:nvPr/>
        </p:nvSpPr>
        <p:spPr>
          <a:xfrm>
            <a:off x="3563874" y="4882896"/>
            <a:ext cx="2247138" cy="274320"/>
          </a:xfrm>
          <a:prstGeom prst="rect">
            <a:avLst/>
          </a:prstGeom>
          <a:noFill/>
          <a:ln/>
        </p:spPr>
        <p:txBody>
          <a:bodyPr wrap="square" lIns="0" tIns="0" rIns="0" bIns="0" rtlCol="0" anchor="ctr"/>
          <a:lstStyle/>
          <a:p>
            <a:pPr indent="0" marL="0">
              <a:buNone/>
            </a:pPr>
            <a:r>
              <a:rPr lang="en-US" sz="1250" b="1" dirty="0">
                <a:solidFill>
                  <a:srgbClr val="1E1B4A"/>
                </a:solidFill>
                <a:latin typeface="Calibri" pitchFamily="34" charset="0"/>
                <a:ea typeface="Calibri" pitchFamily="34" charset="-122"/>
                <a:cs typeface="Calibri" pitchFamily="34" charset="-120"/>
              </a:rPr>
              <a:t>σ² ↓   </a:t>
            </a:r>
            <a:pPr indent="0" marL="0">
              <a:buNone/>
            </a:pPr>
            <a:r>
              <a:rPr lang="en-US" sz="1150" dirty="0">
                <a:solidFill>
                  <a:srgbClr val="6E6E85"/>
                </a:solidFill>
                <a:latin typeface="Calibri" pitchFamily="34" charset="0"/>
                <a:ea typeface="Calibri" pitchFamily="34" charset="-122"/>
                <a:cs typeface="Calibri" pitchFamily="34" charset="-120"/>
              </a:rPr>
              <a:t>→   </a:t>
            </a:r>
            <a:pPr indent="0" marL="0">
              <a:buNone/>
            </a:pPr>
            <a:r>
              <a:rPr lang="en-US" sz="1250" b="1" dirty="0">
                <a:solidFill>
                  <a:srgbClr val="1F6F62"/>
                </a:solidFill>
                <a:latin typeface="Calibri" pitchFamily="34" charset="0"/>
                <a:ea typeface="Calibri" pitchFamily="34" charset="-122"/>
                <a:cs typeface="Calibri" pitchFamily="34" charset="-120"/>
              </a:rPr>
              <a:t>MDE ↓</a:t>
            </a:r>
            <a:endParaRPr lang="en-US" sz="1250" dirty="0"/>
          </a:p>
        </p:txBody>
      </p:sp>
      <p:sp>
        <p:nvSpPr>
          <p:cNvPr id="35" name="Text 31"/>
          <p:cNvSpPr/>
          <p:nvPr/>
        </p:nvSpPr>
        <p:spPr>
          <a:xfrm>
            <a:off x="3563874" y="5138928"/>
            <a:ext cx="2247138" cy="493776"/>
          </a:xfrm>
          <a:prstGeom prst="rect">
            <a:avLst/>
          </a:prstGeom>
          <a:noFill/>
          <a:ln/>
        </p:spPr>
        <p:txBody>
          <a:bodyPr wrap="square" lIns="0" tIns="0" rIns="0" bIns="0" rtlCol="0" anchor="ctr"/>
          <a:lstStyle/>
          <a:p>
            <a:pPr indent="0" marL="0">
              <a:lnSpc>
                <a:spcPct val="108000"/>
              </a:lnSpc>
              <a:buNone/>
            </a:pPr>
            <a:r>
              <a:rPr lang="en-US" sz="950" i="1" dirty="0">
                <a:solidFill>
                  <a:srgbClr val="6E6E85"/>
                </a:solidFill>
                <a:latin typeface="Calibri" pitchFamily="34" charset="0"/>
                <a:ea typeface="Calibri" pitchFamily="34" charset="-122"/>
                <a:cs typeface="Calibri" pitchFamily="34" charset="-120"/>
              </a:rPr>
              <a:t>línea base, controles y estratificación bajan la varianza</a:t>
            </a:r>
            <a:endParaRPr lang="en-US" sz="950" dirty="0"/>
          </a:p>
        </p:txBody>
      </p:sp>
      <p:sp>
        <p:nvSpPr>
          <p:cNvPr id="36" name="Shape 32"/>
          <p:cNvSpPr/>
          <p:nvPr/>
        </p:nvSpPr>
        <p:spPr>
          <a:xfrm>
            <a:off x="6195060" y="4828032"/>
            <a:ext cx="2612898" cy="859536"/>
          </a:xfrm>
          <a:prstGeom prst="roundRect">
            <a:avLst>
              <a:gd name="adj" fmla="val 7447"/>
            </a:avLst>
          </a:prstGeom>
          <a:solidFill>
            <a:srgbClr val="F7F8FD"/>
          </a:solidFill>
          <a:ln/>
        </p:spPr>
      </p:sp>
      <p:sp>
        <p:nvSpPr>
          <p:cNvPr id="37" name="Text 33"/>
          <p:cNvSpPr/>
          <p:nvPr/>
        </p:nvSpPr>
        <p:spPr>
          <a:xfrm>
            <a:off x="6377940" y="4882896"/>
            <a:ext cx="2247138" cy="274320"/>
          </a:xfrm>
          <a:prstGeom prst="rect">
            <a:avLst/>
          </a:prstGeom>
          <a:noFill/>
          <a:ln/>
        </p:spPr>
        <p:txBody>
          <a:bodyPr wrap="square" lIns="0" tIns="0" rIns="0" bIns="0" rtlCol="0" anchor="ctr"/>
          <a:lstStyle/>
          <a:p>
            <a:pPr indent="0" marL="0">
              <a:buNone/>
            </a:pPr>
            <a:r>
              <a:rPr lang="en-US" sz="1250" b="1" dirty="0">
                <a:solidFill>
                  <a:srgbClr val="1E1B4A"/>
                </a:solidFill>
                <a:latin typeface="Calibri" pitchFamily="34" charset="0"/>
                <a:ea typeface="Calibri" pitchFamily="34" charset="-122"/>
                <a:cs typeface="Calibri" pitchFamily="34" charset="-120"/>
              </a:rPr>
              <a:t>P → 0,5   </a:t>
            </a:r>
            <a:pPr indent="0" marL="0">
              <a:buNone/>
            </a:pPr>
            <a:r>
              <a:rPr lang="en-US" sz="1150" dirty="0">
                <a:solidFill>
                  <a:srgbClr val="6E6E85"/>
                </a:solidFill>
                <a:latin typeface="Calibri" pitchFamily="34" charset="0"/>
                <a:ea typeface="Calibri" pitchFamily="34" charset="-122"/>
                <a:cs typeface="Calibri" pitchFamily="34" charset="-120"/>
              </a:rPr>
              <a:t>→   </a:t>
            </a:r>
            <a:pPr indent="0" marL="0">
              <a:buNone/>
            </a:pPr>
            <a:r>
              <a:rPr lang="en-US" sz="1250" b="1" dirty="0">
                <a:solidFill>
                  <a:srgbClr val="1F6F62"/>
                </a:solidFill>
                <a:latin typeface="Calibri" pitchFamily="34" charset="0"/>
                <a:ea typeface="Calibri" pitchFamily="34" charset="-122"/>
                <a:cs typeface="Calibri" pitchFamily="34" charset="-120"/>
              </a:rPr>
              <a:t>MDE ↓</a:t>
            </a:r>
            <a:endParaRPr lang="en-US" sz="1250" dirty="0"/>
          </a:p>
        </p:txBody>
      </p:sp>
      <p:sp>
        <p:nvSpPr>
          <p:cNvPr id="38" name="Text 34"/>
          <p:cNvSpPr/>
          <p:nvPr/>
        </p:nvSpPr>
        <p:spPr>
          <a:xfrm>
            <a:off x="6377940" y="5138928"/>
            <a:ext cx="2247138" cy="493776"/>
          </a:xfrm>
          <a:prstGeom prst="rect">
            <a:avLst/>
          </a:prstGeom>
          <a:noFill/>
          <a:ln/>
        </p:spPr>
        <p:txBody>
          <a:bodyPr wrap="square" lIns="0" tIns="0" rIns="0" bIns="0" rtlCol="0" anchor="ctr"/>
          <a:lstStyle/>
          <a:p>
            <a:pPr indent="0" marL="0">
              <a:lnSpc>
                <a:spcPct val="108000"/>
              </a:lnSpc>
              <a:buNone/>
            </a:pPr>
            <a:r>
              <a:rPr lang="en-US" sz="950" i="1" dirty="0">
                <a:solidFill>
                  <a:srgbClr val="6E6E85"/>
                </a:solidFill>
                <a:latin typeface="Calibri" pitchFamily="34" charset="0"/>
                <a:ea typeface="Calibri" pitchFamily="34" charset="-122"/>
                <a:cs typeface="Calibri" pitchFamily="34" charset="-120"/>
              </a:rPr>
              <a:t>el reparto equilibrado entre brazos es el más eficiente</a:t>
            </a:r>
            <a:endParaRPr lang="en-US" sz="950" dirty="0"/>
          </a:p>
        </p:txBody>
      </p:sp>
      <p:sp>
        <p:nvSpPr>
          <p:cNvPr id="39" name="Shape 35"/>
          <p:cNvSpPr/>
          <p:nvPr/>
        </p:nvSpPr>
        <p:spPr>
          <a:xfrm>
            <a:off x="9009126" y="4828032"/>
            <a:ext cx="2612898" cy="859536"/>
          </a:xfrm>
          <a:prstGeom prst="roundRect">
            <a:avLst>
              <a:gd name="adj" fmla="val 7447"/>
            </a:avLst>
          </a:prstGeom>
          <a:solidFill>
            <a:srgbClr val="FBF0F3"/>
          </a:solidFill>
          <a:ln/>
        </p:spPr>
      </p:sp>
      <p:sp>
        <p:nvSpPr>
          <p:cNvPr id="40" name="Text 36"/>
          <p:cNvSpPr/>
          <p:nvPr/>
        </p:nvSpPr>
        <p:spPr>
          <a:xfrm>
            <a:off x="9192006" y="4882896"/>
            <a:ext cx="2247138" cy="274320"/>
          </a:xfrm>
          <a:prstGeom prst="rect">
            <a:avLst/>
          </a:prstGeom>
          <a:noFill/>
          <a:ln/>
        </p:spPr>
        <p:txBody>
          <a:bodyPr wrap="square" lIns="0" tIns="0" rIns="0" bIns="0" rtlCol="0" anchor="ctr"/>
          <a:lstStyle/>
          <a:p>
            <a:pPr indent="0" marL="0">
              <a:buNone/>
            </a:pPr>
            <a:r>
              <a:rPr lang="en-US" sz="1250" b="1" dirty="0">
                <a:solidFill>
                  <a:srgbClr val="1E1B4A"/>
                </a:solidFill>
                <a:latin typeface="Calibri" pitchFamily="34" charset="0"/>
                <a:ea typeface="Calibri" pitchFamily="34" charset="-122"/>
                <a:cs typeface="Calibri" pitchFamily="34" charset="-120"/>
              </a:rPr>
              <a:t>poder ↑ o α ↓   </a:t>
            </a:r>
            <a:pPr indent="0" marL="0">
              <a:buNone/>
            </a:pPr>
            <a:r>
              <a:rPr lang="en-US" sz="1150" dirty="0">
                <a:solidFill>
                  <a:srgbClr val="6E6E85"/>
                </a:solidFill>
                <a:latin typeface="Calibri" pitchFamily="34" charset="0"/>
                <a:ea typeface="Calibri" pitchFamily="34" charset="-122"/>
                <a:cs typeface="Calibri" pitchFamily="34" charset="-120"/>
              </a:rPr>
              <a:t>→   </a:t>
            </a:r>
            <a:pPr indent="0" marL="0">
              <a:buNone/>
            </a:pPr>
            <a:r>
              <a:rPr lang="en-US" sz="1250" b="1" dirty="0">
                <a:solidFill>
                  <a:srgbClr val="A83A57"/>
                </a:solidFill>
                <a:latin typeface="Calibri" pitchFamily="34" charset="0"/>
                <a:ea typeface="Calibri" pitchFamily="34" charset="-122"/>
                <a:cs typeface="Calibri" pitchFamily="34" charset="-120"/>
              </a:rPr>
              <a:t>MDE ↑</a:t>
            </a:r>
            <a:endParaRPr lang="en-US" sz="1250" dirty="0"/>
          </a:p>
        </p:txBody>
      </p:sp>
      <p:sp>
        <p:nvSpPr>
          <p:cNvPr id="41" name="Text 37"/>
          <p:cNvSpPr/>
          <p:nvPr/>
        </p:nvSpPr>
        <p:spPr>
          <a:xfrm>
            <a:off x="9192006" y="5138928"/>
            <a:ext cx="2247138" cy="493776"/>
          </a:xfrm>
          <a:prstGeom prst="rect">
            <a:avLst/>
          </a:prstGeom>
          <a:noFill/>
          <a:ln/>
        </p:spPr>
        <p:txBody>
          <a:bodyPr wrap="square" lIns="0" tIns="0" rIns="0" bIns="0" rtlCol="0" anchor="ctr"/>
          <a:lstStyle/>
          <a:p>
            <a:pPr indent="0" marL="0">
              <a:lnSpc>
                <a:spcPct val="108000"/>
              </a:lnSpc>
              <a:buNone/>
            </a:pPr>
            <a:r>
              <a:rPr lang="en-US" sz="950" i="1" dirty="0">
                <a:solidFill>
                  <a:srgbClr val="6E6E85"/>
                </a:solidFill>
                <a:latin typeface="Calibri" pitchFamily="34" charset="0"/>
                <a:ea typeface="Calibri" pitchFamily="34" charset="-122"/>
                <a:cs typeface="Calibri" pitchFamily="34" charset="-120"/>
              </a:rPr>
              <a:t>ser más exigente cuesta muestra, o cuesta detección</a:t>
            </a:r>
            <a:endParaRPr lang="en-US" sz="950" dirty="0"/>
          </a:p>
        </p:txBody>
      </p:sp>
      <p:sp>
        <p:nvSpPr>
          <p:cNvPr id="42" name="Shape 38"/>
          <p:cNvSpPr/>
          <p:nvPr/>
        </p:nvSpPr>
        <p:spPr>
          <a:xfrm>
            <a:off x="566928" y="5797296"/>
            <a:ext cx="11055096" cy="585216"/>
          </a:xfrm>
          <a:prstGeom prst="roundRect">
            <a:avLst>
              <a:gd name="adj" fmla="val 10938"/>
            </a:avLst>
          </a:prstGeom>
          <a:solidFill>
            <a:srgbClr val="1E1B4A"/>
          </a:solidFill>
          <a:ln/>
        </p:spPr>
      </p:sp>
      <p:sp>
        <p:nvSpPr>
          <p:cNvPr id="43" name="Text 39"/>
          <p:cNvSpPr/>
          <p:nvPr/>
        </p:nvSpPr>
        <p:spPr>
          <a:xfrm>
            <a:off x="841248" y="5833872"/>
            <a:ext cx="1188720" cy="512064"/>
          </a:xfrm>
          <a:prstGeom prst="rect">
            <a:avLst/>
          </a:prstGeom>
          <a:noFill/>
          <a:ln/>
        </p:spPr>
        <p:txBody>
          <a:bodyPr wrap="square" lIns="0" tIns="0" rIns="0" bIns="0" rtlCol="0" anchor="ctr"/>
          <a:lstStyle/>
          <a:p>
            <a:pPr indent="0" marL="0">
              <a:buNone/>
            </a:pPr>
            <a:r>
              <a:rPr lang="en-US" sz="900" b="1" spc="50" kern="0" dirty="0">
                <a:solidFill>
                  <a:srgbClr val="8B87F5"/>
                </a:solidFill>
                <a:latin typeface="Calibri" pitchFamily="34" charset="0"/>
                <a:ea typeface="Calibri" pitchFamily="34" charset="-122"/>
                <a:cs typeface="Calibri" pitchFamily="34" charset="-120"/>
              </a:rPr>
              <a:t>E L   O R D E N</a:t>
            </a:r>
            <a:endParaRPr lang="en-US" sz="900" dirty="0"/>
          </a:p>
        </p:txBody>
      </p:sp>
      <p:pic>
        <p:nvPicPr>
          <p:cNvPr id="44" name="Image 2" descr="/home/claude/fx/neff.png">    </p:cNvPr>
          <p:cNvPicPr>
            <a:picLocks noChangeAspect="1"/>
          </p:cNvPicPr>
          <p:nvPr/>
        </p:nvPicPr>
        <p:blipFill>
          <a:blip r:embed="rId3"/>
          <a:stretch>
            <a:fillRect/>
          </a:stretch>
        </p:blipFill>
        <p:spPr>
          <a:xfrm>
            <a:off x="2618352" y="5897880"/>
            <a:ext cx="1566432" cy="384048"/>
          </a:xfrm>
          <a:prstGeom prst="rect">
            <a:avLst/>
          </a:prstGeom>
        </p:spPr>
      </p:pic>
      <p:sp>
        <p:nvSpPr>
          <p:cNvPr id="45" name="Text 40"/>
          <p:cNvSpPr/>
          <p:nvPr/>
        </p:nvSpPr>
        <p:spPr>
          <a:xfrm>
            <a:off x="4910328" y="5833872"/>
            <a:ext cx="6437376" cy="512064"/>
          </a:xfrm>
          <a:prstGeom prst="rect">
            <a:avLst/>
          </a:prstGeom>
          <a:noFill/>
          <a:ln/>
        </p:spPr>
        <p:txBody>
          <a:bodyPr wrap="square" lIns="0" tIns="0" rIns="0" bIns="0" rtlCol="0" anchor="ctr"/>
          <a:lstStyle/>
          <a:p>
            <a:pPr indent="0" marL="0">
              <a:lnSpc>
                <a:spcPct val="110000"/>
              </a:lnSpc>
              <a:buNone/>
            </a:pPr>
            <a:r>
              <a:rPr lang="en-US" sz="1100" dirty="0">
                <a:solidFill>
                  <a:srgbClr val="AAB3F4"/>
                </a:solidFill>
                <a:latin typeface="Calibri" pitchFamily="34" charset="0"/>
                <a:ea typeface="Calibri" pitchFamily="34" charset="-122"/>
                <a:cs typeface="Calibri" pitchFamily="34" charset="-120"/>
              </a:rPr>
              <a:t>Con conglomerados o atrición esperada (a), primero se calcula la muestra efectiva; el MDE se computa sobre esa N, no sobre la inicial.</a:t>
            </a:r>
            <a:endParaRPr lang="en-US" sz="1100" dirty="0"/>
          </a:p>
        </p:txBody>
      </p:sp>
      <p:sp>
        <p:nvSpPr>
          <p:cNvPr id="46" name="Text 4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Cálculos de poder · MDE y efecto de diseño</a:t>
            </a:r>
            <a:endParaRPr lang="en-US" sz="900" dirty="0"/>
          </a:p>
        </p:txBody>
      </p:sp>
      <p:sp>
        <p:nvSpPr>
          <p:cNvPr id="47" name="Text 4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Panel: efectos fijos</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Seguir a las mismas unidades en el tiempo y quedarse solo con la variación interna de cada una.</a:t>
            </a:r>
            <a:endParaRPr lang="en-US" sz="1350" dirty="0"/>
          </a:p>
        </p:txBody>
      </p:sp>
      <p:pic>
        <p:nvPicPr>
          <p:cNvPr id="6" name="Image 1" descr="preencoded.png">    </p:cNvPr>
          <p:cNvPicPr>
            <a:picLocks noChangeAspect="1"/>
          </p:cNvPicPr>
          <p:nvPr/>
        </p:nvPicPr>
        <p:blipFill>
          <a:blip r:embed="rId2"/>
          <a:stretch>
            <a:fillRect/>
          </a:stretch>
        </p:blipFill>
        <p:spPr>
          <a:xfrm>
            <a:off x="566928" y="1591056"/>
            <a:ext cx="6720840" cy="3730752"/>
          </a:xfrm>
          <a:prstGeom prst="rect">
            <a:avLst/>
          </a:prstGeom>
        </p:spPr>
      </p:pic>
      <p:sp>
        <p:nvSpPr>
          <p:cNvPr id="7" name="Shape 3"/>
          <p:cNvSpPr/>
          <p:nvPr/>
        </p:nvSpPr>
        <p:spPr>
          <a:xfrm>
            <a:off x="566928" y="5413248"/>
            <a:ext cx="6720840" cy="822960"/>
          </a:xfrm>
          <a:prstGeom prst="roundRect">
            <a:avLst>
              <a:gd name="adj" fmla="val 7778"/>
            </a:avLst>
          </a:prstGeom>
          <a:solidFill>
            <a:srgbClr val="F7F8FD"/>
          </a:solidFill>
          <a:ln/>
        </p:spPr>
      </p:sp>
      <p:sp>
        <p:nvSpPr>
          <p:cNvPr id="8" name="Text 4"/>
          <p:cNvSpPr/>
          <p:nvPr/>
        </p:nvSpPr>
        <p:spPr>
          <a:xfrm>
            <a:off x="859536" y="5449824"/>
            <a:ext cx="6135624" cy="749808"/>
          </a:xfrm>
          <a:prstGeom prst="rect">
            <a:avLst/>
          </a:prstGeom>
          <a:noFill/>
          <a:ln/>
        </p:spPr>
        <p:txBody>
          <a:bodyPr wrap="square" lIns="0" tIns="0" rIns="0" bIns="0" rtlCol="0" anchor="ctr"/>
          <a:lstStyle/>
          <a:p>
            <a:pPr indent="0" marL="0">
              <a:lnSpc>
                <a:spcPct val="110000"/>
              </a:lnSpc>
              <a:buNone/>
            </a:pPr>
            <a:r>
              <a:rPr lang="en-US" sz="1050" dirty="0">
                <a:solidFill>
                  <a:srgbClr val="6E6E85"/>
                </a:solidFill>
                <a:latin typeface="Calibri" pitchFamily="34" charset="0"/>
                <a:ea typeface="Calibri" pitchFamily="34" charset="-122"/>
                <a:cs typeface="Calibri" pitchFamily="34" charset="-120"/>
              </a:rPr>
              <a:t>Comparar entre municipios puede dar hasta el signo contrario que comparar cada municipio consigo mismo. αᵢ absorbe todo lo que distingue de forma permanente a una unidad; λₜ, lo que afecta a todas en un mismo periodo.</a:t>
            </a:r>
            <a:endParaRPr lang="en-US" sz="1050" dirty="0"/>
          </a:p>
        </p:txBody>
      </p:sp>
      <p:sp>
        <p:nvSpPr>
          <p:cNvPr id="9" name="Shape 5"/>
          <p:cNvSpPr/>
          <p:nvPr/>
        </p:nvSpPr>
        <p:spPr>
          <a:xfrm>
            <a:off x="7498080" y="1591056"/>
            <a:ext cx="4123944" cy="841248"/>
          </a:xfrm>
          <a:prstGeom prst="roundRect">
            <a:avLst>
              <a:gd name="adj" fmla="val 8696"/>
            </a:avLst>
          </a:prstGeom>
          <a:solidFill>
            <a:srgbClr val="1E1B4A"/>
          </a:solidFill>
          <a:ln/>
        </p:spPr>
      </p:sp>
      <p:pic>
        <p:nvPicPr>
          <p:cNvPr id="10" name="Image 2" descr="/home/claude/fx/fe.png">    </p:cNvPr>
          <p:cNvPicPr>
            <a:picLocks noChangeAspect="1"/>
          </p:cNvPicPr>
          <p:nvPr/>
        </p:nvPicPr>
        <p:blipFill>
          <a:blip r:embed="rId3"/>
          <a:stretch>
            <a:fillRect/>
          </a:stretch>
        </p:blipFill>
        <p:spPr>
          <a:xfrm>
            <a:off x="8430897" y="1874520"/>
            <a:ext cx="2258310" cy="274320"/>
          </a:xfrm>
          <a:prstGeom prst="rect">
            <a:avLst/>
          </a:prstGeom>
        </p:spPr>
      </p:pic>
      <p:sp>
        <p:nvSpPr>
          <p:cNvPr id="11" name="Shape 6"/>
          <p:cNvSpPr/>
          <p:nvPr/>
        </p:nvSpPr>
        <p:spPr>
          <a:xfrm>
            <a:off x="7498080" y="2578608"/>
            <a:ext cx="4123944" cy="1481328"/>
          </a:xfrm>
          <a:prstGeom prst="roundRect">
            <a:avLst>
              <a:gd name="adj" fmla="val 5556"/>
            </a:avLst>
          </a:prstGeom>
          <a:solidFill>
            <a:srgbClr val="FBF0F3"/>
          </a:solidFill>
          <a:ln/>
        </p:spPr>
      </p:sp>
      <p:sp>
        <p:nvSpPr>
          <p:cNvPr id="12" name="Text 7"/>
          <p:cNvSpPr/>
          <p:nvPr/>
        </p:nvSpPr>
        <p:spPr>
          <a:xfrm>
            <a:off x="7754112" y="2670048"/>
            <a:ext cx="3611880" cy="237744"/>
          </a:xfrm>
          <a:prstGeom prst="rect">
            <a:avLst/>
          </a:prstGeom>
          <a:noFill/>
          <a:ln/>
        </p:spPr>
        <p:txBody>
          <a:bodyPr wrap="square" lIns="0" tIns="0" rIns="0" bIns="0" rtlCol="0" anchor="ctr"/>
          <a:lstStyle/>
          <a:p>
            <a:pPr indent="0" marL="0">
              <a:buNone/>
            </a:pPr>
            <a:r>
              <a:rPr lang="en-US" sz="950" b="1" spc="60" kern="0" dirty="0">
                <a:solidFill>
                  <a:srgbClr val="A83A57"/>
                </a:solidFill>
                <a:latin typeface="Calibri" pitchFamily="34" charset="0"/>
                <a:ea typeface="Calibri" pitchFamily="34" charset="-122"/>
                <a:cs typeface="Calibri" pitchFamily="34" charset="-120"/>
              </a:rPr>
              <a:t>E L   S U P U E S T O   C L A V E</a:t>
            </a:r>
            <a:endParaRPr lang="en-US" sz="950" dirty="0"/>
          </a:p>
        </p:txBody>
      </p:sp>
      <p:sp>
        <p:nvSpPr>
          <p:cNvPr id="13" name="Text 8"/>
          <p:cNvSpPr/>
          <p:nvPr/>
        </p:nvSpPr>
        <p:spPr>
          <a:xfrm>
            <a:off x="7754112" y="2926080"/>
            <a:ext cx="3611880" cy="1024128"/>
          </a:xfrm>
          <a:prstGeom prst="rect">
            <a:avLst/>
          </a:prstGeom>
          <a:noFill/>
          <a:ln/>
        </p:spPr>
        <p:txBody>
          <a:bodyPr wrap="square" lIns="0" tIns="0" rIns="0" bIns="0" rtlCol="0" anchor="ctr"/>
          <a:lstStyle/>
          <a:p>
            <a:pPr indent="0" marL="0">
              <a:lnSpc>
                <a:spcPct val="114000"/>
              </a:lnSpc>
              <a:buNone/>
            </a:pPr>
            <a:r>
              <a:rPr lang="en-US" sz="1150" dirty="0">
                <a:solidFill>
                  <a:srgbClr val="2B2B3A"/>
                </a:solidFill>
                <a:latin typeface="Calibri" pitchFamily="34" charset="0"/>
                <a:ea typeface="Calibri" pitchFamily="34" charset="-122"/>
                <a:cs typeface="Calibri" pitchFamily="34" charset="-120"/>
              </a:rPr>
              <a:t>Todo lo omitido que importa es fijo en el tiempo. Si hay algo no observado que cambia junto con el tratamiento —una reforma local, un cambio de gobierno—, los efectos fijos no lo tocan.</a:t>
            </a:r>
            <a:endParaRPr lang="en-US" sz="1150" dirty="0"/>
          </a:p>
        </p:txBody>
      </p:sp>
      <p:sp>
        <p:nvSpPr>
          <p:cNvPr id="14" name="Shape 9"/>
          <p:cNvSpPr/>
          <p:nvPr/>
        </p:nvSpPr>
        <p:spPr>
          <a:xfrm>
            <a:off x="7498080" y="4169664"/>
            <a:ext cx="4123944" cy="1243584"/>
          </a:xfrm>
          <a:prstGeom prst="roundRect">
            <a:avLst>
              <a:gd name="adj" fmla="val 6618"/>
            </a:avLst>
          </a:prstGeom>
          <a:solidFill>
            <a:srgbClr val="EEF0FC"/>
          </a:solidFill>
          <a:ln/>
        </p:spPr>
      </p:sp>
      <p:sp>
        <p:nvSpPr>
          <p:cNvPr id="15" name="Text 10"/>
          <p:cNvSpPr/>
          <p:nvPr/>
        </p:nvSpPr>
        <p:spPr>
          <a:xfrm>
            <a:off x="7754112" y="4261104"/>
            <a:ext cx="3611880" cy="237744"/>
          </a:xfrm>
          <a:prstGeom prst="rect">
            <a:avLst/>
          </a:prstGeom>
          <a:noFill/>
          <a:ln/>
        </p:spPr>
        <p:txBody>
          <a:bodyPr wrap="square" lIns="0" tIns="0" rIns="0" bIns="0" rtlCol="0" anchor="ctr"/>
          <a:lstStyle/>
          <a:p>
            <a:pPr indent="0" marL="0">
              <a:buNone/>
            </a:pPr>
            <a:r>
              <a:rPr lang="en-US" sz="950" b="1" spc="60" kern="0" dirty="0">
                <a:solidFill>
                  <a:srgbClr val="4B45C4"/>
                </a:solidFill>
                <a:latin typeface="Calibri" pitchFamily="34" charset="0"/>
                <a:ea typeface="Calibri" pitchFamily="34" charset="-122"/>
                <a:cs typeface="Calibri" pitchFamily="34" charset="-120"/>
              </a:rPr>
              <a:t>C Ó M O   S E   D E F I E N D E</a:t>
            </a:r>
            <a:endParaRPr lang="en-US" sz="950" dirty="0"/>
          </a:p>
        </p:txBody>
      </p:sp>
      <p:sp>
        <p:nvSpPr>
          <p:cNvPr id="16" name="Text 11"/>
          <p:cNvSpPr/>
          <p:nvPr/>
        </p:nvSpPr>
        <p:spPr>
          <a:xfrm>
            <a:off x="7754112" y="4498848"/>
            <a:ext cx="3611880" cy="841248"/>
          </a:xfrm>
          <a:prstGeom prst="rect">
            <a:avLst/>
          </a:prstGeom>
          <a:noFill/>
          <a:ln/>
        </p:spPr>
        <p:txBody>
          <a:bodyPr wrap="square" lIns="0" tIns="0" rIns="0" bIns="0" rtlCol="0" anchor="ctr"/>
          <a:lstStyle/>
          <a:p>
            <a:pPr indent="0" marL="0">
              <a:lnSpc>
                <a:spcPct val="112000"/>
              </a:lnSpc>
              <a:buNone/>
            </a:pPr>
            <a:r>
              <a:rPr lang="en-US" sz="1100" dirty="0">
                <a:solidFill>
                  <a:srgbClr val="2B2B3A"/>
                </a:solidFill>
                <a:latin typeface="Calibri" pitchFamily="34" charset="0"/>
                <a:ea typeface="Calibri" pitchFamily="34" charset="-122"/>
                <a:cs typeface="Calibri" pitchFamily="34" charset="-120"/>
              </a:rPr>
              <a:t>Mostrar que el resultado no depende de incluir o no tendencias específicas por unidad, y discutir qué podría estar cambiando a la vez que el tratamiento.</a:t>
            </a:r>
            <a:endParaRPr lang="en-US" sz="1100" dirty="0"/>
          </a:p>
        </p:txBody>
      </p:sp>
      <p:sp>
        <p:nvSpPr>
          <p:cNvPr id="17" name="Shape 12"/>
          <p:cNvSpPr/>
          <p:nvPr/>
        </p:nvSpPr>
        <p:spPr>
          <a:xfrm>
            <a:off x="7498080" y="5522976"/>
            <a:ext cx="4123944" cy="713232"/>
          </a:xfrm>
          <a:prstGeom prst="roundRect">
            <a:avLst>
              <a:gd name="adj" fmla="val 8974"/>
            </a:avLst>
          </a:prstGeom>
          <a:solidFill>
            <a:srgbClr val="1E1B4A"/>
          </a:solidFill>
          <a:ln/>
        </p:spPr>
      </p:sp>
      <p:sp>
        <p:nvSpPr>
          <p:cNvPr id="18" name="Text 13"/>
          <p:cNvSpPr/>
          <p:nvPr/>
        </p:nvSpPr>
        <p:spPr>
          <a:xfrm>
            <a:off x="7754112" y="5559552"/>
            <a:ext cx="3611880" cy="640080"/>
          </a:xfrm>
          <a:prstGeom prst="rect">
            <a:avLst/>
          </a:prstGeom>
          <a:noFill/>
          <a:ln/>
        </p:spPr>
        <p:txBody>
          <a:bodyPr wrap="square" lIns="0" tIns="0" rIns="0" bIns="0" rtlCol="0" anchor="ctr"/>
          <a:lstStyle/>
          <a:p>
            <a:pPr indent="0" marL="0">
              <a:lnSpc>
                <a:spcPct val="108000"/>
              </a:lnSpc>
              <a:buNone/>
            </a:pPr>
            <a:r>
              <a:rPr lang="en-US" sz="1000" b="1" dirty="0">
                <a:solidFill>
                  <a:srgbClr val="FFFFFF"/>
                </a:solidFill>
                <a:latin typeface="Calibri" pitchFamily="34" charset="0"/>
                <a:ea typeface="Calibri" pitchFamily="34" charset="-122"/>
                <a:cs typeface="Calibri" pitchFamily="34" charset="-120"/>
              </a:rPr>
              <a:t>Acemoglu, Naidu, Restrepo y Robinson (2019, JPE): «Democracy Does Cause Growth».</a:t>
            </a:r>
            <a:endParaRPr lang="en-US" sz="1000" dirty="0"/>
          </a:p>
        </p:txBody>
      </p:sp>
      <p:sp>
        <p:nvSpPr>
          <p:cNvPr id="19" name="Text 14"/>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Otras identificaciones · Panel y efectos fijos</a:t>
            </a:r>
            <a:endParaRPr lang="en-US" sz="900" dirty="0"/>
          </a:p>
        </p:txBody>
      </p:sp>
      <p:sp>
        <p:nvSpPr>
          <p:cNvPr id="20" name="Text 15"/>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DiD: diferencias en diferencias</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Comparar el cambio antes-después del grupo tratado contra el cambio del grupo no tratado.</a:t>
            </a:r>
            <a:endParaRPr lang="en-US" sz="1350" dirty="0"/>
          </a:p>
        </p:txBody>
      </p:sp>
      <p:pic>
        <p:nvPicPr>
          <p:cNvPr id="6" name="Image 1" descr="preencoded.png">    </p:cNvPr>
          <p:cNvPicPr>
            <a:picLocks noChangeAspect="1"/>
          </p:cNvPicPr>
          <p:nvPr/>
        </p:nvPicPr>
        <p:blipFill>
          <a:blip r:embed="rId2"/>
          <a:stretch>
            <a:fillRect/>
          </a:stretch>
        </p:blipFill>
        <p:spPr>
          <a:xfrm>
            <a:off x="566928" y="1591056"/>
            <a:ext cx="6720840" cy="3730752"/>
          </a:xfrm>
          <a:prstGeom prst="rect">
            <a:avLst/>
          </a:prstGeom>
        </p:spPr>
      </p:pic>
      <p:sp>
        <p:nvSpPr>
          <p:cNvPr id="7" name="Shape 3"/>
          <p:cNvSpPr/>
          <p:nvPr/>
        </p:nvSpPr>
        <p:spPr>
          <a:xfrm>
            <a:off x="566928" y="5413248"/>
            <a:ext cx="6720840" cy="822960"/>
          </a:xfrm>
          <a:prstGeom prst="roundRect">
            <a:avLst>
              <a:gd name="adj" fmla="val 7778"/>
            </a:avLst>
          </a:prstGeom>
          <a:solidFill>
            <a:srgbClr val="F7F8FD"/>
          </a:solidFill>
          <a:ln/>
        </p:spPr>
      </p:sp>
      <p:sp>
        <p:nvSpPr>
          <p:cNvPr id="8" name="Text 4"/>
          <p:cNvSpPr/>
          <p:nvPr/>
        </p:nvSpPr>
        <p:spPr>
          <a:xfrm>
            <a:off x="859536" y="5449824"/>
            <a:ext cx="6135624" cy="749808"/>
          </a:xfrm>
          <a:prstGeom prst="rect">
            <a:avLst/>
          </a:prstGeom>
          <a:noFill/>
          <a:ln/>
        </p:spPr>
        <p:txBody>
          <a:bodyPr wrap="square" lIns="0" tIns="0" rIns="0" bIns="0" rtlCol="0" anchor="ctr"/>
          <a:lstStyle/>
          <a:p>
            <a:pPr indent="0" marL="0">
              <a:lnSpc>
                <a:spcPct val="110000"/>
              </a:lnSpc>
              <a:buNone/>
            </a:pPr>
            <a:r>
              <a:rPr lang="en-US" sz="1050" dirty="0">
                <a:solidFill>
                  <a:srgbClr val="6E6E85"/>
                </a:solidFill>
                <a:latin typeface="Calibri" pitchFamily="34" charset="0"/>
                <a:ea typeface="Calibri" pitchFamily="34" charset="-122"/>
                <a:cs typeface="Calibri" pitchFamily="34" charset="-120"/>
              </a:rPr>
              <a:t>La primera resta elimina todo lo que es fijo en cada grupo; la segunda, todo lo que afecta por igual a ambos en el tiempo. Lo que queda es el efecto — siempre que el contrafactual punteado sea creíble.</a:t>
            </a:r>
            <a:endParaRPr lang="en-US" sz="1050" dirty="0"/>
          </a:p>
        </p:txBody>
      </p:sp>
      <p:sp>
        <p:nvSpPr>
          <p:cNvPr id="9" name="Shape 5"/>
          <p:cNvSpPr/>
          <p:nvPr/>
        </p:nvSpPr>
        <p:spPr>
          <a:xfrm>
            <a:off x="7498080" y="1591056"/>
            <a:ext cx="4123944" cy="841248"/>
          </a:xfrm>
          <a:prstGeom prst="roundRect">
            <a:avLst>
              <a:gd name="adj" fmla="val 8696"/>
            </a:avLst>
          </a:prstGeom>
          <a:solidFill>
            <a:srgbClr val="1E1B4A"/>
          </a:solidFill>
          <a:ln/>
        </p:spPr>
      </p:sp>
      <p:pic>
        <p:nvPicPr>
          <p:cNvPr id="10" name="Image 2" descr="/home/claude/fx/did.png">    </p:cNvPr>
          <p:cNvPicPr>
            <a:picLocks noChangeAspect="1"/>
          </p:cNvPicPr>
          <p:nvPr/>
        </p:nvPicPr>
        <p:blipFill>
          <a:blip r:embed="rId3"/>
          <a:stretch>
            <a:fillRect/>
          </a:stretch>
        </p:blipFill>
        <p:spPr>
          <a:xfrm>
            <a:off x="8259273" y="1874520"/>
            <a:ext cx="2601558" cy="274320"/>
          </a:xfrm>
          <a:prstGeom prst="rect">
            <a:avLst/>
          </a:prstGeom>
        </p:spPr>
      </p:pic>
      <p:sp>
        <p:nvSpPr>
          <p:cNvPr id="11" name="Shape 6"/>
          <p:cNvSpPr/>
          <p:nvPr/>
        </p:nvSpPr>
        <p:spPr>
          <a:xfrm>
            <a:off x="7498080" y="2578608"/>
            <a:ext cx="4123944" cy="1481328"/>
          </a:xfrm>
          <a:prstGeom prst="roundRect">
            <a:avLst>
              <a:gd name="adj" fmla="val 5556"/>
            </a:avLst>
          </a:prstGeom>
          <a:solidFill>
            <a:srgbClr val="FBF0F3"/>
          </a:solidFill>
          <a:ln/>
        </p:spPr>
      </p:sp>
      <p:sp>
        <p:nvSpPr>
          <p:cNvPr id="12" name="Text 7"/>
          <p:cNvSpPr/>
          <p:nvPr/>
        </p:nvSpPr>
        <p:spPr>
          <a:xfrm>
            <a:off x="7754112" y="2670048"/>
            <a:ext cx="3611880" cy="237744"/>
          </a:xfrm>
          <a:prstGeom prst="rect">
            <a:avLst/>
          </a:prstGeom>
          <a:noFill/>
          <a:ln/>
        </p:spPr>
        <p:txBody>
          <a:bodyPr wrap="square" lIns="0" tIns="0" rIns="0" bIns="0" rtlCol="0" anchor="ctr"/>
          <a:lstStyle/>
          <a:p>
            <a:pPr indent="0" marL="0">
              <a:buNone/>
            </a:pPr>
            <a:r>
              <a:rPr lang="en-US" sz="950" b="1" spc="60" kern="0" dirty="0">
                <a:solidFill>
                  <a:srgbClr val="A83A57"/>
                </a:solidFill>
                <a:latin typeface="Calibri" pitchFamily="34" charset="0"/>
                <a:ea typeface="Calibri" pitchFamily="34" charset="-122"/>
                <a:cs typeface="Calibri" pitchFamily="34" charset="-120"/>
              </a:rPr>
              <a:t>E L   S U P U E S T O   C L A V E</a:t>
            </a:r>
            <a:endParaRPr lang="en-US" sz="950" dirty="0"/>
          </a:p>
        </p:txBody>
      </p:sp>
      <p:sp>
        <p:nvSpPr>
          <p:cNvPr id="13" name="Text 8"/>
          <p:cNvSpPr/>
          <p:nvPr/>
        </p:nvSpPr>
        <p:spPr>
          <a:xfrm>
            <a:off x="7754112" y="2926080"/>
            <a:ext cx="3611880" cy="1024128"/>
          </a:xfrm>
          <a:prstGeom prst="rect">
            <a:avLst/>
          </a:prstGeom>
          <a:noFill/>
          <a:ln/>
        </p:spPr>
        <p:txBody>
          <a:bodyPr wrap="square" lIns="0" tIns="0" rIns="0" bIns="0" rtlCol="0" anchor="ctr"/>
          <a:lstStyle/>
          <a:p>
            <a:pPr indent="0" marL="0">
              <a:lnSpc>
                <a:spcPct val="114000"/>
              </a:lnSpc>
              <a:buNone/>
            </a:pPr>
            <a:r>
              <a:rPr lang="en-US" sz="1150" dirty="0">
                <a:solidFill>
                  <a:srgbClr val="2B2B3A"/>
                </a:solidFill>
                <a:latin typeface="Calibri" pitchFamily="34" charset="0"/>
                <a:ea typeface="Calibri" pitchFamily="34" charset="-122"/>
                <a:cs typeface="Calibri" pitchFamily="34" charset="-120"/>
              </a:rPr>
              <a:t>Tendencias paralelas: sin el tratamiento, los dos grupos habrían evolucionado igual. No es que sean iguales en nivel, es que se mueven al mismo ritmo.</a:t>
            </a:r>
            <a:endParaRPr lang="en-US" sz="1150" dirty="0"/>
          </a:p>
        </p:txBody>
      </p:sp>
      <p:sp>
        <p:nvSpPr>
          <p:cNvPr id="14" name="Shape 9"/>
          <p:cNvSpPr/>
          <p:nvPr/>
        </p:nvSpPr>
        <p:spPr>
          <a:xfrm>
            <a:off x="7498080" y="4169664"/>
            <a:ext cx="4123944" cy="1243584"/>
          </a:xfrm>
          <a:prstGeom prst="roundRect">
            <a:avLst>
              <a:gd name="adj" fmla="val 6618"/>
            </a:avLst>
          </a:prstGeom>
          <a:solidFill>
            <a:srgbClr val="EEF0FC"/>
          </a:solidFill>
          <a:ln/>
        </p:spPr>
      </p:sp>
      <p:sp>
        <p:nvSpPr>
          <p:cNvPr id="15" name="Text 10"/>
          <p:cNvSpPr/>
          <p:nvPr/>
        </p:nvSpPr>
        <p:spPr>
          <a:xfrm>
            <a:off x="7754112" y="4261104"/>
            <a:ext cx="3611880" cy="237744"/>
          </a:xfrm>
          <a:prstGeom prst="rect">
            <a:avLst/>
          </a:prstGeom>
          <a:noFill/>
          <a:ln/>
        </p:spPr>
        <p:txBody>
          <a:bodyPr wrap="square" lIns="0" tIns="0" rIns="0" bIns="0" rtlCol="0" anchor="ctr"/>
          <a:lstStyle/>
          <a:p>
            <a:pPr indent="0" marL="0">
              <a:buNone/>
            </a:pPr>
            <a:r>
              <a:rPr lang="en-US" sz="950" b="1" spc="60" kern="0" dirty="0">
                <a:solidFill>
                  <a:srgbClr val="4B45C4"/>
                </a:solidFill>
                <a:latin typeface="Calibri" pitchFamily="34" charset="0"/>
                <a:ea typeface="Calibri" pitchFamily="34" charset="-122"/>
                <a:cs typeface="Calibri" pitchFamily="34" charset="-120"/>
              </a:rPr>
              <a:t>C Ó M O   S E   D E F I E N D E</a:t>
            </a:r>
            <a:endParaRPr lang="en-US" sz="950" dirty="0"/>
          </a:p>
        </p:txBody>
      </p:sp>
      <p:sp>
        <p:nvSpPr>
          <p:cNvPr id="16" name="Text 11"/>
          <p:cNvSpPr/>
          <p:nvPr/>
        </p:nvSpPr>
        <p:spPr>
          <a:xfrm>
            <a:off x="7754112" y="4498848"/>
            <a:ext cx="3611880" cy="841248"/>
          </a:xfrm>
          <a:prstGeom prst="rect">
            <a:avLst/>
          </a:prstGeom>
          <a:noFill/>
          <a:ln/>
        </p:spPr>
        <p:txBody>
          <a:bodyPr wrap="square" lIns="0" tIns="0" rIns="0" bIns="0" rtlCol="0" anchor="ctr"/>
          <a:lstStyle/>
          <a:p>
            <a:pPr indent="0" marL="0">
              <a:lnSpc>
                <a:spcPct val="112000"/>
              </a:lnSpc>
              <a:buNone/>
            </a:pPr>
            <a:r>
              <a:rPr lang="en-US" sz="1100" dirty="0">
                <a:solidFill>
                  <a:srgbClr val="2B2B3A"/>
                </a:solidFill>
                <a:latin typeface="Calibri" pitchFamily="34" charset="0"/>
                <a:ea typeface="Calibri" pitchFamily="34" charset="-122"/>
                <a:cs typeface="Calibri" pitchFamily="34" charset="-120"/>
              </a:rPr>
              <a:t>Graficar varios periodos previos y mostrar que las series ya venían paralelas; correr un estudio de eventos y verificar que los coeficientes pre-tratamiento son cero.</a:t>
            </a:r>
            <a:endParaRPr lang="en-US" sz="1100" dirty="0"/>
          </a:p>
        </p:txBody>
      </p:sp>
      <p:sp>
        <p:nvSpPr>
          <p:cNvPr id="17" name="Shape 12"/>
          <p:cNvSpPr/>
          <p:nvPr/>
        </p:nvSpPr>
        <p:spPr>
          <a:xfrm>
            <a:off x="7498080" y="5522976"/>
            <a:ext cx="4123944" cy="713232"/>
          </a:xfrm>
          <a:prstGeom prst="roundRect">
            <a:avLst>
              <a:gd name="adj" fmla="val 8974"/>
            </a:avLst>
          </a:prstGeom>
          <a:solidFill>
            <a:srgbClr val="1E1B4A"/>
          </a:solidFill>
          <a:ln/>
        </p:spPr>
      </p:sp>
      <p:sp>
        <p:nvSpPr>
          <p:cNvPr id="18" name="Text 13"/>
          <p:cNvSpPr/>
          <p:nvPr/>
        </p:nvSpPr>
        <p:spPr>
          <a:xfrm>
            <a:off x="7754112" y="5559552"/>
            <a:ext cx="3611880" cy="640080"/>
          </a:xfrm>
          <a:prstGeom prst="rect">
            <a:avLst/>
          </a:prstGeom>
          <a:noFill/>
          <a:ln/>
        </p:spPr>
        <p:txBody>
          <a:bodyPr wrap="square" lIns="0" tIns="0" rIns="0" bIns="0" rtlCol="0" anchor="ctr"/>
          <a:lstStyle/>
          <a:p>
            <a:pPr indent="0" marL="0">
              <a:lnSpc>
                <a:spcPct val="108000"/>
              </a:lnSpc>
              <a:buNone/>
            </a:pPr>
            <a:r>
              <a:rPr lang="en-US" sz="1000" b="1" dirty="0">
                <a:solidFill>
                  <a:srgbClr val="FFFFFF"/>
                </a:solidFill>
                <a:latin typeface="Calibri" pitchFamily="34" charset="0"/>
                <a:ea typeface="Calibri" pitchFamily="34" charset="-122"/>
                <a:cs typeface="Calibri" pitchFamily="34" charset="-120"/>
              </a:rPr>
              <a:t>Card y Krueger (1994, AER): salario mínimo y empleo en Nueva Jersey frente a Pensilvania.</a:t>
            </a:r>
            <a:endParaRPr lang="en-US" sz="1000" dirty="0"/>
          </a:p>
        </p:txBody>
      </p:sp>
      <p:sp>
        <p:nvSpPr>
          <p:cNvPr id="19" name="Text 14"/>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Otras identificaciones · Diferencias en diferencias</a:t>
            </a:r>
            <a:endParaRPr lang="en-US" sz="900" dirty="0"/>
          </a:p>
        </p:txBody>
      </p:sp>
      <p:sp>
        <p:nvSpPr>
          <p:cNvPr id="20" name="Text 15"/>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RDD: regresión discontinua</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Comparar a quienes quedaron justo por encima con quienes quedaron justo por debajo de un umbral.</a:t>
            </a:r>
            <a:endParaRPr lang="en-US" sz="1350" dirty="0"/>
          </a:p>
        </p:txBody>
      </p:sp>
      <p:pic>
        <p:nvPicPr>
          <p:cNvPr id="6" name="Image 1" descr="preencoded.png">    </p:cNvPr>
          <p:cNvPicPr>
            <a:picLocks noChangeAspect="1"/>
          </p:cNvPicPr>
          <p:nvPr/>
        </p:nvPicPr>
        <p:blipFill>
          <a:blip r:embed="rId2"/>
          <a:stretch>
            <a:fillRect/>
          </a:stretch>
        </p:blipFill>
        <p:spPr>
          <a:xfrm>
            <a:off x="566928" y="1591056"/>
            <a:ext cx="6720840" cy="3730752"/>
          </a:xfrm>
          <a:prstGeom prst="rect">
            <a:avLst/>
          </a:prstGeom>
        </p:spPr>
      </p:pic>
      <p:sp>
        <p:nvSpPr>
          <p:cNvPr id="7" name="Shape 3"/>
          <p:cNvSpPr/>
          <p:nvPr/>
        </p:nvSpPr>
        <p:spPr>
          <a:xfrm>
            <a:off x="566928" y="5413248"/>
            <a:ext cx="6720840" cy="822960"/>
          </a:xfrm>
          <a:prstGeom prst="roundRect">
            <a:avLst>
              <a:gd name="adj" fmla="val 7778"/>
            </a:avLst>
          </a:prstGeom>
          <a:solidFill>
            <a:srgbClr val="F7F8FD"/>
          </a:solidFill>
          <a:ln/>
        </p:spPr>
      </p:sp>
      <p:sp>
        <p:nvSpPr>
          <p:cNvPr id="8" name="Text 4"/>
          <p:cNvSpPr/>
          <p:nvPr/>
        </p:nvSpPr>
        <p:spPr>
          <a:xfrm>
            <a:off x="859536" y="5449824"/>
            <a:ext cx="6135624" cy="749808"/>
          </a:xfrm>
          <a:prstGeom prst="rect">
            <a:avLst/>
          </a:prstGeom>
          <a:noFill/>
          <a:ln/>
        </p:spPr>
        <p:txBody>
          <a:bodyPr wrap="square" lIns="0" tIns="0" rIns="0" bIns="0" rtlCol="0" anchor="ctr"/>
          <a:lstStyle/>
          <a:p>
            <a:pPr indent="0" marL="0">
              <a:lnSpc>
                <a:spcPct val="110000"/>
              </a:lnSpc>
              <a:buNone/>
            </a:pPr>
            <a:r>
              <a:rPr lang="en-US" sz="1050" dirty="0">
                <a:solidFill>
                  <a:srgbClr val="6E6E85"/>
                </a:solidFill>
                <a:latin typeface="Calibri" pitchFamily="34" charset="0"/>
                <a:ea typeface="Calibri" pitchFamily="34" charset="-122"/>
                <a:cs typeface="Calibri" pitchFamily="34" charset="-120"/>
              </a:rPr>
              <a:t>Justo alrededor del corte, quedar dentro o fuera del programa es casi un sorteo: nadie controla su puntaje con esa precisión. Por eso el RDD es el diseño no experimental más creíble, y por eso solo informa cerca del umbral.</a:t>
            </a:r>
            <a:endParaRPr lang="en-US" sz="1050" dirty="0"/>
          </a:p>
        </p:txBody>
      </p:sp>
      <p:sp>
        <p:nvSpPr>
          <p:cNvPr id="9" name="Shape 5"/>
          <p:cNvSpPr/>
          <p:nvPr/>
        </p:nvSpPr>
        <p:spPr>
          <a:xfrm>
            <a:off x="7498080" y="1591056"/>
            <a:ext cx="4123944" cy="841248"/>
          </a:xfrm>
          <a:prstGeom prst="roundRect">
            <a:avLst>
              <a:gd name="adj" fmla="val 8696"/>
            </a:avLst>
          </a:prstGeom>
          <a:solidFill>
            <a:srgbClr val="1E1B4A"/>
          </a:solidFill>
          <a:ln/>
        </p:spPr>
      </p:sp>
      <p:pic>
        <p:nvPicPr>
          <p:cNvPr id="10" name="Image 2" descr="/home/claude/fx/rdd.png">    </p:cNvPr>
          <p:cNvPicPr>
            <a:picLocks noChangeAspect="1"/>
          </p:cNvPicPr>
          <p:nvPr/>
        </p:nvPicPr>
        <p:blipFill>
          <a:blip r:embed="rId3"/>
          <a:stretch>
            <a:fillRect/>
          </a:stretch>
        </p:blipFill>
        <p:spPr>
          <a:xfrm>
            <a:off x="8659344" y="1874520"/>
            <a:ext cx="1801417" cy="274320"/>
          </a:xfrm>
          <a:prstGeom prst="rect">
            <a:avLst/>
          </a:prstGeom>
        </p:spPr>
      </p:pic>
      <p:sp>
        <p:nvSpPr>
          <p:cNvPr id="11" name="Shape 6"/>
          <p:cNvSpPr/>
          <p:nvPr/>
        </p:nvSpPr>
        <p:spPr>
          <a:xfrm>
            <a:off x="7498080" y="2578608"/>
            <a:ext cx="4123944" cy="1481328"/>
          </a:xfrm>
          <a:prstGeom prst="roundRect">
            <a:avLst>
              <a:gd name="adj" fmla="val 5556"/>
            </a:avLst>
          </a:prstGeom>
          <a:solidFill>
            <a:srgbClr val="FBF0F3"/>
          </a:solidFill>
          <a:ln/>
        </p:spPr>
      </p:sp>
      <p:sp>
        <p:nvSpPr>
          <p:cNvPr id="12" name="Text 7"/>
          <p:cNvSpPr/>
          <p:nvPr/>
        </p:nvSpPr>
        <p:spPr>
          <a:xfrm>
            <a:off x="7754112" y="2670048"/>
            <a:ext cx="3611880" cy="237744"/>
          </a:xfrm>
          <a:prstGeom prst="rect">
            <a:avLst/>
          </a:prstGeom>
          <a:noFill/>
          <a:ln/>
        </p:spPr>
        <p:txBody>
          <a:bodyPr wrap="square" lIns="0" tIns="0" rIns="0" bIns="0" rtlCol="0" anchor="ctr"/>
          <a:lstStyle/>
          <a:p>
            <a:pPr indent="0" marL="0">
              <a:buNone/>
            </a:pPr>
            <a:r>
              <a:rPr lang="en-US" sz="950" b="1" spc="60" kern="0" dirty="0">
                <a:solidFill>
                  <a:srgbClr val="A83A57"/>
                </a:solidFill>
                <a:latin typeface="Calibri" pitchFamily="34" charset="0"/>
                <a:ea typeface="Calibri" pitchFamily="34" charset="-122"/>
                <a:cs typeface="Calibri" pitchFamily="34" charset="-120"/>
              </a:rPr>
              <a:t>E L   S U P U E S T O   C L A V E</a:t>
            </a:r>
            <a:endParaRPr lang="en-US" sz="950" dirty="0"/>
          </a:p>
        </p:txBody>
      </p:sp>
      <p:sp>
        <p:nvSpPr>
          <p:cNvPr id="13" name="Text 8"/>
          <p:cNvSpPr/>
          <p:nvPr/>
        </p:nvSpPr>
        <p:spPr>
          <a:xfrm>
            <a:off x="7754112" y="2926080"/>
            <a:ext cx="3611880" cy="1024128"/>
          </a:xfrm>
          <a:prstGeom prst="rect">
            <a:avLst/>
          </a:prstGeom>
          <a:noFill/>
          <a:ln/>
        </p:spPr>
        <p:txBody>
          <a:bodyPr wrap="square" lIns="0" tIns="0" rIns="0" bIns="0" rtlCol="0" anchor="ctr"/>
          <a:lstStyle/>
          <a:p>
            <a:pPr indent="0" marL="0">
              <a:lnSpc>
                <a:spcPct val="114000"/>
              </a:lnSpc>
              <a:buNone/>
            </a:pPr>
            <a:r>
              <a:rPr lang="en-US" sz="1150" dirty="0">
                <a:solidFill>
                  <a:srgbClr val="2B2B3A"/>
                </a:solidFill>
                <a:latin typeface="Calibri" pitchFamily="34" charset="0"/>
                <a:ea typeface="Calibri" pitchFamily="34" charset="-122"/>
                <a:cs typeface="Calibri" pitchFamily="34" charset="-120"/>
              </a:rPr>
              <a:t>Nada más cambia en el umbral, y las unidades no pueden manipular su posición respecto al corte para entrar al programa.</a:t>
            </a:r>
            <a:endParaRPr lang="en-US" sz="1150" dirty="0"/>
          </a:p>
        </p:txBody>
      </p:sp>
      <p:sp>
        <p:nvSpPr>
          <p:cNvPr id="14" name="Shape 9"/>
          <p:cNvSpPr/>
          <p:nvPr/>
        </p:nvSpPr>
        <p:spPr>
          <a:xfrm>
            <a:off x="7498080" y="4169664"/>
            <a:ext cx="4123944" cy="1243584"/>
          </a:xfrm>
          <a:prstGeom prst="roundRect">
            <a:avLst>
              <a:gd name="adj" fmla="val 6618"/>
            </a:avLst>
          </a:prstGeom>
          <a:solidFill>
            <a:srgbClr val="EEF0FC"/>
          </a:solidFill>
          <a:ln/>
        </p:spPr>
      </p:sp>
      <p:sp>
        <p:nvSpPr>
          <p:cNvPr id="15" name="Text 10"/>
          <p:cNvSpPr/>
          <p:nvPr/>
        </p:nvSpPr>
        <p:spPr>
          <a:xfrm>
            <a:off x="7754112" y="4261104"/>
            <a:ext cx="3611880" cy="237744"/>
          </a:xfrm>
          <a:prstGeom prst="rect">
            <a:avLst/>
          </a:prstGeom>
          <a:noFill/>
          <a:ln/>
        </p:spPr>
        <p:txBody>
          <a:bodyPr wrap="square" lIns="0" tIns="0" rIns="0" bIns="0" rtlCol="0" anchor="ctr"/>
          <a:lstStyle/>
          <a:p>
            <a:pPr indent="0" marL="0">
              <a:buNone/>
            </a:pPr>
            <a:r>
              <a:rPr lang="en-US" sz="950" b="1" spc="60" kern="0" dirty="0">
                <a:solidFill>
                  <a:srgbClr val="4B45C4"/>
                </a:solidFill>
                <a:latin typeface="Calibri" pitchFamily="34" charset="0"/>
                <a:ea typeface="Calibri" pitchFamily="34" charset="-122"/>
                <a:cs typeface="Calibri" pitchFamily="34" charset="-120"/>
              </a:rPr>
              <a:t>C Ó M O   S E   D E F I E N D E</a:t>
            </a:r>
            <a:endParaRPr lang="en-US" sz="950" dirty="0"/>
          </a:p>
        </p:txBody>
      </p:sp>
      <p:sp>
        <p:nvSpPr>
          <p:cNvPr id="16" name="Text 11"/>
          <p:cNvSpPr/>
          <p:nvPr/>
        </p:nvSpPr>
        <p:spPr>
          <a:xfrm>
            <a:off x="7754112" y="4498848"/>
            <a:ext cx="3611880" cy="841248"/>
          </a:xfrm>
          <a:prstGeom prst="rect">
            <a:avLst/>
          </a:prstGeom>
          <a:noFill/>
          <a:ln/>
        </p:spPr>
        <p:txBody>
          <a:bodyPr wrap="square" lIns="0" tIns="0" rIns="0" bIns="0" rtlCol="0" anchor="ctr"/>
          <a:lstStyle/>
          <a:p>
            <a:pPr indent="0" marL="0">
              <a:lnSpc>
                <a:spcPct val="112000"/>
              </a:lnSpc>
              <a:buNone/>
            </a:pPr>
            <a:r>
              <a:rPr lang="en-US" sz="1100" dirty="0">
                <a:solidFill>
                  <a:srgbClr val="2B2B3A"/>
                </a:solidFill>
                <a:latin typeface="Calibri" pitchFamily="34" charset="0"/>
                <a:ea typeface="Calibri" pitchFamily="34" charset="-122"/>
                <a:cs typeface="Calibri" pitchFamily="34" charset="-120"/>
              </a:rPr>
              <a:t>Contraste de McCrary sobre la densidad alrededor del corte, verificar que las covariables previas no saltan, y mostrar que el resultado aguanta cambiar el ancho de banda.</a:t>
            </a:r>
            <a:endParaRPr lang="en-US" sz="1100" dirty="0"/>
          </a:p>
        </p:txBody>
      </p:sp>
      <p:sp>
        <p:nvSpPr>
          <p:cNvPr id="17" name="Shape 12"/>
          <p:cNvSpPr/>
          <p:nvPr/>
        </p:nvSpPr>
        <p:spPr>
          <a:xfrm>
            <a:off x="7498080" y="5522976"/>
            <a:ext cx="4123944" cy="713232"/>
          </a:xfrm>
          <a:prstGeom prst="roundRect">
            <a:avLst>
              <a:gd name="adj" fmla="val 8974"/>
            </a:avLst>
          </a:prstGeom>
          <a:solidFill>
            <a:srgbClr val="1E1B4A"/>
          </a:solidFill>
          <a:ln/>
        </p:spPr>
      </p:sp>
      <p:sp>
        <p:nvSpPr>
          <p:cNvPr id="18" name="Text 13"/>
          <p:cNvSpPr/>
          <p:nvPr/>
        </p:nvSpPr>
        <p:spPr>
          <a:xfrm>
            <a:off x="7754112" y="5559552"/>
            <a:ext cx="3611880" cy="640080"/>
          </a:xfrm>
          <a:prstGeom prst="rect">
            <a:avLst/>
          </a:prstGeom>
          <a:noFill/>
          <a:ln/>
        </p:spPr>
        <p:txBody>
          <a:bodyPr wrap="square" lIns="0" tIns="0" rIns="0" bIns="0" rtlCol="0" anchor="ctr"/>
          <a:lstStyle/>
          <a:p>
            <a:pPr indent="0" marL="0">
              <a:lnSpc>
                <a:spcPct val="108000"/>
              </a:lnSpc>
              <a:buNone/>
            </a:pPr>
            <a:r>
              <a:rPr lang="en-US" sz="1000" b="1" dirty="0">
                <a:solidFill>
                  <a:srgbClr val="FFFFFF"/>
                </a:solidFill>
                <a:latin typeface="Calibri" pitchFamily="34" charset="0"/>
                <a:ea typeface="Calibri" pitchFamily="34" charset="-122"/>
                <a:cs typeface="Calibri" pitchFamily="34" charset="-120"/>
              </a:rPr>
              <a:t>Angrist y Lavy (1999, QJE): la regla de Maimónides y el tamaño de la clase.</a:t>
            </a:r>
            <a:endParaRPr lang="en-US" sz="1000" dirty="0"/>
          </a:p>
        </p:txBody>
      </p:sp>
      <p:sp>
        <p:nvSpPr>
          <p:cNvPr id="19" name="Text 14"/>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Otras identificaciones · Regresión discontinua</a:t>
            </a:r>
            <a:endParaRPr lang="en-US" sz="900" dirty="0"/>
          </a:p>
        </p:txBody>
      </p:sp>
      <p:sp>
        <p:nvSpPr>
          <p:cNvPr id="20" name="Text 15"/>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PSM: emparejamiento por propensión</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Comparar tratados y no tratados que tenían la misma probabilidad estimada de haber sido tratados.</a:t>
            </a:r>
            <a:endParaRPr lang="en-US" sz="1350" dirty="0"/>
          </a:p>
        </p:txBody>
      </p:sp>
      <p:pic>
        <p:nvPicPr>
          <p:cNvPr id="6" name="Image 1" descr="preencoded.png">    </p:cNvPr>
          <p:cNvPicPr>
            <a:picLocks noChangeAspect="1"/>
          </p:cNvPicPr>
          <p:nvPr/>
        </p:nvPicPr>
        <p:blipFill>
          <a:blip r:embed="rId2"/>
          <a:stretch>
            <a:fillRect/>
          </a:stretch>
        </p:blipFill>
        <p:spPr>
          <a:xfrm>
            <a:off x="566928" y="1591056"/>
            <a:ext cx="6720840" cy="3730752"/>
          </a:xfrm>
          <a:prstGeom prst="rect">
            <a:avLst/>
          </a:prstGeom>
        </p:spPr>
      </p:pic>
      <p:sp>
        <p:nvSpPr>
          <p:cNvPr id="7" name="Shape 3"/>
          <p:cNvSpPr/>
          <p:nvPr/>
        </p:nvSpPr>
        <p:spPr>
          <a:xfrm>
            <a:off x="566928" y="5413248"/>
            <a:ext cx="6720840" cy="822960"/>
          </a:xfrm>
          <a:prstGeom prst="roundRect">
            <a:avLst>
              <a:gd name="adj" fmla="val 7778"/>
            </a:avLst>
          </a:prstGeom>
          <a:solidFill>
            <a:srgbClr val="F7F8FD"/>
          </a:solidFill>
          <a:ln/>
        </p:spPr>
      </p:sp>
      <p:sp>
        <p:nvSpPr>
          <p:cNvPr id="8" name="Text 4"/>
          <p:cNvSpPr/>
          <p:nvPr/>
        </p:nvSpPr>
        <p:spPr>
          <a:xfrm>
            <a:off x="859536" y="5449824"/>
            <a:ext cx="6135624" cy="749808"/>
          </a:xfrm>
          <a:prstGeom prst="rect">
            <a:avLst/>
          </a:prstGeom>
          <a:noFill/>
          <a:ln/>
        </p:spPr>
        <p:txBody>
          <a:bodyPr wrap="square" lIns="0" tIns="0" rIns="0" bIns="0" rtlCol="0" anchor="ctr"/>
          <a:lstStyle/>
          <a:p>
            <a:pPr indent="0" marL="0">
              <a:lnSpc>
                <a:spcPct val="110000"/>
              </a:lnSpc>
              <a:buNone/>
            </a:pPr>
            <a:r>
              <a:rPr lang="en-US" sz="1050" dirty="0">
                <a:solidFill>
                  <a:srgbClr val="6E6E85"/>
                </a:solidFill>
                <a:latin typeface="Calibri" pitchFamily="34" charset="0"/>
                <a:ea typeface="Calibri" pitchFamily="34" charset="-122"/>
                <a:cs typeface="Calibri" pitchFamily="34" charset="-120"/>
              </a:rPr>
              <a:t>Se estima la probabilidad de tratarse a partir de las covariables y se emparejan unidades con puntajes parecidos. Fuera del soporte común no hay con quién comparar: esas unidades se descartan y la población sobre la que se concluye cambia.</a:t>
            </a:r>
            <a:endParaRPr lang="en-US" sz="1050" dirty="0"/>
          </a:p>
        </p:txBody>
      </p:sp>
      <p:sp>
        <p:nvSpPr>
          <p:cNvPr id="9" name="Shape 5"/>
          <p:cNvSpPr/>
          <p:nvPr/>
        </p:nvSpPr>
        <p:spPr>
          <a:xfrm>
            <a:off x="7498080" y="1591056"/>
            <a:ext cx="4123944" cy="841248"/>
          </a:xfrm>
          <a:prstGeom prst="roundRect">
            <a:avLst>
              <a:gd name="adj" fmla="val 8696"/>
            </a:avLst>
          </a:prstGeom>
          <a:solidFill>
            <a:srgbClr val="1E1B4A"/>
          </a:solidFill>
          <a:ln/>
        </p:spPr>
      </p:sp>
      <p:pic>
        <p:nvPicPr>
          <p:cNvPr id="10" name="Image 2" descr="/home/claude/fx/psm.png">    </p:cNvPr>
          <p:cNvPicPr>
            <a:picLocks noChangeAspect="1"/>
          </p:cNvPicPr>
          <p:nvPr/>
        </p:nvPicPr>
        <p:blipFill>
          <a:blip r:embed="rId3"/>
          <a:stretch>
            <a:fillRect/>
          </a:stretch>
        </p:blipFill>
        <p:spPr>
          <a:xfrm>
            <a:off x="8594137" y="1874520"/>
            <a:ext cx="1931831" cy="274320"/>
          </a:xfrm>
          <a:prstGeom prst="rect">
            <a:avLst/>
          </a:prstGeom>
        </p:spPr>
      </p:pic>
      <p:sp>
        <p:nvSpPr>
          <p:cNvPr id="11" name="Shape 6"/>
          <p:cNvSpPr/>
          <p:nvPr/>
        </p:nvSpPr>
        <p:spPr>
          <a:xfrm>
            <a:off x="7498080" y="2578608"/>
            <a:ext cx="4123944" cy="1481328"/>
          </a:xfrm>
          <a:prstGeom prst="roundRect">
            <a:avLst>
              <a:gd name="adj" fmla="val 5556"/>
            </a:avLst>
          </a:prstGeom>
          <a:solidFill>
            <a:srgbClr val="FBF0F3"/>
          </a:solidFill>
          <a:ln/>
        </p:spPr>
      </p:sp>
      <p:sp>
        <p:nvSpPr>
          <p:cNvPr id="12" name="Text 7"/>
          <p:cNvSpPr/>
          <p:nvPr/>
        </p:nvSpPr>
        <p:spPr>
          <a:xfrm>
            <a:off x="7754112" y="2670048"/>
            <a:ext cx="3611880" cy="237744"/>
          </a:xfrm>
          <a:prstGeom prst="rect">
            <a:avLst/>
          </a:prstGeom>
          <a:noFill/>
          <a:ln/>
        </p:spPr>
        <p:txBody>
          <a:bodyPr wrap="square" lIns="0" tIns="0" rIns="0" bIns="0" rtlCol="0" anchor="ctr"/>
          <a:lstStyle/>
          <a:p>
            <a:pPr indent="0" marL="0">
              <a:buNone/>
            </a:pPr>
            <a:r>
              <a:rPr lang="en-US" sz="950" b="1" spc="60" kern="0" dirty="0">
                <a:solidFill>
                  <a:srgbClr val="A83A57"/>
                </a:solidFill>
                <a:latin typeface="Calibri" pitchFamily="34" charset="0"/>
                <a:ea typeface="Calibri" pitchFamily="34" charset="-122"/>
                <a:cs typeface="Calibri" pitchFamily="34" charset="-120"/>
              </a:rPr>
              <a:t>E L   S U P U E S T O   C L A V E</a:t>
            </a:r>
            <a:endParaRPr lang="en-US" sz="950" dirty="0"/>
          </a:p>
        </p:txBody>
      </p:sp>
      <p:sp>
        <p:nvSpPr>
          <p:cNvPr id="13" name="Text 8"/>
          <p:cNvSpPr/>
          <p:nvPr/>
        </p:nvSpPr>
        <p:spPr>
          <a:xfrm>
            <a:off x="7754112" y="2926080"/>
            <a:ext cx="3611880" cy="1024128"/>
          </a:xfrm>
          <a:prstGeom prst="rect">
            <a:avLst/>
          </a:prstGeom>
          <a:noFill/>
          <a:ln/>
        </p:spPr>
        <p:txBody>
          <a:bodyPr wrap="square" lIns="0" tIns="0" rIns="0" bIns="0" rtlCol="0" anchor="ctr"/>
          <a:lstStyle/>
          <a:p>
            <a:pPr indent="0" marL="0">
              <a:lnSpc>
                <a:spcPct val="114000"/>
              </a:lnSpc>
              <a:buNone/>
            </a:pPr>
            <a:r>
              <a:rPr lang="en-US" sz="1150" dirty="0">
                <a:solidFill>
                  <a:srgbClr val="2B2B3A"/>
                </a:solidFill>
                <a:latin typeface="Calibri" pitchFamily="34" charset="0"/>
                <a:ea typeface="Calibri" pitchFamily="34" charset="-122"/>
                <a:cs typeface="Calibri" pitchFamily="34" charset="-120"/>
              </a:rPr>
              <a:t>Selección sobre observables: una vez controlado X, quién recibió el tratamiento es como si fuera aleatorio. Es el supuesto más exigente de todos y no se puede contrastar.</a:t>
            </a:r>
            <a:endParaRPr lang="en-US" sz="1150" dirty="0"/>
          </a:p>
        </p:txBody>
      </p:sp>
      <p:sp>
        <p:nvSpPr>
          <p:cNvPr id="14" name="Shape 9"/>
          <p:cNvSpPr/>
          <p:nvPr/>
        </p:nvSpPr>
        <p:spPr>
          <a:xfrm>
            <a:off x="7498080" y="4169664"/>
            <a:ext cx="4123944" cy="1243584"/>
          </a:xfrm>
          <a:prstGeom prst="roundRect">
            <a:avLst>
              <a:gd name="adj" fmla="val 6618"/>
            </a:avLst>
          </a:prstGeom>
          <a:solidFill>
            <a:srgbClr val="EEF0FC"/>
          </a:solidFill>
          <a:ln/>
        </p:spPr>
      </p:sp>
      <p:sp>
        <p:nvSpPr>
          <p:cNvPr id="15" name="Text 10"/>
          <p:cNvSpPr/>
          <p:nvPr/>
        </p:nvSpPr>
        <p:spPr>
          <a:xfrm>
            <a:off x="7754112" y="4261104"/>
            <a:ext cx="3611880" cy="237744"/>
          </a:xfrm>
          <a:prstGeom prst="rect">
            <a:avLst/>
          </a:prstGeom>
          <a:noFill/>
          <a:ln/>
        </p:spPr>
        <p:txBody>
          <a:bodyPr wrap="square" lIns="0" tIns="0" rIns="0" bIns="0" rtlCol="0" anchor="ctr"/>
          <a:lstStyle/>
          <a:p>
            <a:pPr indent="0" marL="0">
              <a:buNone/>
            </a:pPr>
            <a:r>
              <a:rPr lang="en-US" sz="950" b="1" spc="60" kern="0" dirty="0">
                <a:solidFill>
                  <a:srgbClr val="4B45C4"/>
                </a:solidFill>
                <a:latin typeface="Calibri" pitchFamily="34" charset="0"/>
                <a:ea typeface="Calibri" pitchFamily="34" charset="-122"/>
                <a:cs typeface="Calibri" pitchFamily="34" charset="-120"/>
              </a:rPr>
              <a:t>C Ó M O   S E   D E F I E N D E</a:t>
            </a:r>
            <a:endParaRPr lang="en-US" sz="950" dirty="0"/>
          </a:p>
        </p:txBody>
      </p:sp>
      <p:sp>
        <p:nvSpPr>
          <p:cNvPr id="16" name="Text 11"/>
          <p:cNvSpPr/>
          <p:nvPr/>
        </p:nvSpPr>
        <p:spPr>
          <a:xfrm>
            <a:off x="7754112" y="4498848"/>
            <a:ext cx="3611880" cy="841248"/>
          </a:xfrm>
          <a:prstGeom prst="rect">
            <a:avLst/>
          </a:prstGeom>
          <a:noFill/>
          <a:ln/>
        </p:spPr>
        <p:txBody>
          <a:bodyPr wrap="square" lIns="0" tIns="0" rIns="0" bIns="0" rtlCol="0" anchor="ctr"/>
          <a:lstStyle/>
          <a:p>
            <a:pPr indent="0" marL="0">
              <a:lnSpc>
                <a:spcPct val="112000"/>
              </a:lnSpc>
              <a:buNone/>
            </a:pPr>
            <a:r>
              <a:rPr lang="en-US" sz="1100" dirty="0">
                <a:solidFill>
                  <a:srgbClr val="2B2B3A"/>
                </a:solidFill>
                <a:latin typeface="Calibri" pitchFamily="34" charset="0"/>
                <a:ea typeface="Calibri" pitchFamily="34" charset="-122"/>
                <a:cs typeface="Calibri" pitchFamily="34" charset="-120"/>
              </a:rPr>
              <a:t>Mostrar balance de covariables después del emparejamiento, reportar el soporte común y hacer análisis de sensibilidad a un confusor no observado (cotas de Rosenbaum).</a:t>
            </a:r>
            <a:endParaRPr lang="en-US" sz="1100" dirty="0"/>
          </a:p>
        </p:txBody>
      </p:sp>
      <p:sp>
        <p:nvSpPr>
          <p:cNvPr id="17" name="Shape 12"/>
          <p:cNvSpPr/>
          <p:nvPr/>
        </p:nvSpPr>
        <p:spPr>
          <a:xfrm>
            <a:off x="7498080" y="5522976"/>
            <a:ext cx="4123944" cy="713232"/>
          </a:xfrm>
          <a:prstGeom prst="roundRect">
            <a:avLst>
              <a:gd name="adj" fmla="val 8974"/>
            </a:avLst>
          </a:prstGeom>
          <a:solidFill>
            <a:srgbClr val="1E1B4A"/>
          </a:solidFill>
          <a:ln/>
        </p:spPr>
      </p:sp>
      <p:sp>
        <p:nvSpPr>
          <p:cNvPr id="18" name="Text 13"/>
          <p:cNvSpPr/>
          <p:nvPr/>
        </p:nvSpPr>
        <p:spPr>
          <a:xfrm>
            <a:off x="7754112" y="5559552"/>
            <a:ext cx="3611880" cy="640080"/>
          </a:xfrm>
          <a:prstGeom prst="rect">
            <a:avLst/>
          </a:prstGeom>
          <a:noFill/>
          <a:ln/>
        </p:spPr>
        <p:txBody>
          <a:bodyPr wrap="square" lIns="0" tIns="0" rIns="0" bIns="0" rtlCol="0" anchor="ctr"/>
          <a:lstStyle/>
          <a:p>
            <a:pPr indent="0" marL="0">
              <a:lnSpc>
                <a:spcPct val="108000"/>
              </a:lnSpc>
              <a:buNone/>
            </a:pPr>
            <a:r>
              <a:rPr lang="en-US" sz="1000" b="1" dirty="0">
                <a:solidFill>
                  <a:srgbClr val="FFFFFF"/>
                </a:solidFill>
                <a:latin typeface="Calibri" pitchFamily="34" charset="0"/>
                <a:ea typeface="Calibri" pitchFamily="34" charset="-122"/>
                <a:cs typeface="Calibri" pitchFamily="34" charset="-120"/>
              </a:rPr>
              <a:t>Dehejia y Wahba (2002, REStat): reevaluación de los programas de capacitación de LaLonde.</a:t>
            </a:r>
            <a:endParaRPr lang="en-US" sz="1000" dirty="0"/>
          </a:p>
        </p:txBody>
      </p:sp>
      <p:sp>
        <p:nvSpPr>
          <p:cNvPr id="19" name="Text 14"/>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Otras identificaciones · Propensity score matching</a:t>
            </a:r>
            <a:endParaRPr lang="en-US" sz="900" dirty="0"/>
          </a:p>
        </p:txBody>
      </p:sp>
      <p:sp>
        <p:nvSpPr>
          <p:cNvPr id="20" name="Text 15"/>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Cómo elegir el diseño</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La pregunta guía no es «qué método sé usar», sino «de dónde viene la variación en el tratamiento».</a:t>
            </a:r>
            <a:endParaRPr lang="en-US" sz="1350" dirty="0"/>
          </a:p>
        </p:txBody>
      </p:sp>
      <p:sp>
        <p:nvSpPr>
          <p:cNvPr id="6" name="Shape 3"/>
          <p:cNvSpPr/>
          <p:nvPr/>
        </p:nvSpPr>
        <p:spPr>
          <a:xfrm>
            <a:off x="566928" y="1719072"/>
            <a:ext cx="11055096" cy="585216"/>
          </a:xfrm>
          <a:prstGeom prst="roundRect">
            <a:avLst>
              <a:gd name="adj" fmla="val 10938"/>
            </a:avLst>
          </a:prstGeom>
          <a:solidFill>
            <a:srgbClr val="F7F8FD"/>
          </a:solidFill>
          <a:ln/>
        </p:spPr>
      </p:sp>
      <p:sp>
        <p:nvSpPr>
          <p:cNvPr id="7" name="Text 4"/>
          <p:cNvSpPr/>
          <p:nvPr/>
        </p:nvSpPr>
        <p:spPr>
          <a:xfrm>
            <a:off x="841248" y="1719072"/>
            <a:ext cx="5486400" cy="585216"/>
          </a:xfrm>
          <a:prstGeom prst="rect">
            <a:avLst/>
          </a:prstGeom>
          <a:noFill/>
          <a:ln/>
        </p:spPr>
        <p:txBody>
          <a:bodyPr wrap="square" lIns="0" tIns="0" rIns="0" bIns="0" rtlCol="0" anchor="ctr"/>
          <a:lstStyle/>
          <a:p>
            <a:pPr indent="0" marL="0">
              <a:buNone/>
            </a:pPr>
            <a:r>
              <a:rPr lang="en-US" sz="1250" dirty="0">
                <a:solidFill>
                  <a:srgbClr val="2B2B3A"/>
                </a:solidFill>
                <a:latin typeface="Calibri" pitchFamily="34" charset="0"/>
                <a:ea typeface="Calibri" pitchFamily="34" charset="-122"/>
                <a:cs typeface="Calibri" pitchFamily="34" charset="-120"/>
              </a:rPr>
              <a:t>¿Se puede decidir por sorteo quién recibe el tratamiento?</a:t>
            </a:r>
            <a:endParaRPr lang="en-US" sz="1250" dirty="0"/>
          </a:p>
        </p:txBody>
      </p:sp>
      <p:sp>
        <p:nvSpPr>
          <p:cNvPr id="8" name="Text 5"/>
          <p:cNvSpPr/>
          <p:nvPr/>
        </p:nvSpPr>
        <p:spPr>
          <a:xfrm>
            <a:off x="6373368" y="1719072"/>
            <a:ext cx="320040" cy="585216"/>
          </a:xfrm>
          <a:prstGeom prst="rect">
            <a:avLst/>
          </a:prstGeom>
          <a:noFill/>
          <a:ln/>
        </p:spPr>
        <p:txBody>
          <a:bodyPr wrap="square" lIns="0" tIns="0" rIns="0" bIns="0" rtlCol="0" anchor="ctr"/>
          <a:lstStyle/>
          <a:p>
            <a:pPr algn="ctr" indent="0" marL="0">
              <a:buNone/>
            </a:pPr>
            <a:r>
              <a:rPr lang="en-US" sz="1700" b="1" dirty="0">
                <a:solidFill>
                  <a:srgbClr val="AAB3F4"/>
                </a:solidFill>
                <a:latin typeface="Calibri" pitchFamily="34" charset="0"/>
                <a:ea typeface="Calibri" pitchFamily="34" charset="-122"/>
                <a:cs typeface="Calibri" pitchFamily="34" charset="-120"/>
              </a:rPr>
              <a:t>›</a:t>
            </a:r>
            <a:endParaRPr lang="en-US" sz="1700" dirty="0"/>
          </a:p>
        </p:txBody>
      </p:sp>
      <p:sp>
        <p:nvSpPr>
          <p:cNvPr id="9" name="Shape 6"/>
          <p:cNvSpPr/>
          <p:nvPr/>
        </p:nvSpPr>
        <p:spPr>
          <a:xfrm>
            <a:off x="6784848" y="1819656"/>
            <a:ext cx="1508760" cy="384048"/>
          </a:xfrm>
          <a:prstGeom prst="roundRect">
            <a:avLst>
              <a:gd name="adj" fmla="val 14286"/>
            </a:avLst>
          </a:prstGeom>
          <a:solidFill>
            <a:srgbClr val="4B45C4"/>
          </a:solidFill>
          <a:ln/>
        </p:spPr>
      </p:sp>
      <p:sp>
        <p:nvSpPr>
          <p:cNvPr id="10" name="Text 7"/>
          <p:cNvSpPr/>
          <p:nvPr/>
        </p:nvSpPr>
        <p:spPr>
          <a:xfrm>
            <a:off x="6784848" y="1819656"/>
            <a:ext cx="15087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RCT</a:t>
            </a:r>
            <a:endParaRPr lang="en-US" sz="1250" dirty="0"/>
          </a:p>
        </p:txBody>
      </p:sp>
      <p:sp>
        <p:nvSpPr>
          <p:cNvPr id="11" name="Text 8"/>
          <p:cNvSpPr/>
          <p:nvPr/>
        </p:nvSpPr>
        <p:spPr>
          <a:xfrm>
            <a:off x="8476488" y="1719072"/>
            <a:ext cx="2871216" cy="585216"/>
          </a:xfrm>
          <a:prstGeom prst="rect">
            <a:avLst/>
          </a:prstGeom>
          <a:noFill/>
          <a:ln/>
        </p:spPr>
        <p:txBody>
          <a:bodyPr wrap="square" lIns="0" tIns="0" rIns="0" bIns="0" rtlCol="0" anchor="ctr"/>
          <a:lstStyle/>
          <a:p>
            <a:pPr indent="0" marL="0">
              <a:buNone/>
            </a:pPr>
            <a:r>
              <a:rPr lang="en-US" sz="1100" i="1" dirty="0">
                <a:solidFill>
                  <a:srgbClr val="6E6E85"/>
                </a:solidFill>
                <a:latin typeface="Calibri" pitchFamily="34" charset="0"/>
                <a:ea typeface="Calibri" pitchFamily="34" charset="-122"/>
                <a:cs typeface="Calibri" pitchFamily="34" charset="-120"/>
              </a:rPr>
              <a:t>Banerjee et al. (2015), AEJ: Applied.</a:t>
            </a:r>
            <a:endParaRPr lang="en-US" sz="1100" dirty="0"/>
          </a:p>
        </p:txBody>
      </p:sp>
      <p:sp>
        <p:nvSpPr>
          <p:cNvPr id="12" name="Shape 9"/>
          <p:cNvSpPr/>
          <p:nvPr/>
        </p:nvSpPr>
        <p:spPr>
          <a:xfrm>
            <a:off x="566928" y="2377440"/>
            <a:ext cx="11055096" cy="585216"/>
          </a:xfrm>
          <a:prstGeom prst="roundRect">
            <a:avLst>
              <a:gd name="adj" fmla="val 10938"/>
            </a:avLst>
          </a:prstGeom>
          <a:solidFill>
            <a:srgbClr val="F7F8FD"/>
          </a:solidFill>
          <a:ln/>
        </p:spPr>
      </p:sp>
      <p:sp>
        <p:nvSpPr>
          <p:cNvPr id="13" name="Text 10"/>
          <p:cNvSpPr/>
          <p:nvPr/>
        </p:nvSpPr>
        <p:spPr>
          <a:xfrm>
            <a:off x="841248" y="2377440"/>
            <a:ext cx="5486400" cy="585216"/>
          </a:xfrm>
          <a:prstGeom prst="rect">
            <a:avLst/>
          </a:prstGeom>
          <a:noFill/>
          <a:ln/>
        </p:spPr>
        <p:txBody>
          <a:bodyPr wrap="square" lIns="0" tIns="0" rIns="0" bIns="0" rtlCol="0" anchor="ctr"/>
          <a:lstStyle/>
          <a:p>
            <a:pPr indent="0" marL="0">
              <a:buNone/>
            </a:pPr>
            <a:r>
              <a:rPr lang="en-US" sz="1250" dirty="0">
                <a:solidFill>
                  <a:srgbClr val="2B2B3A"/>
                </a:solidFill>
                <a:latin typeface="Calibri" pitchFamily="34" charset="0"/>
                <a:ea typeface="Calibri" pitchFamily="34" charset="-122"/>
                <a:cs typeface="Calibri" pitchFamily="34" charset="-120"/>
              </a:rPr>
              <a:t>¿La elegibilidad depende de un umbral (puntaje, edad, tamaño)?</a:t>
            </a:r>
            <a:endParaRPr lang="en-US" sz="1250" dirty="0"/>
          </a:p>
        </p:txBody>
      </p:sp>
      <p:sp>
        <p:nvSpPr>
          <p:cNvPr id="14" name="Text 11"/>
          <p:cNvSpPr/>
          <p:nvPr/>
        </p:nvSpPr>
        <p:spPr>
          <a:xfrm>
            <a:off x="6373368" y="2377440"/>
            <a:ext cx="320040" cy="585216"/>
          </a:xfrm>
          <a:prstGeom prst="rect">
            <a:avLst/>
          </a:prstGeom>
          <a:noFill/>
          <a:ln/>
        </p:spPr>
        <p:txBody>
          <a:bodyPr wrap="square" lIns="0" tIns="0" rIns="0" bIns="0" rtlCol="0" anchor="ctr"/>
          <a:lstStyle/>
          <a:p>
            <a:pPr algn="ctr" indent="0" marL="0">
              <a:buNone/>
            </a:pPr>
            <a:r>
              <a:rPr lang="en-US" sz="1700" b="1" dirty="0">
                <a:solidFill>
                  <a:srgbClr val="AAB3F4"/>
                </a:solidFill>
                <a:latin typeface="Calibri" pitchFamily="34" charset="0"/>
                <a:ea typeface="Calibri" pitchFamily="34" charset="-122"/>
                <a:cs typeface="Calibri" pitchFamily="34" charset="-120"/>
              </a:rPr>
              <a:t>›</a:t>
            </a:r>
            <a:endParaRPr lang="en-US" sz="1700" dirty="0"/>
          </a:p>
        </p:txBody>
      </p:sp>
      <p:sp>
        <p:nvSpPr>
          <p:cNvPr id="15" name="Shape 12"/>
          <p:cNvSpPr/>
          <p:nvPr/>
        </p:nvSpPr>
        <p:spPr>
          <a:xfrm>
            <a:off x="6784848" y="2478024"/>
            <a:ext cx="1508760" cy="384048"/>
          </a:xfrm>
          <a:prstGeom prst="roundRect">
            <a:avLst>
              <a:gd name="adj" fmla="val 14286"/>
            </a:avLst>
          </a:prstGeom>
          <a:solidFill>
            <a:srgbClr val="4B45C4"/>
          </a:solidFill>
          <a:ln/>
        </p:spPr>
      </p:sp>
      <p:sp>
        <p:nvSpPr>
          <p:cNvPr id="16" name="Text 13"/>
          <p:cNvSpPr/>
          <p:nvPr/>
        </p:nvSpPr>
        <p:spPr>
          <a:xfrm>
            <a:off x="6784848" y="2478024"/>
            <a:ext cx="15087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RDD</a:t>
            </a:r>
            <a:endParaRPr lang="en-US" sz="1250" dirty="0"/>
          </a:p>
        </p:txBody>
      </p:sp>
      <p:sp>
        <p:nvSpPr>
          <p:cNvPr id="17" name="Text 14"/>
          <p:cNvSpPr/>
          <p:nvPr/>
        </p:nvSpPr>
        <p:spPr>
          <a:xfrm>
            <a:off x="8476488" y="2377440"/>
            <a:ext cx="2871216" cy="585216"/>
          </a:xfrm>
          <a:prstGeom prst="rect">
            <a:avLst/>
          </a:prstGeom>
          <a:noFill/>
          <a:ln/>
        </p:spPr>
        <p:txBody>
          <a:bodyPr wrap="square" lIns="0" tIns="0" rIns="0" bIns="0" rtlCol="0" anchor="ctr"/>
          <a:lstStyle/>
          <a:p>
            <a:pPr indent="0" marL="0">
              <a:buNone/>
            </a:pPr>
            <a:r>
              <a:rPr lang="en-US" sz="1100" i="1" dirty="0">
                <a:solidFill>
                  <a:srgbClr val="6E6E85"/>
                </a:solidFill>
                <a:latin typeface="Calibri" pitchFamily="34" charset="0"/>
                <a:ea typeface="Calibri" pitchFamily="34" charset="-122"/>
                <a:cs typeface="Calibri" pitchFamily="34" charset="-120"/>
              </a:rPr>
              <a:t>Angrist y Lavy (1999), QJE.</a:t>
            </a:r>
            <a:endParaRPr lang="en-US" sz="1100" dirty="0"/>
          </a:p>
        </p:txBody>
      </p:sp>
      <p:sp>
        <p:nvSpPr>
          <p:cNvPr id="18" name="Shape 15"/>
          <p:cNvSpPr/>
          <p:nvPr/>
        </p:nvSpPr>
        <p:spPr>
          <a:xfrm>
            <a:off x="566928" y="3035808"/>
            <a:ext cx="11055096" cy="585216"/>
          </a:xfrm>
          <a:prstGeom prst="roundRect">
            <a:avLst>
              <a:gd name="adj" fmla="val 10938"/>
            </a:avLst>
          </a:prstGeom>
          <a:solidFill>
            <a:srgbClr val="F7F8FD"/>
          </a:solidFill>
          <a:ln/>
        </p:spPr>
      </p:sp>
      <p:sp>
        <p:nvSpPr>
          <p:cNvPr id="19" name="Text 16"/>
          <p:cNvSpPr/>
          <p:nvPr/>
        </p:nvSpPr>
        <p:spPr>
          <a:xfrm>
            <a:off x="841248" y="3035808"/>
            <a:ext cx="5486400" cy="585216"/>
          </a:xfrm>
          <a:prstGeom prst="rect">
            <a:avLst/>
          </a:prstGeom>
          <a:noFill/>
          <a:ln/>
        </p:spPr>
        <p:txBody>
          <a:bodyPr wrap="square" lIns="0" tIns="0" rIns="0" bIns="0" rtlCol="0" anchor="ctr"/>
          <a:lstStyle/>
          <a:p>
            <a:pPr indent="0" marL="0">
              <a:buNone/>
            </a:pPr>
            <a:r>
              <a:rPr lang="en-US" sz="1250" dirty="0">
                <a:solidFill>
                  <a:srgbClr val="2B2B3A"/>
                </a:solidFill>
                <a:latin typeface="Calibri" pitchFamily="34" charset="0"/>
                <a:ea typeface="Calibri" pitchFamily="34" charset="-122"/>
                <a:cs typeface="Calibri" pitchFamily="34" charset="-120"/>
              </a:rPr>
              <a:t>¿Hay datos antes y después, y un grupo no afectado?</a:t>
            </a:r>
            <a:endParaRPr lang="en-US" sz="1250" dirty="0"/>
          </a:p>
        </p:txBody>
      </p:sp>
      <p:sp>
        <p:nvSpPr>
          <p:cNvPr id="20" name="Text 17"/>
          <p:cNvSpPr/>
          <p:nvPr/>
        </p:nvSpPr>
        <p:spPr>
          <a:xfrm>
            <a:off x="6373368" y="3035808"/>
            <a:ext cx="320040" cy="585216"/>
          </a:xfrm>
          <a:prstGeom prst="rect">
            <a:avLst/>
          </a:prstGeom>
          <a:noFill/>
          <a:ln/>
        </p:spPr>
        <p:txBody>
          <a:bodyPr wrap="square" lIns="0" tIns="0" rIns="0" bIns="0" rtlCol="0" anchor="ctr"/>
          <a:lstStyle/>
          <a:p>
            <a:pPr algn="ctr" indent="0" marL="0">
              <a:buNone/>
            </a:pPr>
            <a:r>
              <a:rPr lang="en-US" sz="1700" b="1" dirty="0">
                <a:solidFill>
                  <a:srgbClr val="AAB3F4"/>
                </a:solidFill>
                <a:latin typeface="Calibri" pitchFamily="34" charset="0"/>
                <a:ea typeface="Calibri" pitchFamily="34" charset="-122"/>
                <a:cs typeface="Calibri" pitchFamily="34" charset="-120"/>
              </a:rPr>
              <a:t>›</a:t>
            </a:r>
            <a:endParaRPr lang="en-US" sz="1700" dirty="0"/>
          </a:p>
        </p:txBody>
      </p:sp>
      <p:sp>
        <p:nvSpPr>
          <p:cNvPr id="21" name="Shape 18"/>
          <p:cNvSpPr/>
          <p:nvPr/>
        </p:nvSpPr>
        <p:spPr>
          <a:xfrm>
            <a:off x="6784848" y="3136392"/>
            <a:ext cx="1508760" cy="384048"/>
          </a:xfrm>
          <a:prstGeom prst="roundRect">
            <a:avLst>
              <a:gd name="adj" fmla="val 14286"/>
            </a:avLst>
          </a:prstGeom>
          <a:solidFill>
            <a:srgbClr val="4B45C4"/>
          </a:solidFill>
          <a:ln/>
        </p:spPr>
      </p:sp>
      <p:sp>
        <p:nvSpPr>
          <p:cNvPr id="22" name="Text 19"/>
          <p:cNvSpPr/>
          <p:nvPr/>
        </p:nvSpPr>
        <p:spPr>
          <a:xfrm>
            <a:off x="6784848" y="3136392"/>
            <a:ext cx="15087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DiD</a:t>
            </a:r>
            <a:endParaRPr lang="en-US" sz="1250" dirty="0"/>
          </a:p>
        </p:txBody>
      </p:sp>
      <p:sp>
        <p:nvSpPr>
          <p:cNvPr id="23" name="Text 20"/>
          <p:cNvSpPr/>
          <p:nvPr/>
        </p:nvSpPr>
        <p:spPr>
          <a:xfrm>
            <a:off x="8476488" y="3035808"/>
            <a:ext cx="2871216" cy="585216"/>
          </a:xfrm>
          <a:prstGeom prst="rect">
            <a:avLst/>
          </a:prstGeom>
          <a:noFill/>
          <a:ln/>
        </p:spPr>
        <p:txBody>
          <a:bodyPr wrap="square" lIns="0" tIns="0" rIns="0" bIns="0" rtlCol="0" anchor="ctr"/>
          <a:lstStyle/>
          <a:p>
            <a:pPr indent="0" marL="0">
              <a:buNone/>
            </a:pPr>
            <a:r>
              <a:rPr lang="en-US" sz="1100" i="1" dirty="0">
                <a:solidFill>
                  <a:srgbClr val="6E6E85"/>
                </a:solidFill>
                <a:latin typeface="Calibri" pitchFamily="34" charset="0"/>
                <a:ea typeface="Calibri" pitchFamily="34" charset="-122"/>
                <a:cs typeface="Calibri" pitchFamily="34" charset="-120"/>
              </a:rPr>
              <a:t>Card y Krueger (1994), AER.</a:t>
            </a:r>
            <a:endParaRPr lang="en-US" sz="1100" dirty="0"/>
          </a:p>
        </p:txBody>
      </p:sp>
      <p:sp>
        <p:nvSpPr>
          <p:cNvPr id="24" name="Shape 21"/>
          <p:cNvSpPr/>
          <p:nvPr/>
        </p:nvSpPr>
        <p:spPr>
          <a:xfrm>
            <a:off x="566928" y="3694176"/>
            <a:ext cx="11055096" cy="585216"/>
          </a:xfrm>
          <a:prstGeom prst="roundRect">
            <a:avLst>
              <a:gd name="adj" fmla="val 10938"/>
            </a:avLst>
          </a:prstGeom>
          <a:solidFill>
            <a:srgbClr val="F7F8FD"/>
          </a:solidFill>
          <a:ln/>
        </p:spPr>
      </p:sp>
      <p:sp>
        <p:nvSpPr>
          <p:cNvPr id="25" name="Text 22"/>
          <p:cNvSpPr/>
          <p:nvPr/>
        </p:nvSpPr>
        <p:spPr>
          <a:xfrm>
            <a:off x="841248" y="3694176"/>
            <a:ext cx="5486400" cy="585216"/>
          </a:xfrm>
          <a:prstGeom prst="rect">
            <a:avLst/>
          </a:prstGeom>
          <a:noFill/>
          <a:ln/>
        </p:spPr>
        <p:txBody>
          <a:bodyPr wrap="square" lIns="0" tIns="0" rIns="0" bIns="0" rtlCol="0" anchor="ctr"/>
          <a:lstStyle/>
          <a:p>
            <a:pPr indent="0" marL="0">
              <a:buNone/>
            </a:pPr>
            <a:r>
              <a:rPr lang="en-US" sz="1250" dirty="0">
                <a:solidFill>
                  <a:srgbClr val="2B2B3A"/>
                </a:solidFill>
                <a:latin typeface="Calibri" pitchFamily="34" charset="0"/>
                <a:ea typeface="Calibri" pitchFamily="34" charset="-122"/>
                <a:cs typeface="Calibri" pitchFamily="34" charset="-120"/>
              </a:rPr>
              <a:t>¿Se observa a las mismas unidades varias veces?</a:t>
            </a:r>
            <a:endParaRPr lang="en-US" sz="1250" dirty="0"/>
          </a:p>
        </p:txBody>
      </p:sp>
      <p:sp>
        <p:nvSpPr>
          <p:cNvPr id="26" name="Text 23"/>
          <p:cNvSpPr/>
          <p:nvPr/>
        </p:nvSpPr>
        <p:spPr>
          <a:xfrm>
            <a:off x="6373368" y="3694176"/>
            <a:ext cx="320040" cy="585216"/>
          </a:xfrm>
          <a:prstGeom prst="rect">
            <a:avLst/>
          </a:prstGeom>
          <a:noFill/>
          <a:ln/>
        </p:spPr>
        <p:txBody>
          <a:bodyPr wrap="square" lIns="0" tIns="0" rIns="0" bIns="0" rtlCol="0" anchor="ctr"/>
          <a:lstStyle/>
          <a:p>
            <a:pPr algn="ctr" indent="0" marL="0">
              <a:buNone/>
            </a:pPr>
            <a:r>
              <a:rPr lang="en-US" sz="1700" b="1" dirty="0">
                <a:solidFill>
                  <a:srgbClr val="AAB3F4"/>
                </a:solidFill>
                <a:latin typeface="Calibri" pitchFamily="34" charset="0"/>
                <a:ea typeface="Calibri" pitchFamily="34" charset="-122"/>
                <a:cs typeface="Calibri" pitchFamily="34" charset="-120"/>
              </a:rPr>
              <a:t>›</a:t>
            </a:r>
            <a:endParaRPr lang="en-US" sz="1700" dirty="0"/>
          </a:p>
        </p:txBody>
      </p:sp>
      <p:sp>
        <p:nvSpPr>
          <p:cNvPr id="27" name="Shape 24"/>
          <p:cNvSpPr/>
          <p:nvPr/>
        </p:nvSpPr>
        <p:spPr>
          <a:xfrm>
            <a:off x="6784848" y="3794760"/>
            <a:ext cx="1508760" cy="384048"/>
          </a:xfrm>
          <a:prstGeom prst="roundRect">
            <a:avLst>
              <a:gd name="adj" fmla="val 14286"/>
            </a:avLst>
          </a:prstGeom>
          <a:solidFill>
            <a:srgbClr val="4B45C4"/>
          </a:solidFill>
          <a:ln/>
        </p:spPr>
      </p:sp>
      <p:sp>
        <p:nvSpPr>
          <p:cNvPr id="28" name="Text 25"/>
          <p:cNvSpPr/>
          <p:nvPr/>
        </p:nvSpPr>
        <p:spPr>
          <a:xfrm>
            <a:off x="6784848" y="3794760"/>
            <a:ext cx="15087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Panel · EF</a:t>
            </a:r>
            <a:endParaRPr lang="en-US" sz="1250" dirty="0"/>
          </a:p>
        </p:txBody>
      </p:sp>
      <p:sp>
        <p:nvSpPr>
          <p:cNvPr id="29" name="Text 26"/>
          <p:cNvSpPr/>
          <p:nvPr/>
        </p:nvSpPr>
        <p:spPr>
          <a:xfrm>
            <a:off x="8476488" y="3694176"/>
            <a:ext cx="2871216" cy="585216"/>
          </a:xfrm>
          <a:prstGeom prst="rect">
            <a:avLst/>
          </a:prstGeom>
          <a:noFill/>
          <a:ln/>
        </p:spPr>
        <p:txBody>
          <a:bodyPr wrap="square" lIns="0" tIns="0" rIns="0" bIns="0" rtlCol="0" anchor="ctr"/>
          <a:lstStyle/>
          <a:p>
            <a:pPr indent="0" marL="0">
              <a:buNone/>
            </a:pPr>
            <a:r>
              <a:rPr lang="en-US" sz="1100" i="1" dirty="0">
                <a:solidFill>
                  <a:srgbClr val="6E6E85"/>
                </a:solidFill>
                <a:latin typeface="Calibri" pitchFamily="34" charset="0"/>
                <a:ea typeface="Calibri" pitchFamily="34" charset="-122"/>
                <a:cs typeface="Calibri" pitchFamily="34" charset="-120"/>
              </a:rPr>
              <a:t>Acemoglu et al. (2019), JPE.</a:t>
            </a:r>
            <a:endParaRPr lang="en-US" sz="1100" dirty="0"/>
          </a:p>
        </p:txBody>
      </p:sp>
      <p:sp>
        <p:nvSpPr>
          <p:cNvPr id="30" name="Shape 27"/>
          <p:cNvSpPr/>
          <p:nvPr/>
        </p:nvSpPr>
        <p:spPr>
          <a:xfrm>
            <a:off x="566928" y="4352544"/>
            <a:ext cx="11055096" cy="585216"/>
          </a:xfrm>
          <a:prstGeom prst="roundRect">
            <a:avLst>
              <a:gd name="adj" fmla="val 10938"/>
            </a:avLst>
          </a:prstGeom>
          <a:solidFill>
            <a:srgbClr val="F7F8FD"/>
          </a:solidFill>
          <a:ln/>
        </p:spPr>
      </p:sp>
      <p:sp>
        <p:nvSpPr>
          <p:cNvPr id="31" name="Text 28"/>
          <p:cNvSpPr/>
          <p:nvPr/>
        </p:nvSpPr>
        <p:spPr>
          <a:xfrm>
            <a:off x="841248" y="4352544"/>
            <a:ext cx="5486400" cy="585216"/>
          </a:xfrm>
          <a:prstGeom prst="rect">
            <a:avLst/>
          </a:prstGeom>
          <a:noFill/>
          <a:ln/>
        </p:spPr>
        <p:txBody>
          <a:bodyPr wrap="square" lIns="0" tIns="0" rIns="0" bIns="0" rtlCol="0" anchor="ctr"/>
          <a:lstStyle/>
          <a:p>
            <a:pPr indent="0" marL="0">
              <a:buNone/>
            </a:pPr>
            <a:r>
              <a:rPr lang="en-US" sz="1250" dirty="0">
                <a:solidFill>
                  <a:srgbClr val="2B2B3A"/>
                </a:solidFill>
                <a:latin typeface="Calibri" pitchFamily="34" charset="0"/>
                <a:ea typeface="Calibri" pitchFamily="34" charset="-122"/>
                <a:cs typeface="Calibri" pitchFamily="34" charset="-120"/>
              </a:rPr>
              <a:t>¿Existe una fuente de variación ajena (sorteo, regla, geografía)?</a:t>
            </a:r>
            <a:endParaRPr lang="en-US" sz="1250" dirty="0"/>
          </a:p>
        </p:txBody>
      </p:sp>
      <p:sp>
        <p:nvSpPr>
          <p:cNvPr id="32" name="Text 29"/>
          <p:cNvSpPr/>
          <p:nvPr/>
        </p:nvSpPr>
        <p:spPr>
          <a:xfrm>
            <a:off x="6373368" y="4352544"/>
            <a:ext cx="320040" cy="585216"/>
          </a:xfrm>
          <a:prstGeom prst="rect">
            <a:avLst/>
          </a:prstGeom>
          <a:noFill/>
          <a:ln/>
        </p:spPr>
        <p:txBody>
          <a:bodyPr wrap="square" lIns="0" tIns="0" rIns="0" bIns="0" rtlCol="0" anchor="ctr"/>
          <a:lstStyle/>
          <a:p>
            <a:pPr algn="ctr" indent="0" marL="0">
              <a:buNone/>
            </a:pPr>
            <a:r>
              <a:rPr lang="en-US" sz="1700" b="1" dirty="0">
                <a:solidFill>
                  <a:srgbClr val="AAB3F4"/>
                </a:solidFill>
                <a:latin typeface="Calibri" pitchFamily="34" charset="0"/>
                <a:ea typeface="Calibri" pitchFamily="34" charset="-122"/>
                <a:cs typeface="Calibri" pitchFamily="34" charset="-120"/>
              </a:rPr>
              <a:t>›</a:t>
            </a:r>
            <a:endParaRPr lang="en-US" sz="1700" dirty="0"/>
          </a:p>
        </p:txBody>
      </p:sp>
      <p:sp>
        <p:nvSpPr>
          <p:cNvPr id="33" name="Shape 30"/>
          <p:cNvSpPr/>
          <p:nvPr/>
        </p:nvSpPr>
        <p:spPr>
          <a:xfrm>
            <a:off x="6784848" y="4453128"/>
            <a:ext cx="1508760" cy="384048"/>
          </a:xfrm>
          <a:prstGeom prst="roundRect">
            <a:avLst>
              <a:gd name="adj" fmla="val 14286"/>
            </a:avLst>
          </a:prstGeom>
          <a:solidFill>
            <a:srgbClr val="4B45C4"/>
          </a:solidFill>
          <a:ln/>
        </p:spPr>
      </p:sp>
      <p:sp>
        <p:nvSpPr>
          <p:cNvPr id="34" name="Text 31"/>
          <p:cNvSpPr/>
          <p:nvPr/>
        </p:nvSpPr>
        <p:spPr>
          <a:xfrm>
            <a:off x="6784848" y="4453128"/>
            <a:ext cx="15087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IV · 2SLS</a:t>
            </a:r>
            <a:endParaRPr lang="en-US" sz="1250" dirty="0"/>
          </a:p>
        </p:txBody>
      </p:sp>
      <p:sp>
        <p:nvSpPr>
          <p:cNvPr id="35" name="Text 32"/>
          <p:cNvSpPr/>
          <p:nvPr/>
        </p:nvSpPr>
        <p:spPr>
          <a:xfrm>
            <a:off x="8476488" y="4352544"/>
            <a:ext cx="2871216" cy="585216"/>
          </a:xfrm>
          <a:prstGeom prst="rect">
            <a:avLst/>
          </a:prstGeom>
          <a:noFill/>
          <a:ln/>
        </p:spPr>
        <p:txBody>
          <a:bodyPr wrap="square" lIns="0" tIns="0" rIns="0" bIns="0" rtlCol="0" anchor="ctr"/>
          <a:lstStyle/>
          <a:p>
            <a:pPr indent="0" marL="0">
              <a:buNone/>
            </a:pPr>
            <a:r>
              <a:rPr lang="en-US" sz="1100" i="1" dirty="0">
                <a:solidFill>
                  <a:srgbClr val="6E6E85"/>
                </a:solidFill>
                <a:latin typeface="Calibri" pitchFamily="34" charset="0"/>
                <a:ea typeface="Calibri" pitchFamily="34" charset="-122"/>
                <a:cs typeface="Calibri" pitchFamily="34" charset="-120"/>
              </a:rPr>
              <a:t>Angrist y Krueger (1991), QJE.</a:t>
            </a:r>
            <a:endParaRPr lang="en-US" sz="1100" dirty="0"/>
          </a:p>
        </p:txBody>
      </p:sp>
      <p:sp>
        <p:nvSpPr>
          <p:cNvPr id="36" name="Shape 33"/>
          <p:cNvSpPr/>
          <p:nvPr/>
        </p:nvSpPr>
        <p:spPr>
          <a:xfrm>
            <a:off x="566928" y="5010912"/>
            <a:ext cx="11055096" cy="585216"/>
          </a:xfrm>
          <a:prstGeom prst="roundRect">
            <a:avLst>
              <a:gd name="adj" fmla="val 10938"/>
            </a:avLst>
          </a:prstGeom>
          <a:solidFill>
            <a:srgbClr val="F7F8FD"/>
          </a:solidFill>
          <a:ln/>
        </p:spPr>
      </p:sp>
      <p:sp>
        <p:nvSpPr>
          <p:cNvPr id="37" name="Text 34"/>
          <p:cNvSpPr/>
          <p:nvPr/>
        </p:nvSpPr>
        <p:spPr>
          <a:xfrm>
            <a:off x="841248" y="5010912"/>
            <a:ext cx="5486400" cy="585216"/>
          </a:xfrm>
          <a:prstGeom prst="rect">
            <a:avLst/>
          </a:prstGeom>
          <a:noFill/>
          <a:ln/>
        </p:spPr>
        <p:txBody>
          <a:bodyPr wrap="square" lIns="0" tIns="0" rIns="0" bIns="0" rtlCol="0" anchor="ctr"/>
          <a:lstStyle/>
          <a:p>
            <a:pPr indent="0" marL="0">
              <a:buNone/>
            </a:pPr>
            <a:r>
              <a:rPr lang="en-US" sz="1250" dirty="0">
                <a:solidFill>
                  <a:srgbClr val="2B2B3A"/>
                </a:solidFill>
                <a:latin typeface="Calibri" pitchFamily="34" charset="0"/>
                <a:ea typeface="Calibri" pitchFamily="34" charset="-122"/>
                <a:cs typeface="Calibri" pitchFamily="34" charset="-120"/>
              </a:rPr>
              <a:t>Solo un corte transversal y buenos observables</a:t>
            </a:r>
            <a:endParaRPr lang="en-US" sz="1250" dirty="0"/>
          </a:p>
        </p:txBody>
      </p:sp>
      <p:sp>
        <p:nvSpPr>
          <p:cNvPr id="38" name="Text 35"/>
          <p:cNvSpPr/>
          <p:nvPr/>
        </p:nvSpPr>
        <p:spPr>
          <a:xfrm>
            <a:off x="6373368" y="5010912"/>
            <a:ext cx="320040" cy="585216"/>
          </a:xfrm>
          <a:prstGeom prst="rect">
            <a:avLst/>
          </a:prstGeom>
          <a:noFill/>
          <a:ln/>
        </p:spPr>
        <p:txBody>
          <a:bodyPr wrap="square" lIns="0" tIns="0" rIns="0" bIns="0" rtlCol="0" anchor="ctr"/>
          <a:lstStyle/>
          <a:p>
            <a:pPr algn="ctr" indent="0" marL="0">
              <a:buNone/>
            </a:pPr>
            <a:r>
              <a:rPr lang="en-US" sz="1700" b="1" dirty="0">
                <a:solidFill>
                  <a:srgbClr val="AAB3F4"/>
                </a:solidFill>
                <a:latin typeface="Calibri" pitchFamily="34" charset="0"/>
                <a:ea typeface="Calibri" pitchFamily="34" charset="-122"/>
                <a:cs typeface="Calibri" pitchFamily="34" charset="-120"/>
              </a:rPr>
              <a:t>›</a:t>
            </a:r>
            <a:endParaRPr lang="en-US" sz="1700" dirty="0"/>
          </a:p>
        </p:txBody>
      </p:sp>
      <p:sp>
        <p:nvSpPr>
          <p:cNvPr id="39" name="Shape 36"/>
          <p:cNvSpPr/>
          <p:nvPr/>
        </p:nvSpPr>
        <p:spPr>
          <a:xfrm>
            <a:off x="6784848" y="5111496"/>
            <a:ext cx="1508760" cy="384048"/>
          </a:xfrm>
          <a:prstGeom prst="roundRect">
            <a:avLst>
              <a:gd name="adj" fmla="val 14286"/>
            </a:avLst>
          </a:prstGeom>
          <a:solidFill>
            <a:srgbClr val="A83A57"/>
          </a:solidFill>
          <a:ln/>
        </p:spPr>
      </p:sp>
      <p:sp>
        <p:nvSpPr>
          <p:cNvPr id="40" name="Text 37"/>
          <p:cNvSpPr/>
          <p:nvPr/>
        </p:nvSpPr>
        <p:spPr>
          <a:xfrm>
            <a:off x="6784848" y="5111496"/>
            <a:ext cx="15087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PSM</a:t>
            </a:r>
            <a:endParaRPr lang="en-US" sz="1250" dirty="0"/>
          </a:p>
        </p:txBody>
      </p:sp>
      <p:sp>
        <p:nvSpPr>
          <p:cNvPr id="41" name="Text 38"/>
          <p:cNvSpPr/>
          <p:nvPr/>
        </p:nvSpPr>
        <p:spPr>
          <a:xfrm>
            <a:off x="8476488" y="5010912"/>
            <a:ext cx="2871216" cy="585216"/>
          </a:xfrm>
          <a:prstGeom prst="rect">
            <a:avLst/>
          </a:prstGeom>
          <a:noFill/>
          <a:ln/>
        </p:spPr>
        <p:txBody>
          <a:bodyPr wrap="square" lIns="0" tIns="0" rIns="0" bIns="0" rtlCol="0" anchor="ctr"/>
          <a:lstStyle/>
          <a:p>
            <a:pPr indent="0" marL="0">
              <a:buNone/>
            </a:pPr>
            <a:r>
              <a:rPr lang="en-US" sz="1100" i="1" dirty="0">
                <a:solidFill>
                  <a:srgbClr val="6E6E85"/>
                </a:solidFill>
                <a:latin typeface="Calibri" pitchFamily="34" charset="0"/>
                <a:ea typeface="Calibri" pitchFamily="34" charset="-122"/>
                <a:cs typeface="Calibri" pitchFamily="34" charset="-120"/>
              </a:rPr>
              <a:t>Dehejia y Wahba (2002), REStat.</a:t>
            </a:r>
            <a:endParaRPr lang="en-US" sz="1100" dirty="0"/>
          </a:p>
        </p:txBody>
      </p:sp>
      <p:sp>
        <p:nvSpPr>
          <p:cNvPr id="42" name="Shape 39"/>
          <p:cNvSpPr/>
          <p:nvPr/>
        </p:nvSpPr>
        <p:spPr>
          <a:xfrm>
            <a:off x="566928" y="5779008"/>
            <a:ext cx="11055096" cy="475488"/>
          </a:xfrm>
          <a:prstGeom prst="roundRect">
            <a:avLst>
              <a:gd name="adj" fmla="val 13462"/>
            </a:avLst>
          </a:prstGeom>
          <a:solidFill>
            <a:srgbClr val="1E1B4A"/>
          </a:solidFill>
          <a:ln/>
        </p:spPr>
      </p:sp>
      <p:sp>
        <p:nvSpPr>
          <p:cNvPr id="43" name="Text 40"/>
          <p:cNvSpPr/>
          <p:nvPr/>
        </p:nvSpPr>
        <p:spPr>
          <a:xfrm>
            <a:off x="859536" y="5815584"/>
            <a:ext cx="10469880" cy="402336"/>
          </a:xfrm>
          <a:prstGeom prst="rect">
            <a:avLst/>
          </a:prstGeom>
          <a:noFill/>
          <a:ln/>
        </p:spPr>
        <p:txBody>
          <a:bodyPr wrap="square" lIns="0" tIns="0" rIns="0" bIns="0" rtlCol="0" anchor="ctr"/>
          <a:lstStyle/>
          <a:p>
            <a:pPr indent="0" marL="0">
              <a:lnSpc>
                <a:spcPct val="110000"/>
              </a:lnSpc>
              <a:buNone/>
            </a:pPr>
            <a:r>
              <a:rPr lang="en-US" sz="1200" dirty="0">
                <a:solidFill>
                  <a:srgbClr val="AAB3F4"/>
                </a:solidFill>
                <a:latin typeface="Calibri" pitchFamily="34" charset="0"/>
                <a:ea typeface="Calibri" pitchFamily="34" charset="-122"/>
                <a:cs typeface="Calibri" pitchFamily="34" charset="-120"/>
              </a:rPr>
              <a:t>El orden no es de dificultad técnica sino de credibilidad: cuanto más arriba, menos hay que pedirle al lector que acepte sin evidencia.</a:t>
            </a:r>
            <a:endParaRPr lang="en-US" sz="1200" dirty="0"/>
          </a:p>
        </p:txBody>
      </p:sp>
      <p:sp>
        <p:nvSpPr>
          <p:cNvPr id="44" name="Text 4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Otras identificaciones · Cómo elegir</a:t>
            </a:r>
            <a:endParaRPr lang="en-US" sz="900" dirty="0"/>
          </a:p>
        </p:txBody>
      </p:sp>
      <p:sp>
        <p:nvSpPr>
          <p:cNvPr id="45" name="Text 4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B4A"/>
        </a:solidFill>
      </p:bgPr>
    </p:bg>
    <p:spTree>
      <p:nvGrpSpPr>
        <p:cNvPr id="1" name=""/>
        <p:cNvGrpSpPr/>
        <p:nvPr/>
      </p:nvGrpSpPr>
      <p:grpSpPr>
        <a:xfrm>
          <a:off x="0" y="0"/>
          <a:ext cx="0" cy="0"/>
          <a:chOff x="0" y="0"/>
          <a:chExt cx="0" cy="0"/>
        </a:xfrm>
      </p:grpSpPr>
      <p:sp>
        <p:nvSpPr>
          <p:cNvPr id="2" name="Text 0"/>
          <p:cNvSpPr/>
          <p:nvPr/>
        </p:nvSpPr>
        <p:spPr>
          <a:xfrm>
            <a:off x="841248" y="1051560"/>
            <a:ext cx="7315200" cy="274320"/>
          </a:xfrm>
          <a:prstGeom prst="rect">
            <a:avLst/>
          </a:prstGeom>
          <a:noFill/>
          <a:ln/>
        </p:spPr>
        <p:txBody>
          <a:bodyPr wrap="square" lIns="0" tIns="0" rIns="0" bIns="0" rtlCol="0" anchor="ctr"/>
          <a:lstStyle/>
          <a:p>
            <a:pPr indent="0" marL="0">
              <a:buNone/>
            </a:pPr>
            <a:r>
              <a:rPr lang="en-US" sz="1150" b="1" spc="150" kern="0" dirty="0">
                <a:solidFill>
                  <a:srgbClr val="8B87F5"/>
                </a:solidFill>
                <a:latin typeface="Calibri" pitchFamily="34" charset="0"/>
                <a:ea typeface="Calibri" pitchFamily="34" charset="-122"/>
                <a:cs typeface="Calibri" pitchFamily="34" charset="-120"/>
              </a:rPr>
              <a:t>E N   S Í N T E S I S</a:t>
            </a:r>
            <a:endParaRPr lang="en-US" sz="1150" dirty="0"/>
          </a:p>
        </p:txBody>
      </p:sp>
      <p:sp>
        <p:nvSpPr>
          <p:cNvPr id="3" name="Text 1"/>
          <p:cNvSpPr/>
          <p:nvPr/>
        </p:nvSpPr>
        <p:spPr>
          <a:xfrm>
            <a:off x="841248" y="1508760"/>
            <a:ext cx="10241280" cy="146304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latin typeface="Century Schoolbook" pitchFamily="34" charset="0"/>
                <a:ea typeface="Century Schoolbook" pitchFamily="34" charset="-122"/>
                <a:cs typeface="Century Schoolbook" pitchFamily="34" charset="-120"/>
              </a:rPr>
              <a:t>Estimar bien no es el problema.</a:t>
            </a:r>
            <a:endParaRPr lang="en-US" sz="3400" dirty="0"/>
          </a:p>
          <a:p>
            <a:pPr indent="0" marL="0">
              <a:lnSpc>
                <a:spcPct val="120000"/>
              </a:lnSpc>
              <a:buNone/>
            </a:pPr>
            <a:r>
              <a:rPr lang="en-US" sz="3400" b="1" dirty="0">
                <a:solidFill>
                  <a:srgbClr val="FFFFFF"/>
                </a:solidFill>
                <a:latin typeface="Century Schoolbook" pitchFamily="34" charset="0"/>
                <a:ea typeface="Century Schoolbook" pitchFamily="34" charset="-122"/>
                <a:cs typeface="Century Schoolbook" pitchFamily="34" charset="-120"/>
              </a:rPr>
              <a:t>El problema es comparar bien.</a:t>
            </a:r>
            <a:endParaRPr lang="en-US" sz="3400" dirty="0"/>
          </a:p>
        </p:txBody>
      </p:sp>
      <p:sp>
        <p:nvSpPr>
          <p:cNvPr id="4" name="Shape 2"/>
          <p:cNvSpPr/>
          <p:nvPr/>
        </p:nvSpPr>
        <p:spPr>
          <a:xfrm>
            <a:off x="566928" y="3291840"/>
            <a:ext cx="2558034" cy="1828800"/>
          </a:xfrm>
          <a:prstGeom prst="roundRect">
            <a:avLst>
              <a:gd name="adj" fmla="val 4000"/>
            </a:avLst>
          </a:prstGeom>
          <a:solidFill>
            <a:srgbClr val="2A2660"/>
          </a:solidFill>
          <a:ln/>
        </p:spPr>
      </p:sp>
      <p:sp>
        <p:nvSpPr>
          <p:cNvPr id="5" name="Text 3"/>
          <p:cNvSpPr/>
          <p:nvPr/>
        </p:nvSpPr>
        <p:spPr>
          <a:xfrm>
            <a:off x="804672" y="3456432"/>
            <a:ext cx="2082546" cy="566928"/>
          </a:xfrm>
          <a:prstGeom prst="rect">
            <a:avLst/>
          </a:prstGeom>
          <a:noFill/>
          <a:ln/>
        </p:spPr>
        <p:txBody>
          <a:bodyPr wrap="square" lIns="0" tIns="0" rIns="0" bIns="0" rtlCol="0" anchor="ctr"/>
          <a:lstStyle/>
          <a:p>
            <a:pPr indent="0" marL="0">
              <a:lnSpc>
                <a:spcPct val="105000"/>
              </a:lnSpc>
              <a:buNone/>
            </a:pPr>
            <a:r>
              <a:rPr lang="en-US" sz="1350" b="1" dirty="0">
                <a:solidFill>
                  <a:srgbClr val="8B87F5"/>
                </a:solidFill>
                <a:latin typeface="Calibri" pitchFamily="34" charset="0"/>
                <a:ea typeface="Calibri" pitchFamily="34" charset="-122"/>
                <a:cs typeface="Calibri" pitchFamily="34" charset="-120"/>
              </a:rPr>
              <a:t>El diseño manda sobre el modelo</a:t>
            </a:r>
            <a:endParaRPr lang="en-US" sz="1350" dirty="0"/>
          </a:p>
        </p:txBody>
      </p:sp>
      <p:sp>
        <p:nvSpPr>
          <p:cNvPr id="6" name="Text 4"/>
          <p:cNvSpPr/>
          <p:nvPr/>
        </p:nvSpPr>
        <p:spPr>
          <a:xfrm>
            <a:off x="804672" y="4069080"/>
            <a:ext cx="2082546" cy="9144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La credibilidad viene de cómo se asignó el tratamiento, no de la sofisticación de la estimación.</a:t>
            </a:r>
            <a:endParaRPr lang="en-US" sz="1150" dirty="0"/>
          </a:p>
        </p:txBody>
      </p:sp>
      <p:sp>
        <p:nvSpPr>
          <p:cNvPr id="7" name="Shape 5"/>
          <p:cNvSpPr/>
          <p:nvPr/>
        </p:nvSpPr>
        <p:spPr>
          <a:xfrm>
            <a:off x="3399282" y="3291840"/>
            <a:ext cx="2558034" cy="1828800"/>
          </a:xfrm>
          <a:prstGeom prst="roundRect">
            <a:avLst>
              <a:gd name="adj" fmla="val 4000"/>
            </a:avLst>
          </a:prstGeom>
          <a:solidFill>
            <a:srgbClr val="2A2660"/>
          </a:solidFill>
          <a:ln/>
        </p:spPr>
      </p:sp>
      <p:sp>
        <p:nvSpPr>
          <p:cNvPr id="8" name="Text 6"/>
          <p:cNvSpPr/>
          <p:nvPr/>
        </p:nvSpPr>
        <p:spPr>
          <a:xfrm>
            <a:off x="3637026" y="3456432"/>
            <a:ext cx="2082546" cy="566928"/>
          </a:xfrm>
          <a:prstGeom prst="rect">
            <a:avLst/>
          </a:prstGeom>
          <a:noFill/>
          <a:ln/>
        </p:spPr>
        <p:txBody>
          <a:bodyPr wrap="square" lIns="0" tIns="0" rIns="0" bIns="0" rtlCol="0" anchor="ctr"/>
          <a:lstStyle/>
          <a:p>
            <a:pPr indent="0" marL="0">
              <a:lnSpc>
                <a:spcPct val="105000"/>
              </a:lnSpc>
              <a:buNone/>
            </a:pPr>
            <a:r>
              <a:rPr lang="en-US" sz="1350" b="1" dirty="0">
                <a:solidFill>
                  <a:srgbClr val="8B87F5"/>
                </a:solidFill>
                <a:latin typeface="Calibri" pitchFamily="34" charset="0"/>
                <a:ea typeface="Calibri" pitchFamily="34" charset="-122"/>
                <a:cs typeface="Calibri" pitchFamily="34" charset="-120"/>
              </a:rPr>
              <a:t>Todo estimador vive de un supuesto</a:t>
            </a:r>
            <a:endParaRPr lang="en-US" sz="1350" dirty="0"/>
          </a:p>
        </p:txBody>
      </p:sp>
      <p:sp>
        <p:nvSpPr>
          <p:cNvPr id="9" name="Text 7"/>
          <p:cNvSpPr/>
          <p:nvPr/>
        </p:nvSpPr>
        <p:spPr>
          <a:xfrm>
            <a:off x="3637026" y="4069080"/>
            <a:ext cx="2082546" cy="9144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El trabajo consiste en hacerlo explícito, defenderlo y mostrar qué pasa si falla.</a:t>
            </a:r>
            <a:endParaRPr lang="en-US" sz="1150" dirty="0"/>
          </a:p>
        </p:txBody>
      </p:sp>
      <p:sp>
        <p:nvSpPr>
          <p:cNvPr id="10" name="Shape 8"/>
          <p:cNvSpPr/>
          <p:nvPr/>
        </p:nvSpPr>
        <p:spPr>
          <a:xfrm>
            <a:off x="6231636" y="3291840"/>
            <a:ext cx="2558034" cy="1828800"/>
          </a:xfrm>
          <a:prstGeom prst="roundRect">
            <a:avLst>
              <a:gd name="adj" fmla="val 4000"/>
            </a:avLst>
          </a:prstGeom>
          <a:solidFill>
            <a:srgbClr val="2A2660"/>
          </a:solidFill>
          <a:ln/>
        </p:spPr>
      </p:sp>
      <p:sp>
        <p:nvSpPr>
          <p:cNvPr id="11" name="Text 9"/>
          <p:cNvSpPr/>
          <p:nvPr/>
        </p:nvSpPr>
        <p:spPr>
          <a:xfrm>
            <a:off x="6469380" y="3456432"/>
            <a:ext cx="2082546" cy="566928"/>
          </a:xfrm>
          <a:prstGeom prst="rect">
            <a:avLst/>
          </a:prstGeom>
          <a:noFill/>
          <a:ln/>
        </p:spPr>
        <p:txBody>
          <a:bodyPr wrap="square" lIns="0" tIns="0" rIns="0" bIns="0" rtlCol="0" anchor="ctr"/>
          <a:lstStyle/>
          <a:p>
            <a:pPr indent="0" marL="0">
              <a:lnSpc>
                <a:spcPct val="105000"/>
              </a:lnSpc>
              <a:buNone/>
            </a:pPr>
            <a:r>
              <a:rPr lang="en-US" sz="1350" b="1" dirty="0">
                <a:solidFill>
                  <a:srgbClr val="8B87F5"/>
                </a:solidFill>
                <a:latin typeface="Calibri" pitchFamily="34" charset="0"/>
                <a:ea typeface="Calibri" pitchFamily="34" charset="-122"/>
                <a:cs typeface="Calibri" pitchFamily="34" charset="-120"/>
              </a:rPr>
              <a:t>Sin contrafactual no hay efecto</a:t>
            </a:r>
            <a:endParaRPr lang="en-US" sz="1350" dirty="0"/>
          </a:p>
        </p:txBody>
      </p:sp>
      <p:sp>
        <p:nvSpPr>
          <p:cNvPr id="12" name="Text 10"/>
          <p:cNvSpPr/>
          <p:nvPr/>
        </p:nvSpPr>
        <p:spPr>
          <a:xfrm>
            <a:off x="6469380" y="4069080"/>
            <a:ext cx="2082546" cy="9144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Un número sin grupo de comparación creíble es una correlación bien vestida.</a:t>
            </a:r>
            <a:endParaRPr lang="en-US" sz="1150" dirty="0"/>
          </a:p>
        </p:txBody>
      </p:sp>
      <p:sp>
        <p:nvSpPr>
          <p:cNvPr id="13" name="Shape 11"/>
          <p:cNvSpPr/>
          <p:nvPr/>
        </p:nvSpPr>
        <p:spPr>
          <a:xfrm>
            <a:off x="9063990" y="3291840"/>
            <a:ext cx="2558034" cy="1828800"/>
          </a:xfrm>
          <a:prstGeom prst="roundRect">
            <a:avLst>
              <a:gd name="adj" fmla="val 4000"/>
            </a:avLst>
          </a:prstGeom>
          <a:solidFill>
            <a:srgbClr val="2A2660"/>
          </a:solidFill>
          <a:ln/>
        </p:spPr>
      </p:sp>
      <p:sp>
        <p:nvSpPr>
          <p:cNvPr id="14" name="Text 12"/>
          <p:cNvSpPr/>
          <p:nvPr/>
        </p:nvSpPr>
        <p:spPr>
          <a:xfrm>
            <a:off x="9301734" y="3456432"/>
            <a:ext cx="2082546" cy="566928"/>
          </a:xfrm>
          <a:prstGeom prst="rect">
            <a:avLst/>
          </a:prstGeom>
          <a:noFill/>
          <a:ln/>
        </p:spPr>
        <p:txBody>
          <a:bodyPr wrap="square" lIns="0" tIns="0" rIns="0" bIns="0" rtlCol="0" anchor="ctr"/>
          <a:lstStyle/>
          <a:p>
            <a:pPr indent="0" marL="0">
              <a:lnSpc>
                <a:spcPct val="105000"/>
              </a:lnSpc>
              <a:buNone/>
            </a:pPr>
            <a:r>
              <a:rPr lang="en-US" sz="1350" b="1" dirty="0">
                <a:solidFill>
                  <a:srgbClr val="8B87F5"/>
                </a:solidFill>
                <a:latin typeface="Calibri" pitchFamily="34" charset="0"/>
                <a:ea typeface="Calibri" pitchFamily="34" charset="-122"/>
                <a:cs typeface="Calibri" pitchFamily="34" charset="-120"/>
              </a:rPr>
              <a:t>Decidir antes de mirar</a:t>
            </a:r>
            <a:endParaRPr lang="en-US" sz="1350" dirty="0"/>
          </a:p>
        </p:txBody>
      </p:sp>
      <p:sp>
        <p:nvSpPr>
          <p:cNvPr id="15" name="Text 13"/>
          <p:cNvSpPr/>
          <p:nvPr/>
        </p:nvSpPr>
        <p:spPr>
          <a:xfrm>
            <a:off x="9301734" y="4069080"/>
            <a:ext cx="2082546" cy="9144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Qué se mide, contra quién se compara y qué efecto mínimo importaría: las tres, antes de ver los datos.</a:t>
            </a:r>
            <a:endParaRPr lang="en-US" sz="1150" dirty="0"/>
          </a:p>
        </p:txBody>
      </p:sp>
      <p:sp>
        <p:nvSpPr>
          <p:cNvPr id="16" name="Text 14"/>
          <p:cNvSpPr/>
          <p:nvPr/>
        </p:nvSpPr>
        <p:spPr>
          <a:xfrm>
            <a:off x="841248" y="5623560"/>
            <a:ext cx="10058400" cy="320040"/>
          </a:xfrm>
          <a:prstGeom prst="rect">
            <a:avLst/>
          </a:prstGeom>
          <a:noFill/>
          <a:ln/>
        </p:spPr>
        <p:txBody>
          <a:bodyPr wrap="square" lIns="0" tIns="0" rIns="0" bIns="0" rtlCol="0" anchor="ctr"/>
          <a:lstStyle/>
          <a:p>
            <a:pPr indent="0" marL="0">
              <a:buNone/>
            </a:pPr>
            <a:r>
              <a:rPr lang="en-US" sz="1250" i="1" dirty="0">
                <a:solidFill>
                  <a:srgbClr val="AAB3F4"/>
                </a:solidFill>
                <a:latin typeface="Calibri" pitchFamily="34" charset="0"/>
                <a:ea typeface="Calibri" pitchFamily="34" charset="-122"/>
                <a:cs typeface="Calibri" pitchFamily="34" charset="-120"/>
              </a:rPr>
              <a:t>FIC — Economic Research   ·   Workshop de Inferencia Causal</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66928" y="365760"/>
            <a:ext cx="640080" cy="640080"/>
          </a:xfrm>
          <a:prstGeom prst="ellipse">
            <a:avLst/>
          </a:prstGeom>
          <a:solidFill>
            <a:srgbClr val="1E1B4A"/>
          </a:solidFill>
          <a:ln/>
        </p:spPr>
      </p:sp>
      <p:pic>
        <p:nvPicPr>
          <p:cNvPr id="3" name="Image 0" descr="preencoded.png">    </p:cNvPr>
          <p:cNvPicPr>
            <a:picLocks noChangeAspect="1"/>
          </p:cNvPicPr>
          <p:nvPr/>
        </p:nvPicPr>
        <p:blipFill>
          <a:blip r:embed="rId1"/>
          <a:stretch>
            <a:fillRect/>
          </a:stretch>
        </p:blipFill>
        <p:spPr>
          <a:xfrm>
            <a:off x="745236" y="544068"/>
            <a:ext cx="283464" cy="283464"/>
          </a:xfrm>
          <a:prstGeom prst="rect">
            <a:avLst/>
          </a:prstGeom>
        </p:spPr>
      </p:pic>
      <p:sp>
        <p:nvSpPr>
          <p:cNvPr id="4" name="Text 1"/>
          <p:cNvSpPr/>
          <p:nvPr/>
        </p:nvSpPr>
        <p:spPr>
          <a:xfrm>
            <a:off x="1435608" y="310896"/>
            <a:ext cx="10186416" cy="749808"/>
          </a:xfrm>
          <a:prstGeom prst="rect">
            <a:avLst/>
          </a:prstGeom>
          <a:noFill/>
          <a:ln/>
        </p:spPr>
        <p:txBody>
          <a:bodyPr wrap="square" lIns="0" tIns="0" rIns="0" bIns="0" rtlCol="0" anchor="ctr"/>
          <a:lstStyle/>
          <a:p>
            <a:pPr indent="0" marL="0">
              <a:buNone/>
            </a:pPr>
            <a:r>
              <a:rPr lang="en-US" sz="3200" b="1" dirty="0">
                <a:solidFill>
                  <a:srgbClr val="1E1B4A"/>
                </a:solidFill>
                <a:latin typeface="Century Schoolbook" pitchFamily="34" charset="0"/>
                <a:ea typeface="Century Schoolbook" pitchFamily="34" charset="-122"/>
                <a:cs typeface="Century Schoolbook" pitchFamily="34" charset="-120"/>
              </a:rPr>
              <a:t>Para seguir por cuenta propia</a:t>
            </a:r>
            <a:endParaRPr lang="en-US" sz="3200" dirty="0"/>
          </a:p>
        </p:txBody>
      </p:sp>
      <p:sp>
        <p:nvSpPr>
          <p:cNvPr id="5" name="Text 2"/>
          <p:cNvSpPr/>
          <p:nvPr/>
        </p:nvSpPr>
        <p:spPr>
          <a:xfrm>
            <a:off x="566928" y="1115568"/>
            <a:ext cx="11055096" cy="384048"/>
          </a:xfrm>
          <a:prstGeom prst="rect">
            <a:avLst/>
          </a:prstGeom>
          <a:noFill/>
          <a:ln/>
        </p:spPr>
        <p:txBody>
          <a:bodyPr wrap="square" lIns="0" tIns="0" rIns="0" bIns="0" rtlCol="0" anchor="ctr"/>
          <a:lstStyle/>
          <a:p>
            <a:pPr indent="0" marL="0">
              <a:buNone/>
            </a:pPr>
            <a:r>
              <a:rPr lang="en-US" sz="1350" i="1" dirty="0">
                <a:solidFill>
                  <a:srgbClr val="6E6E85"/>
                </a:solidFill>
                <a:latin typeface="Calibri" pitchFamily="34" charset="0"/>
                <a:ea typeface="Calibri" pitchFamily="34" charset="-122"/>
                <a:cs typeface="Calibri" pitchFamily="34" charset="-120"/>
              </a:rPr>
              <a:t>Todo lo de esta sesión está desarrollado, con ejemplos y código, en estas cuatro fuentes.</a:t>
            </a:r>
            <a:endParaRPr lang="en-US" sz="1350" dirty="0"/>
          </a:p>
        </p:txBody>
      </p:sp>
      <p:sp>
        <p:nvSpPr>
          <p:cNvPr id="6" name="Shape 3"/>
          <p:cNvSpPr/>
          <p:nvPr/>
        </p:nvSpPr>
        <p:spPr>
          <a:xfrm>
            <a:off x="566928" y="1691640"/>
            <a:ext cx="11055096" cy="914400"/>
          </a:xfrm>
          <a:prstGeom prst="roundRect">
            <a:avLst>
              <a:gd name="adj" fmla="val 8000"/>
            </a:avLst>
          </a:prstGeom>
          <a:solidFill>
            <a:srgbClr val="EEF0FC"/>
          </a:solidFill>
          <a:ln/>
        </p:spPr>
      </p:sp>
      <p:sp>
        <p:nvSpPr>
          <p:cNvPr id="7" name="Shape 4"/>
          <p:cNvSpPr/>
          <p:nvPr/>
        </p:nvSpPr>
        <p:spPr>
          <a:xfrm>
            <a:off x="841248" y="1883664"/>
            <a:ext cx="530352" cy="530352"/>
          </a:xfrm>
          <a:prstGeom prst="ellipse">
            <a:avLst/>
          </a:prstGeom>
          <a:solidFill>
            <a:srgbClr val="1E1B4A"/>
          </a:solidFill>
          <a:ln/>
        </p:spPr>
      </p:sp>
      <p:pic>
        <p:nvPicPr>
          <p:cNvPr id="8" name="Image 1" descr="preencoded.png">    </p:cNvPr>
          <p:cNvPicPr>
            <a:picLocks noChangeAspect="1"/>
          </p:cNvPicPr>
          <p:nvPr/>
        </p:nvPicPr>
        <p:blipFill>
          <a:blip r:embed="rId2"/>
          <a:stretch>
            <a:fillRect/>
          </a:stretch>
        </p:blipFill>
        <p:spPr>
          <a:xfrm>
            <a:off x="989747" y="2032163"/>
            <a:ext cx="233355" cy="233355"/>
          </a:xfrm>
          <a:prstGeom prst="rect">
            <a:avLst/>
          </a:prstGeom>
        </p:spPr>
      </p:pic>
      <p:sp>
        <p:nvSpPr>
          <p:cNvPr id="9" name="Text 5"/>
          <p:cNvSpPr/>
          <p:nvPr/>
        </p:nvSpPr>
        <p:spPr>
          <a:xfrm>
            <a:off x="1499616" y="1792224"/>
            <a:ext cx="9820656" cy="301752"/>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Causal Inference: The Mixtape   </a:t>
            </a:r>
            <a:pPr indent="0" marL="0">
              <a:buNone/>
            </a:pPr>
            <a:r>
              <a:rPr lang="en-US" sz="1150" i="1" dirty="0">
                <a:solidFill>
                  <a:srgbClr val="6E6E85"/>
                </a:solidFill>
                <a:latin typeface="Calibri" pitchFamily="34" charset="0"/>
                <a:ea typeface="Calibri" pitchFamily="34" charset="-122"/>
                <a:cs typeface="Calibri" pitchFamily="34" charset="-120"/>
              </a:rPr>
              <a:t>Scott Cunningham (Yale University Press, 2021).</a:t>
            </a:r>
            <a:endParaRPr lang="en-US" sz="1350" dirty="0"/>
          </a:p>
        </p:txBody>
      </p:sp>
      <p:sp>
        <p:nvSpPr>
          <p:cNvPr id="10" name="Text 6"/>
          <p:cNvSpPr/>
          <p:nvPr/>
        </p:nvSpPr>
        <p:spPr>
          <a:xfrm>
            <a:off x="1499616" y="2103120"/>
            <a:ext cx="9820656" cy="438912"/>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El texto base de esta sesión. Explica cada diseño con intuición antes que con álgebra, y trae código replicable en R y Stata. Versión en línea de acceso libre.</a:t>
            </a:r>
            <a:endParaRPr lang="en-US" sz="1150" dirty="0"/>
          </a:p>
        </p:txBody>
      </p:sp>
      <p:sp>
        <p:nvSpPr>
          <p:cNvPr id="11" name="Shape 7"/>
          <p:cNvSpPr/>
          <p:nvPr/>
        </p:nvSpPr>
        <p:spPr>
          <a:xfrm>
            <a:off x="566928" y="2715768"/>
            <a:ext cx="11055096" cy="914400"/>
          </a:xfrm>
          <a:prstGeom prst="roundRect">
            <a:avLst>
              <a:gd name="adj" fmla="val 8000"/>
            </a:avLst>
          </a:prstGeom>
          <a:solidFill>
            <a:srgbClr val="EEF0FC"/>
          </a:solidFill>
          <a:ln/>
        </p:spPr>
      </p:sp>
      <p:sp>
        <p:nvSpPr>
          <p:cNvPr id="12" name="Shape 8"/>
          <p:cNvSpPr/>
          <p:nvPr/>
        </p:nvSpPr>
        <p:spPr>
          <a:xfrm>
            <a:off x="841248" y="2907792"/>
            <a:ext cx="530352" cy="530352"/>
          </a:xfrm>
          <a:prstGeom prst="ellipse">
            <a:avLst/>
          </a:prstGeom>
          <a:solidFill>
            <a:srgbClr val="1E1B4A"/>
          </a:solidFill>
          <a:ln/>
        </p:spPr>
      </p:sp>
      <p:pic>
        <p:nvPicPr>
          <p:cNvPr id="13" name="Image 2" descr="preencoded.png">    </p:cNvPr>
          <p:cNvPicPr>
            <a:picLocks noChangeAspect="1"/>
          </p:cNvPicPr>
          <p:nvPr/>
        </p:nvPicPr>
        <p:blipFill>
          <a:blip r:embed="rId3"/>
          <a:stretch>
            <a:fillRect/>
          </a:stretch>
        </p:blipFill>
        <p:spPr>
          <a:xfrm>
            <a:off x="989747" y="3056291"/>
            <a:ext cx="233355" cy="233355"/>
          </a:xfrm>
          <a:prstGeom prst="rect">
            <a:avLst/>
          </a:prstGeom>
        </p:spPr>
      </p:pic>
      <p:sp>
        <p:nvSpPr>
          <p:cNvPr id="14" name="Text 9"/>
          <p:cNvSpPr/>
          <p:nvPr/>
        </p:nvSpPr>
        <p:spPr>
          <a:xfrm>
            <a:off x="1499616" y="2816352"/>
            <a:ext cx="9820656" cy="301752"/>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Impact Evaluation Methods for Policy Makers   </a:t>
            </a:r>
            <a:pPr indent="0" marL="0">
              <a:buNone/>
            </a:pPr>
            <a:r>
              <a:rPr lang="en-US" sz="1150" i="1" dirty="0">
                <a:solidFill>
                  <a:srgbClr val="6E6E85"/>
                </a:solidFill>
                <a:latin typeface="Calibri" pitchFamily="34" charset="0"/>
                <a:ea typeface="Calibri" pitchFamily="34" charset="-122"/>
                <a:cs typeface="Calibri" pitchFamily="34" charset="-120"/>
              </a:rPr>
              <a:t>Banco Mundial · edX.</a:t>
            </a:r>
            <a:endParaRPr lang="en-US" sz="1350" dirty="0"/>
          </a:p>
        </p:txBody>
      </p:sp>
      <p:sp>
        <p:nvSpPr>
          <p:cNvPr id="15" name="Text 10"/>
          <p:cNvSpPr/>
          <p:nvPr/>
        </p:nvSpPr>
        <p:spPr>
          <a:xfrm>
            <a:off x="1499616" y="3127248"/>
            <a:ext cx="9820656" cy="438912"/>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Curso gratuito, orientado a quien encarga y usa evaluaciones más que a quien las estima. Fuente de la estructura de este workshop.</a:t>
            </a:r>
            <a:endParaRPr lang="en-US" sz="1150" dirty="0"/>
          </a:p>
        </p:txBody>
      </p:sp>
      <p:sp>
        <p:nvSpPr>
          <p:cNvPr id="16" name="Shape 11"/>
          <p:cNvSpPr/>
          <p:nvPr/>
        </p:nvSpPr>
        <p:spPr>
          <a:xfrm>
            <a:off x="566928" y="3739896"/>
            <a:ext cx="11055096" cy="914400"/>
          </a:xfrm>
          <a:prstGeom prst="roundRect">
            <a:avLst>
              <a:gd name="adj" fmla="val 8000"/>
            </a:avLst>
          </a:prstGeom>
          <a:solidFill>
            <a:srgbClr val="EEF0FC"/>
          </a:solidFill>
          <a:ln/>
        </p:spPr>
      </p:sp>
      <p:sp>
        <p:nvSpPr>
          <p:cNvPr id="17" name="Shape 12"/>
          <p:cNvSpPr/>
          <p:nvPr/>
        </p:nvSpPr>
        <p:spPr>
          <a:xfrm>
            <a:off x="841248" y="3931920"/>
            <a:ext cx="530352" cy="530352"/>
          </a:xfrm>
          <a:prstGeom prst="ellipse">
            <a:avLst/>
          </a:prstGeom>
          <a:solidFill>
            <a:srgbClr val="1E1B4A"/>
          </a:solidFill>
          <a:ln/>
        </p:spPr>
      </p:sp>
      <p:pic>
        <p:nvPicPr>
          <p:cNvPr id="18" name="Image 3" descr="preencoded.png">    </p:cNvPr>
          <p:cNvPicPr>
            <a:picLocks noChangeAspect="1"/>
          </p:cNvPicPr>
          <p:nvPr/>
        </p:nvPicPr>
        <p:blipFill>
          <a:blip r:embed="rId4"/>
          <a:stretch>
            <a:fillRect/>
          </a:stretch>
        </p:blipFill>
        <p:spPr>
          <a:xfrm>
            <a:off x="989747" y="4080419"/>
            <a:ext cx="233355" cy="233355"/>
          </a:xfrm>
          <a:prstGeom prst="rect">
            <a:avLst/>
          </a:prstGeom>
        </p:spPr>
      </p:pic>
      <p:sp>
        <p:nvSpPr>
          <p:cNvPr id="19" name="Text 13"/>
          <p:cNvSpPr/>
          <p:nvPr/>
        </p:nvSpPr>
        <p:spPr>
          <a:xfrm>
            <a:off x="1499616" y="3840480"/>
            <a:ext cx="9820656" cy="301752"/>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La evaluación de impacto en la práctica   </a:t>
            </a:r>
            <a:pPr indent="0" marL="0">
              <a:buNone/>
            </a:pPr>
            <a:r>
              <a:rPr lang="en-US" sz="1150" i="1" dirty="0">
                <a:solidFill>
                  <a:srgbClr val="6E6E85"/>
                </a:solidFill>
                <a:latin typeface="Calibri" pitchFamily="34" charset="0"/>
                <a:ea typeface="Calibri" pitchFamily="34" charset="-122"/>
                <a:cs typeface="Calibri" pitchFamily="34" charset="-120"/>
              </a:rPr>
              <a:t>Gertler, Martínez, Premand, Rawlings y Vermeersch (Banco Mundial, 2ª ed.).</a:t>
            </a:r>
            <a:endParaRPr lang="en-US" sz="1350" dirty="0"/>
          </a:p>
        </p:txBody>
      </p:sp>
      <p:sp>
        <p:nvSpPr>
          <p:cNvPr id="20" name="Text 14"/>
          <p:cNvSpPr/>
          <p:nvPr/>
        </p:nvSpPr>
        <p:spPr>
          <a:xfrm>
            <a:off x="1499616" y="4151376"/>
            <a:ext cx="9820656" cy="438912"/>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Manual operativo en español, de descarga libre. Su capítulo de poder desarrolla el efecto de diseño y el MDE paso a paso.</a:t>
            </a:r>
            <a:endParaRPr lang="en-US" sz="1150" dirty="0"/>
          </a:p>
        </p:txBody>
      </p:sp>
      <p:sp>
        <p:nvSpPr>
          <p:cNvPr id="21" name="Shape 15"/>
          <p:cNvSpPr/>
          <p:nvPr/>
        </p:nvSpPr>
        <p:spPr>
          <a:xfrm>
            <a:off x="566928" y="4764024"/>
            <a:ext cx="11055096" cy="914400"/>
          </a:xfrm>
          <a:prstGeom prst="roundRect">
            <a:avLst>
              <a:gd name="adj" fmla="val 8000"/>
            </a:avLst>
          </a:prstGeom>
          <a:solidFill>
            <a:srgbClr val="EEF0FC"/>
          </a:solidFill>
          <a:ln/>
        </p:spPr>
      </p:sp>
      <p:sp>
        <p:nvSpPr>
          <p:cNvPr id="22" name="Shape 16"/>
          <p:cNvSpPr/>
          <p:nvPr/>
        </p:nvSpPr>
        <p:spPr>
          <a:xfrm>
            <a:off x="841248" y="4956048"/>
            <a:ext cx="530352" cy="530352"/>
          </a:xfrm>
          <a:prstGeom prst="ellipse">
            <a:avLst/>
          </a:prstGeom>
          <a:solidFill>
            <a:srgbClr val="1E1B4A"/>
          </a:solidFill>
          <a:ln/>
        </p:spPr>
      </p:sp>
      <p:pic>
        <p:nvPicPr>
          <p:cNvPr id="23" name="Image 4" descr="preencoded.png">    </p:cNvPr>
          <p:cNvPicPr>
            <a:picLocks noChangeAspect="1"/>
          </p:cNvPicPr>
          <p:nvPr/>
        </p:nvPicPr>
        <p:blipFill>
          <a:blip r:embed="rId5"/>
          <a:stretch>
            <a:fillRect/>
          </a:stretch>
        </p:blipFill>
        <p:spPr>
          <a:xfrm>
            <a:off x="989747" y="5104547"/>
            <a:ext cx="233355" cy="233355"/>
          </a:xfrm>
          <a:prstGeom prst="rect">
            <a:avLst/>
          </a:prstGeom>
        </p:spPr>
      </p:pic>
      <p:sp>
        <p:nvSpPr>
          <p:cNvPr id="24" name="Text 17"/>
          <p:cNvSpPr/>
          <p:nvPr/>
        </p:nvSpPr>
        <p:spPr>
          <a:xfrm>
            <a:off x="1499616" y="4864608"/>
            <a:ext cx="9820656" cy="301752"/>
          </a:xfrm>
          <a:prstGeom prst="rect">
            <a:avLst/>
          </a:prstGeom>
          <a:noFill/>
          <a:ln/>
        </p:spPr>
        <p:txBody>
          <a:bodyPr wrap="square" lIns="0" tIns="0" rIns="0" bIns="0" rtlCol="0" anchor="ctr"/>
          <a:lstStyle/>
          <a:p>
            <a:pPr indent="0" marL="0">
              <a:buNone/>
            </a:pPr>
            <a:r>
              <a:rPr lang="en-US" sz="1350" b="1" dirty="0">
                <a:solidFill>
                  <a:srgbClr val="4B45C4"/>
                </a:solidFill>
                <a:latin typeface="Calibri" pitchFamily="34" charset="0"/>
                <a:ea typeface="Calibri" pitchFamily="34" charset="-122"/>
                <a:cs typeface="Calibri" pitchFamily="34" charset="-120"/>
              </a:rPr>
              <a:t>Mastering 'Metrics   </a:t>
            </a:r>
            <a:pPr indent="0" marL="0">
              <a:buNone/>
            </a:pPr>
            <a:r>
              <a:rPr lang="en-US" sz="1150" i="1" dirty="0">
                <a:solidFill>
                  <a:srgbClr val="6E6E85"/>
                </a:solidFill>
                <a:latin typeface="Calibri" pitchFamily="34" charset="0"/>
                <a:ea typeface="Calibri" pitchFamily="34" charset="-122"/>
                <a:cs typeface="Calibri" pitchFamily="34" charset="-120"/>
              </a:rPr>
              <a:t>Angrist y Pischke (Princeton, 2015).</a:t>
            </a:r>
            <a:endParaRPr lang="en-US" sz="1350" dirty="0"/>
          </a:p>
        </p:txBody>
      </p:sp>
      <p:sp>
        <p:nvSpPr>
          <p:cNvPr id="25" name="Text 18"/>
          <p:cNvSpPr/>
          <p:nvPr/>
        </p:nvSpPr>
        <p:spPr>
          <a:xfrm>
            <a:off x="1499616" y="5175504"/>
            <a:ext cx="9820656" cy="438912"/>
          </a:xfrm>
          <a:prstGeom prst="rect">
            <a:avLst/>
          </a:prstGeom>
          <a:noFill/>
          <a:ln/>
        </p:spPr>
        <p:txBody>
          <a:bodyPr wrap="square" lIns="0" tIns="0" rIns="0" bIns="0" rtlCol="0" anchor="ctr"/>
          <a:lstStyle/>
          <a:p>
            <a:pPr indent="0" marL="0">
              <a:lnSpc>
                <a:spcPct val="108000"/>
              </a:lnSpc>
              <a:buNone/>
            </a:pPr>
            <a:r>
              <a:rPr lang="en-US" sz="1150" dirty="0">
                <a:solidFill>
                  <a:srgbClr val="2B2B3A"/>
                </a:solidFill>
                <a:latin typeface="Calibri" pitchFamily="34" charset="0"/>
                <a:ea typeface="Calibri" pitchFamily="34" charset="-122"/>
                <a:cs typeface="Calibri" pitchFamily="34" charset="-120"/>
              </a:rPr>
              <a:t>El complemento breve: las cinco herramientas centrales contadas con ejemplos memorables y casi sin notación.</a:t>
            </a:r>
            <a:endParaRPr lang="en-US" sz="1150" dirty="0"/>
          </a:p>
        </p:txBody>
      </p:sp>
      <p:sp>
        <p:nvSpPr>
          <p:cNvPr id="26" name="Shape 19"/>
          <p:cNvSpPr/>
          <p:nvPr/>
        </p:nvSpPr>
        <p:spPr>
          <a:xfrm>
            <a:off x="566928" y="5788152"/>
            <a:ext cx="11055096" cy="457200"/>
          </a:xfrm>
          <a:prstGeom prst="roundRect">
            <a:avLst>
              <a:gd name="adj" fmla="val 14000"/>
            </a:avLst>
          </a:prstGeom>
          <a:solidFill>
            <a:srgbClr val="F7F8FD"/>
          </a:solidFill>
          <a:ln/>
        </p:spPr>
      </p:sp>
      <p:sp>
        <p:nvSpPr>
          <p:cNvPr id="27" name="Text 20"/>
          <p:cNvSpPr/>
          <p:nvPr/>
        </p:nvSpPr>
        <p:spPr>
          <a:xfrm>
            <a:off x="859536" y="5824728"/>
            <a:ext cx="10469880" cy="384048"/>
          </a:xfrm>
          <a:prstGeom prst="rect">
            <a:avLst/>
          </a:prstGeom>
          <a:noFill/>
          <a:ln/>
        </p:spPr>
        <p:txBody>
          <a:bodyPr wrap="square" lIns="0" tIns="0" rIns="0" bIns="0" rtlCol="0" anchor="ctr"/>
          <a:lstStyle/>
          <a:p>
            <a:pPr indent="0" marL="0">
              <a:lnSpc>
                <a:spcPct val="110000"/>
              </a:lnSpc>
              <a:buNone/>
            </a:pPr>
            <a:r>
              <a:rPr lang="en-US" sz="1100" dirty="0">
                <a:solidFill>
                  <a:srgbClr val="6E6E85"/>
                </a:solidFill>
                <a:latin typeface="Calibri" pitchFamily="34" charset="0"/>
                <a:ea typeface="Calibri" pitchFamily="34" charset="-122"/>
                <a:cs typeface="Calibri" pitchFamily="34" charset="-120"/>
              </a:rPr>
              <a:t>Diseño y paleta índigo tomados de la guía Análisis Real para Economía; estructura de láminas adaptada de la plantilla del Semillero de Economía del Crimen.</a:t>
            </a:r>
            <a:endParaRPr lang="en-US" sz="1100" dirty="0"/>
          </a:p>
        </p:txBody>
      </p:sp>
      <p:sp>
        <p:nvSpPr>
          <p:cNvPr id="28" name="Text 21"/>
          <p:cNvSpPr/>
          <p:nvPr/>
        </p:nvSpPr>
        <p:spPr>
          <a:xfrm>
            <a:off x="566928" y="6355080"/>
            <a:ext cx="8229600" cy="274320"/>
          </a:xfrm>
          <a:prstGeom prst="rect">
            <a:avLst/>
          </a:prstGeom>
          <a:noFill/>
          <a:ln/>
        </p:spPr>
        <p:txBody>
          <a:bodyPr wrap="square" lIns="0" tIns="0" rIns="0" bIns="0" rtlCol="0" anchor="ctr"/>
          <a:lstStyle/>
          <a:p>
            <a:pPr indent="0" marL="0">
              <a:buNone/>
            </a:pPr>
            <a:r>
              <a:rPr lang="en-US" sz="900" dirty="0">
                <a:solidFill>
                  <a:srgbClr val="6E6E85"/>
                </a:solidFill>
                <a:latin typeface="Calibri" pitchFamily="34" charset="0"/>
                <a:ea typeface="Calibri" pitchFamily="34" charset="-122"/>
                <a:cs typeface="Calibri" pitchFamily="34" charset="-120"/>
              </a:rPr>
              <a:t>Referencias</a:t>
            </a:r>
            <a:endParaRPr lang="en-US" sz="900" dirty="0"/>
          </a:p>
        </p:txBody>
      </p:sp>
      <p:sp>
        <p:nvSpPr>
          <p:cNvPr id="29" name="Text 22"/>
          <p:cNvSpPr/>
          <p:nvPr/>
        </p:nvSpPr>
        <p:spPr>
          <a:xfrm>
            <a:off x="10707624" y="6355080"/>
            <a:ext cx="914400" cy="274320"/>
          </a:xfrm>
          <a:prstGeom prst="rect">
            <a:avLst/>
          </a:prstGeom>
          <a:noFill/>
          <a:ln/>
        </p:spPr>
        <p:txBody>
          <a:bodyPr wrap="square" lIns="0" tIns="0" rIns="0" bIns="0" rtlCol="0" anchor="ctr"/>
          <a:lstStyle/>
          <a:p>
            <a:pPr algn="r" indent="0" marL="0">
              <a:buNone/>
            </a:pPr>
            <a:r>
              <a:rPr lang="en-US" sz="900" dirty="0">
                <a:solidFill>
                  <a:srgbClr val="6E6E8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Inferencia causal y evaluación de impacto</dc:title>
  <dc:subject>PptxGenJS Presentation</dc:subject>
  <dc:creator>FIC — Economic Research</dc:creator>
  <cp:lastModifiedBy>FIC — Economic Research</cp:lastModifiedBy>
  <cp:revision>1</cp:revision>
  <dcterms:created xsi:type="dcterms:W3CDTF">2026-08-25T19:06:33Z</dcterms:created>
  <dcterms:modified xsi:type="dcterms:W3CDTF">2026-08-25T19:06:33Z</dcterms:modified>
</cp:coreProperties>
</file>